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Roboto ExtraBold" panose="020B0604020202020204"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5C874A-29B0-4466-B717-A07D3B19CCBA}">
  <a:tblStyle styleId="{8B5C874A-29B0-4466-B717-A07D3B19CCB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620" y="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e8da2ce087_1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g3e8da2ce087_1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e8a3a01223_1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e8a3a01223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8da2ce087_1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e8da2ce087_1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da2ce087_1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e8da2ce087_1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8da2ce087_1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8da2ce087_1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e8da2ce087_1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e8da2ce087_1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ee8dab785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ee8dab785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ee8dab7858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ee8dab785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e8dab7858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ee8dab785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e8dab7858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ee8dab785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8da2ce087_1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e8da2ce087_1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8da2ce087_1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e8da2ce087_1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cedaff623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ecedaff623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ee89b38af1_2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ee89b38af1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e8da2ce087_1_3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e8da2ce087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e8da2ce087_1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e8da2ce087_1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ea7a52c7f3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ea7a52c7f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ea728633a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ea728633a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8520600" cy="506100"/>
          </a:xfrm>
          <a:prstGeom prst="rect">
            <a:avLst/>
          </a:prstGeom>
          <a:solidFill>
            <a:srgbClr val="A4C2F4"/>
          </a:solidFill>
          <a:ln w="9525" cap="flat" cmpd="sng">
            <a:solidFill>
              <a:srgbClr val="6D9EEB"/>
            </a:solidFill>
            <a:prstDash val="solid"/>
            <a:round/>
            <a:headEnd type="none" w="sm" len="sm"/>
            <a:tailEnd type="none" w="sm" len="sm"/>
          </a:ln>
        </p:spPr>
        <p:txBody>
          <a:bodyPr spcFirstLastPara="1" wrap="square" lIns="91425" tIns="91425" rIns="91425" bIns="91425" anchor="b" anchorCtr="0">
            <a:norm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drive.google.com/file/d/159bUcMCf1d6-GxI6cu-UPWhgYJNn80H7/view"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presentation/d/1KV_qctCFiBf72FuRUt2mtzY5Ub-EnY3tVvN8oIdzotc/edit?usp=sharin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7504725" y="305025"/>
            <a:ext cx="1075313" cy="1075313"/>
          </a:xfrm>
          <a:prstGeom prst="rect">
            <a:avLst/>
          </a:prstGeom>
          <a:noFill/>
          <a:ln>
            <a:noFill/>
          </a:ln>
        </p:spPr>
      </p:pic>
      <p:sp>
        <p:nvSpPr>
          <p:cNvPr id="55" name="Google Shape;55;p13"/>
          <p:cNvSpPr txBox="1"/>
          <p:nvPr/>
        </p:nvSpPr>
        <p:spPr>
          <a:xfrm>
            <a:off x="1695648" y="533430"/>
            <a:ext cx="5553000" cy="741300"/>
          </a:xfrm>
          <a:prstGeom prst="rect">
            <a:avLst/>
          </a:prstGeom>
          <a:noFill/>
          <a:ln>
            <a:noFill/>
          </a:ln>
        </p:spPr>
        <p:txBody>
          <a:bodyPr spcFirstLastPara="1" wrap="square" lIns="68575" tIns="68575" rIns="68575" bIns="68575" anchor="t" anchorCtr="0">
            <a:noAutofit/>
          </a:bodyPr>
          <a:lstStyle/>
          <a:p>
            <a:pPr marL="0" lvl="0" indent="0" algn="ctr" rtl="0">
              <a:spcBef>
                <a:spcPts val="0"/>
              </a:spcBef>
              <a:spcAft>
                <a:spcPts val="0"/>
              </a:spcAft>
              <a:buNone/>
            </a:pPr>
            <a:r>
              <a:rPr lang="en-GB" sz="2200">
                <a:solidFill>
                  <a:schemeClr val="dk1"/>
                </a:solidFill>
                <a:latin typeface="Roboto ExtraBold"/>
                <a:ea typeface="Roboto ExtraBold"/>
                <a:cs typeface="Roboto ExtraBold"/>
                <a:sym typeface="Roboto ExtraBold"/>
              </a:rPr>
              <a:t>Institute of Technology of Cambodia </a:t>
            </a:r>
            <a:endParaRPr sz="2200">
              <a:solidFill>
                <a:schemeClr val="dk1"/>
              </a:solidFill>
              <a:latin typeface="Roboto ExtraBold"/>
              <a:ea typeface="Roboto ExtraBold"/>
              <a:cs typeface="Roboto ExtraBold"/>
              <a:sym typeface="Roboto ExtraBold"/>
            </a:endParaRPr>
          </a:p>
          <a:p>
            <a:pPr marL="0" lvl="0" indent="0" algn="ctr" rtl="0">
              <a:spcBef>
                <a:spcPts val="0"/>
              </a:spcBef>
              <a:spcAft>
                <a:spcPts val="0"/>
              </a:spcAft>
              <a:buNone/>
            </a:pPr>
            <a:r>
              <a:rPr lang="en-GB" sz="2200">
                <a:solidFill>
                  <a:schemeClr val="dk1"/>
                </a:solidFill>
                <a:latin typeface="Roboto ExtraBold"/>
                <a:ea typeface="Roboto ExtraBold"/>
                <a:cs typeface="Roboto ExtraBold"/>
                <a:sym typeface="Roboto ExtraBold"/>
              </a:rPr>
              <a:t>Department of Mechanical and Industry </a:t>
            </a:r>
            <a:endParaRPr sz="2200">
              <a:solidFill>
                <a:schemeClr val="dk1"/>
              </a:solidFill>
              <a:latin typeface="Roboto ExtraBold"/>
              <a:ea typeface="Roboto ExtraBold"/>
              <a:cs typeface="Roboto ExtraBold"/>
              <a:sym typeface="Roboto ExtraBold"/>
            </a:endParaRPr>
          </a:p>
        </p:txBody>
      </p:sp>
      <p:pic>
        <p:nvPicPr>
          <p:cNvPr id="56" name="Google Shape;56;p13"/>
          <p:cNvPicPr preferRelativeResize="0"/>
          <p:nvPr/>
        </p:nvPicPr>
        <p:blipFill>
          <a:blip r:embed="rId4">
            <a:alphaModFix/>
          </a:blip>
          <a:stretch>
            <a:fillRect/>
          </a:stretch>
        </p:blipFill>
        <p:spPr>
          <a:xfrm>
            <a:off x="463128" y="305018"/>
            <a:ext cx="1215937" cy="1197975"/>
          </a:xfrm>
          <a:prstGeom prst="rect">
            <a:avLst/>
          </a:prstGeom>
          <a:noFill/>
          <a:ln>
            <a:noFill/>
          </a:ln>
        </p:spPr>
      </p:pic>
      <p:sp>
        <p:nvSpPr>
          <p:cNvPr id="57" name="Google Shape;57;p13"/>
          <p:cNvSpPr txBox="1"/>
          <p:nvPr/>
        </p:nvSpPr>
        <p:spPr>
          <a:xfrm>
            <a:off x="1900681" y="3525898"/>
            <a:ext cx="4955400" cy="338100"/>
          </a:xfrm>
          <a:prstGeom prst="rect">
            <a:avLst/>
          </a:prstGeom>
          <a:noFill/>
          <a:ln>
            <a:noFill/>
          </a:ln>
        </p:spPr>
        <p:txBody>
          <a:bodyPr spcFirstLastPara="1" wrap="square" lIns="68575" tIns="68575" rIns="68575" bIns="68575" anchor="t" anchorCtr="0">
            <a:noAutofit/>
          </a:bodyPr>
          <a:lstStyle/>
          <a:p>
            <a:pPr marL="0" lvl="0" indent="342900" algn="l" rtl="0">
              <a:spcBef>
                <a:spcPts val="0"/>
              </a:spcBef>
              <a:spcAft>
                <a:spcPts val="0"/>
              </a:spcAft>
              <a:buNone/>
            </a:pPr>
            <a:r>
              <a:rPr lang="en-GB" sz="1200" b="1" dirty="0">
                <a:solidFill>
                  <a:schemeClr val="dk1"/>
                </a:solidFill>
              </a:rPr>
              <a:t>Student’s Name				ID </a:t>
            </a:r>
            <a:endParaRPr sz="1200" b="1" dirty="0">
              <a:solidFill>
                <a:schemeClr val="dk1"/>
              </a:solidFill>
            </a:endParaRPr>
          </a:p>
          <a:p>
            <a:pPr marL="0" lvl="0" indent="342900" algn="l" rtl="0">
              <a:spcBef>
                <a:spcPts val="0"/>
              </a:spcBef>
              <a:spcAft>
                <a:spcPts val="0"/>
              </a:spcAft>
              <a:buNone/>
            </a:pPr>
            <a:endParaRPr sz="1200" b="1" dirty="0">
              <a:solidFill>
                <a:schemeClr val="dk1"/>
              </a:solidFill>
            </a:endParaRPr>
          </a:p>
          <a:p>
            <a:pPr marL="0" lvl="0" indent="0" algn="l" rtl="0">
              <a:spcBef>
                <a:spcPts val="0"/>
              </a:spcBef>
              <a:spcAft>
                <a:spcPts val="0"/>
              </a:spcAft>
              <a:buNone/>
            </a:pPr>
            <a:r>
              <a:rPr lang="en-GB" sz="1200" dirty="0">
                <a:solidFill>
                  <a:schemeClr val="dk1"/>
                </a:solidFill>
              </a:rPr>
              <a:t>Ban THUNPISEY			e20220860</a:t>
            </a:r>
            <a:endParaRPr sz="1200" dirty="0">
              <a:solidFill>
                <a:schemeClr val="dk1"/>
              </a:solidFill>
            </a:endParaRPr>
          </a:p>
          <a:p>
            <a:pPr marL="0" lvl="0" indent="0" algn="l" rtl="0">
              <a:spcBef>
                <a:spcPts val="0"/>
              </a:spcBef>
              <a:spcAft>
                <a:spcPts val="0"/>
              </a:spcAft>
              <a:buNone/>
            </a:pPr>
            <a:r>
              <a:rPr lang="en-GB" sz="1200" dirty="0">
                <a:solidFill>
                  <a:schemeClr val="dk1"/>
                </a:solidFill>
              </a:rPr>
              <a:t>CHAO SIVCHHUONG		 	e20220409</a:t>
            </a:r>
            <a:endParaRPr sz="1200" dirty="0">
              <a:solidFill>
                <a:schemeClr val="dk1"/>
              </a:solidFill>
            </a:endParaRPr>
          </a:p>
          <a:p>
            <a:pPr marL="0" lvl="0" indent="0" algn="l" rtl="0">
              <a:spcBef>
                <a:spcPts val="0"/>
              </a:spcBef>
              <a:spcAft>
                <a:spcPts val="0"/>
              </a:spcAft>
              <a:buNone/>
            </a:pPr>
            <a:r>
              <a:rPr lang="en-GB" sz="1200" dirty="0">
                <a:solidFill>
                  <a:schemeClr val="dk1"/>
                </a:solidFill>
              </a:rPr>
              <a:t>CHIEB CHEY			e20220235</a:t>
            </a:r>
            <a:endParaRPr sz="1200" dirty="0">
              <a:solidFill>
                <a:schemeClr val="dk1"/>
              </a:solidFill>
            </a:endParaRPr>
          </a:p>
          <a:p>
            <a:pPr marL="0" lvl="0" indent="0" algn="l" rtl="0">
              <a:spcBef>
                <a:spcPts val="0"/>
              </a:spcBef>
              <a:spcAft>
                <a:spcPts val="0"/>
              </a:spcAft>
              <a:buNone/>
            </a:pPr>
            <a:r>
              <a:rPr lang="en-GB" sz="1200" dirty="0">
                <a:solidFill>
                  <a:schemeClr val="dk1"/>
                </a:solidFill>
              </a:rPr>
              <a:t>CHHOM VANNTHUON			e20220432</a:t>
            </a:r>
            <a:endParaRPr sz="1200" dirty="0">
              <a:solidFill>
                <a:schemeClr val="dk1"/>
              </a:solidFill>
            </a:endParaRPr>
          </a:p>
        </p:txBody>
      </p:sp>
      <p:sp>
        <p:nvSpPr>
          <p:cNvPr id="58" name="Google Shape;58;p13"/>
          <p:cNvSpPr txBox="1"/>
          <p:nvPr/>
        </p:nvSpPr>
        <p:spPr>
          <a:xfrm>
            <a:off x="2308988" y="1800216"/>
            <a:ext cx="4326300" cy="462900"/>
          </a:xfrm>
          <a:prstGeom prst="rect">
            <a:avLst/>
          </a:prstGeom>
          <a:noFill/>
          <a:ln>
            <a:noFill/>
          </a:ln>
        </p:spPr>
        <p:txBody>
          <a:bodyPr spcFirstLastPara="1" wrap="square" lIns="68575" tIns="68575" rIns="68575" bIns="68575" anchor="t" anchorCtr="0">
            <a:noAutofit/>
          </a:bodyPr>
          <a:lstStyle/>
          <a:p>
            <a:pPr marL="0" lvl="0" indent="0" algn="ctr" rtl="0">
              <a:spcBef>
                <a:spcPts val="0"/>
              </a:spcBef>
              <a:spcAft>
                <a:spcPts val="0"/>
              </a:spcAft>
              <a:buNone/>
            </a:pPr>
            <a:r>
              <a:rPr lang="en-GB" sz="2400" b="1">
                <a:solidFill>
                  <a:schemeClr val="dk1"/>
                </a:solidFill>
              </a:rPr>
              <a:t>Water Tank Filling Time</a:t>
            </a:r>
            <a:endParaRPr sz="2400" b="1">
              <a:solidFill>
                <a:schemeClr val="dk1"/>
              </a:solidFill>
            </a:endParaRPr>
          </a:p>
        </p:txBody>
      </p:sp>
      <p:sp>
        <p:nvSpPr>
          <p:cNvPr id="59" name="Google Shape;59;p13"/>
          <p:cNvSpPr txBox="1"/>
          <p:nvPr/>
        </p:nvSpPr>
        <p:spPr>
          <a:xfrm>
            <a:off x="2223475" y="2459200"/>
            <a:ext cx="4309800" cy="44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900">
                <a:solidFill>
                  <a:schemeClr val="dk1"/>
                </a:solidFill>
              </a:rPr>
              <a:t>Subject : </a:t>
            </a:r>
            <a:r>
              <a:rPr lang="en-GB" sz="1900" b="1">
                <a:solidFill>
                  <a:schemeClr val="dk1"/>
                </a:solidFill>
              </a:rPr>
              <a:t>Numerical Method</a:t>
            </a:r>
            <a:endParaRPr sz="1900" b="1">
              <a:solidFill>
                <a:schemeClr val="dk1"/>
              </a:solidFill>
            </a:endParaRPr>
          </a:p>
          <a:p>
            <a:pPr marL="0" lvl="0" indent="0" algn="l" rtl="0">
              <a:spcBef>
                <a:spcPts val="0"/>
              </a:spcBef>
              <a:spcAft>
                <a:spcPts val="0"/>
              </a:spcAft>
              <a:buClr>
                <a:schemeClr val="dk1"/>
              </a:buClr>
              <a:buSzPts val="1100"/>
              <a:buFont typeface="Arial"/>
              <a:buNone/>
            </a:pPr>
            <a:r>
              <a:rPr lang="en-GB" sz="1900">
                <a:solidFill>
                  <a:schemeClr val="dk1"/>
                </a:solidFill>
              </a:rPr>
              <a:t>Prof : </a:t>
            </a:r>
            <a:r>
              <a:rPr lang="en-GB" sz="1900" b="1">
                <a:solidFill>
                  <a:schemeClr val="dk1"/>
                </a:solidFill>
              </a:rPr>
              <a:t>Mr. KEO CHIVORN</a:t>
            </a:r>
            <a:endParaRPr sz="1900" b="1">
              <a:solidFill>
                <a:schemeClr val="dk1"/>
              </a:solidFill>
            </a:endParaRPr>
          </a:p>
          <a:p>
            <a:pPr marL="0" lvl="0" indent="0" algn="l" rtl="0">
              <a:spcBef>
                <a:spcPts val="0"/>
              </a:spcBef>
              <a:spcAft>
                <a:spcPts val="0"/>
              </a:spcAft>
              <a:buClr>
                <a:schemeClr val="dk1"/>
              </a:buClr>
              <a:buSzPts val="1100"/>
              <a:buFont typeface="Arial"/>
              <a:buNone/>
            </a:pPr>
            <a:r>
              <a:rPr lang="en-GB" sz="1900">
                <a:solidFill>
                  <a:schemeClr val="dk1"/>
                </a:solidFill>
              </a:rPr>
              <a:t>Group :</a:t>
            </a:r>
            <a:r>
              <a:rPr lang="en-GB" sz="1900" b="1">
                <a:solidFill>
                  <a:schemeClr val="dk1"/>
                </a:solidFill>
              </a:rPr>
              <a:t> I4-GIM-Mec</a:t>
            </a:r>
            <a:endParaRPr sz="1600">
              <a:solidFill>
                <a:schemeClr val="dk2"/>
              </a:solidFill>
            </a:endParaRPr>
          </a:p>
        </p:txBody>
      </p:sp>
      <p:sp>
        <p:nvSpPr>
          <p:cNvPr id="60" name="Google Shape;60;p13"/>
          <p:cNvSpPr/>
          <p:nvPr/>
        </p:nvSpPr>
        <p:spPr>
          <a:xfrm>
            <a:off x="2179075" y="1685775"/>
            <a:ext cx="4398600" cy="691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200" b="1"/>
              <a:t>Water Tank Filling Time </a:t>
            </a:r>
            <a:endParaRPr sz="2200" b="1"/>
          </a:p>
        </p:txBody>
      </p:sp>
      <p:sp>
        <p:nvSpPr>
          <p:cNvPr id="61" name="Google Shape;6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7" name="Google Shape;67;p14"/>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800" b="1"/>
              <a:t>Contents </a:t>
            </a:r>
            <a:endParaRPr sz="1800" b="1"/>
          </a:p>
        </p:txBody>
      </p:sp>
      <p:sp>
        <p:nvSpPr>
          <p:cNvPr id="68" name="Google Shape;6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a:t>
            </a:fld>
            <a:endParaRPr/>
          </a:p>
        </p:txBody>
      </p:sp>
      <p:sp>
        <p:nvSpPr>
          <p:cNvPr id="69" name="Google Shape;69;p14"/>
          <p:cNvSpPr txBox="1"/>
          <p:nvPr/>
        </p:nvSpPr>
        <p:spPr>
          <a:xfrm>
            <a:off x="346875" y="906075"/>
            <a:ext cx="7207500" cy="4150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700" b="1">
                <a:solidFill>
                  <a:srgbClr val="2563EB"/>
                </a:solidFill>
                <a:highlight>
                  <a:srgbClr val="FFFFFF"/>
                </a:highlight>
              </a:rPr>
              <a:t>I.   </a:t>
            </a:r>
            <a:r>
              <a:rPr lang="en-GB" sz="1700" b="1">
                <a:solidFill>
                  <a:srgbClr val="1E293B"/>
                </a:solidFill>
                <a:highlight>
                  <a:srgbClr val="FFFFFF"/>
                </a:highlight>
              </a:rPr>
              <a:t>Introduction (Title &amp; Team Roles)</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II.  </a:t>
            </a:r>
            <a:r>
              <a:rPr lang="en-GB" sz="1700" b="1">
                <a:solidFill>
                  <a:srgbClr val="1E293B"/>
                </a:solidFill>
                <a:highlight>
                  <a:srgbClr val="FFFFFF"/>
                </a:highlight>
              </a:rPr>
              <a:t>Objective (The Engineering Problem)</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III. </a:t>
            </a:r>
            <a:r>
              <a:rPr lang="en-GB" sz="1700" b="1">
                <a:solidFill>
                  <a:srgbClr val="1E293B"/>
                </a:solidFill>
                <a:highlight>
                  <a:srgbClr val="FFFFFF"/>
                </a:highlight>
              </a:rPr>
              <a:t>Methodology</a:t>
            </a:r>
            <a:endParaRPr sz="1700" b="1">
              <a:solidFill>
                <a:srgbClr val="2563EB"/>
              </a:solidFill>
              <a:highlight>
                <a:srgbClr val="FFFFFF"/>
              </a:highlight>
            </a:endParaRPr>
          </a:p>
          <a:p>
            <a:pPr marL="457200" lvl="0" indent="-336550" algn="l" rtl="0">
              <a:lnSpc>
                <a:spcPct val="115000"/>
              </a:lnSpc>
              <a:spcBef>
                <a:spcPts val="0"/>
              </a:spcBef>
              <a:spcAft>
                <a:spcPts val="0"/>
              </a:spcAft>
              <a:buClr>
                <a:srgbClr val="2563EB"/>
              </a:buClr>
              <a:buSzPts val="1700"/>
              <a:buAutoNum type="arabicPeriod"/>
            </a:pPr>
            <a:r>
              <a:rPr lang="en-GB" sz="1700" b="1">
                <a:solidFill>
                  <a:srgbClr val="1E293B"/>
                </a:solidFill>
                <a:highlight>
                  <a:srgbClr val="FFFFFF"/>
                </a:highlight>
              </a:rPr>
              <a:t>The Mathematical Model </a:t>
            </a:r>
            <a:endParaRPr sz="1700" b="1">
              <a:solidFill>
                <a:srgbClr val="1E293B"/>
              </a:solidFill>
              <a:highlight>
                <a:srgbClr val="FFFFFF"/>
              </a:highlight>
            </a:endParaRPr>
          </a:p>
          <a:p>
            <a:pPr marL="457200" lvl="0" indent="-336550" algn="l" rtl="0">
              <a:lnSpc>
                <a:spcPct val="115000"/>
              </a:lnSpc>
              <a:spcBef>
                <a:spcPts val="0"/>
              </a:spcBef>
              <a:spcAft>
                <a:spcPts val="0"/>
              </a:spcAft>
              <a:buClr>
                <a:srgbClr val="2563EB"/>
              </a:buClr>
              <a:buSzPts val="1700"/>
              <a:buAutoNum type="arabicPeriod"/>
            </a:pPr>
            <a:r>
              <a:rPr lang="en-GB" sz="1700" b="1">
                <a:solidFill>
                  <a:srgbClr val="1E293B"/>
                </a:solidFill>
                <a:highlight>
                  <a:srgbClr val="FFFFFF"/>
                </a:highlight>
              </a:rPr>
              <a:t>Method Selection &amp; Justification</a:t>
            </a:r>
            <a:endParaRPr sz="1700" b="1">
              <a:solidFill>
                <a:srgbClr val="1E293B"/>
              </a:solidFill>
              <a:highlight>
                <a:srgbClr val="FFFFFF"/>
              </a:highlight>
            </a:endParaRPr>
          </a:p>
          <a:p>
            <a:pPr marL="457200" lvl="0" indent="-336550" algn="l" rtl="0">
              <a:lnSpc>
                <a:spcPct val="115000"/>
              </a:lnSpc>
              <a:spcBef>
                <a:spcPts val="0"/>
              </a:spcBef>
              <a:spcAft>
                <a:spcPts val="0"/>
              </a:spcAft>
              <a:buClr>
                <a:srgbClr val="2563EB"/>
              </a:buClr>
              <a:buSzPts val="1700"/>
              <a:buAutoNum type="arabicPeriod"/>
            </a:pPr>
            <a:r>
              <a:rPr lang="en-GB" sz="1700" b="1">
                <a:solidFill>
                  <a:srgbClr val="1E293B"/>
                </a:solidFill>
                <a:highlight>
                  <a:srgbClr val="FFFFFF"/>
                </a:highlight>
              </a:rPr>
              <a:t>Comparing Alternatives</a:t>
            </a:r>
            <a:endParaRPr sz="1700" b="1">
              <a:solidFill>
                <a:srgbClr val="1E293B"/>
              </a:solidFill>
              <a:highlight>
                <a:srgbClr val="FFFFFF"/>
              </a:highlight>
            </a:endParaRPr>
          </a:p>
          <a:p>
            <a:pPr marL="457200" lvl="0" indent="-336550" algn="l" rtl="0">
              <a:lnSpc>
                <a:spcPct val="115000"/>
              </a:lnSpc>
              <a:spcBef>
                <a:spcPts val="0"/>
              </a:spcBef>
              <a:spcAft>
                <a:spcPts val="0"/>
              </a:spcAft>
              <a:buClr>
                <a:srgbClr val="2563EB"/>
              </a:buClr>
              <a:buSzPts val="1700"/>
              <a:buAutoNum type="arabicPeriod"/>
            </a:pPr>
            <a:r>
              <a:rPr lang="en-GB" sz="1700" b="1">
                <a:solidFill>
                  <a:srgbClr val="1E293B"/>
                </a:solidFill>
                <a:highlight>
                  <a:srgbClr val="FFFFFF"/>
                </a:highlight>
              </a:rPr>
              <a:t>Implementation &amp; Tools</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IV. </a:t>
            </a:r>
            <a:r>
              <a:rPr lang="en-GB" sz="1700" b="1">
                <a:solidFill>
                  <a:srgbClr val="1E293B"/>
                </a:solidFill>
                <a:highlight>
                  <a:srgbClr val="FFFFFF"/>
                </a:highlight>
              </a:rPr>
              <a:t>Results (Results &amp; Visualization)</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V.  </a:t>
            </a:r>
            <a:r>
              <a:rPr lang="en-GB" sz="1700" b="1">
                <a:solidFill>
                  <a:srgbClr val="1E293B"/>
                </a:solidFill>
                <a:highlight>
                  <a:srgbClr val="FFFFFF"/>
                </a:highlight>
              </a:rPr>
              <a:t>Evaluation (Error Estimation &amp; Validation)</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VI. </a:t>
            </a:r>
            <a:r>
              <a:rPr lang="en-GB" sz="1700" b="1">
                <a:solidFill>
                  <a:srgbClr val="1E293B"/>
                </a:solidFill>
                <a:highlight>
                  <a:srgbClr val="FFFFFF"/>
                </a:highlight>
              </a:rPr>
              <a:t>Limitations</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rgbClr val="2563EB"/>
                </a:solidFill>
                <a:highlight>
                  <a:srgbClr val="FFFFFF"/>
                </a:highlight>
              </a:rPr>
              <a:t>VII.</a:t>
            </a:r>
            <a:r>
              <a:rPr lang="en-GB" sz="1700" b="1">
                <a:solidFill>
                  <a:srgbClr val="1E293B"/>
                </a:solidFill>
                <a:highlight>
                  <a:srgbClr val="FFFFFF"/>
                </a:highlight>
              </a:rPr>
              <a:t>Conclusion</a:t>
            </a:r>
            <a:endParaRPr sz="1700" b="1">
              <a:solidFill>
                <a:srgbClr val="1E293B"/>
              </a:solidFill>
              <a:highlight>
                <a:srgbClr val="FFFFFF"/>
              </a:highlight>
            </a:endParaRPr>
          </a:p>
          <a:p>
            <a:pPr marL="0" lvl="0" indent="0" algn="l" rtl="0">
              <a:lnSpc>
                <a:spcPct val="115000"/>
              </a:lnSpc>
              <a:spcBef>
                <a:spcPts val="0"/>
              </a:spcBef>
              <a:spcAft>
                <a:spcPts val="0"/>
              </a:spcAft>
              <a:buNone/>
            </a:pPr>
            <a:r>
              <a:rPr lang="en-GB" sz="1700" b="1">
                <a:solidFill>
                  <a:schemeClr val="accent1"/>
                </a:solidFill>
                <a:highlight>
                  <a:srgbClr val="FFFFFF"/>
                </a:highlight>
              </a:rPr>
              <a:t>VIII.</a:t>
            </a:r>
            <a:r>
              <a:rPr lang="en-GB" sz="1700" b="1">
                <a:solidFill>
                  <a:srgbClr val="1E293B"/>
                </a:solidFill>
                <a:highlight>
                  <a:srgbClr val="FFFFFF"/>
                </a:highlight>
              </a:rPr>
              <a:t> References</a:t>
            </a:r>
            <a:endParaRPr sz="1700" b="1">
              <a:solidFill>
                <a:srgbClr val="1E293B"/>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1700" b="1">
              <a:solidFill>
                <a:srgbClr val="1E293B"/>
              </a:solidFill>
              <a:highlight>
                <a:srgbClr val="FFFFFF"/>
              </a:highlight>
            </a:endParaRPr>
          </a:p>
          <a:p>
            <a:pPr marL="0" lvl="0" indent="0" algn="l" rtl="0">
              <a:spcBef>
                <a:spcPts val="0"/>
              </a:spcBef>
              <a:spcAft>
                <a:spcPts val="0"/>
              </a:spcAft>
              <a:buNone/>
            </a:pPr>
            <a:endParaRPr sz="1800">
              <a:solidFill>
                <a:schemeClr val="dk2"/>
              </a:solidFill>
            </a:endParaRPr>
          </a:p>
        </p:txBody>
      </p:sp>
      <p:sp>
        <p:nvSpPr>
          <p:cNvPr id="70" name="Google Shape;70;p14"/>
          <p:cNvSpPr txBox="1"/>
          <p:nvPr/>
        </p:nvSpPr>
        <p:spPr>
          <a:xfrm>
            <a:off x="-994050" y="3003800"/>
            <a:ext cx="6237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76" name="Google Shape;76;p15"/>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457200" algn="l" rtl="0">
              <a:spcBef>
                <a:spcPts val="0"/>
              </a:spcBef>
              <a:spcAft>
                <a:spcPts val="0"/>
              </a:spcAft>
              <a:buNone/>
            </a:pPr>
            <a:r>
              <a:rPr lang="en-GB" sz="2000" b="1"/>
              <a:t>I. Introduction </a:t>
            </a:r>
            <a:endParaRPr sz="2000" b="1"/>
          </a:p>
        </p:txBody>
      </p:sp>
      <p:sp>
        <p:nvSpPr>
          <p:cNvPr id="77" name="Google Shape;77;p15"/>
          <p:cNvSpPr txBox="1">
            <a:spLocks noGrp="1"/>
          </p:cNvSpPr>
          <p:nvPr>
            <p:ph type="sldNum" idx="12"/>
          </p:nvPr>
        </p:nvSpPr>
        <p:spPr>
          <a:xfrm>
            <a:off x="8197121" y="4676562"/>
            <a:ext cx="530100" cy="380400"/>
          </a:xfrm>
          <a:prstGeom prst="rect">
            <a:avLst/>
          </a:prstGeom>
        </p:spPr>
        <p:txBody>
          <a:bodyPr spcFirstLastPara="1" wrap="square" lIns="88325" tIns="88325" rIns="88325" bIns="88325" anchor="ctr" anchorCtr="0">
            <a:normAutofit/>
          </a:bodyPr>
          <a:lstStyle/>
          <a:p>
            <a:pPr marL="0" lvl="0" indent="0" algn="r" rtl="0">
              <a:spcBef>
                <a:spcPts val="0"/>
              </a:spcBef>
              <a:spcAft>
                <a:spcPts val="0"/>
              </a:spcAft>
              <a:buNone/>
            </a:pPr>
            <a:fld id="{00000000-1234-1234-1234-123412341234}" type="slidenum">
              <a:rPr lang="en-GB" sz="966"/>
              <a:t>3</a:t>
            </a:fld>
            <a:endParaRPr sz="966"/>
          </a:p>
        </p:txBody>
      </p:sp>
      <p:sp>
        <p:nvSpPr>
          <p:cNvPr id="78" name="Google Shape;78;p15"/>
          <p:cNvSpPr txBox="1"/>
          <p:nvPr/>
        </p:nvSpPr>
        <p:spPr>
          <a:xfrm rot="10800000" flipH="1">
            <a:off x="5063520" y="2539242"/>
            <a:ext cx="2655300" cy="233400"/>
          </a:xfrm>
          <a:prstGeom prst="rect">
            <a:avLst/>
          </a:prstGeom>
          <a:noFill/>
          <a:ln>
            <a:noFill/>
          </a:ln>
        </p:spPr>
        <p:txBody>
          <a:bodyPr spcFirstLastPara="1" wrap="square" lIns="88325" tIns="88325" rIns="88325" bIns="88325" anchor="t" anchorCtr="0">
            <a:noAutofit/>
          </a:bodyPr>
          <a:lstStyle/>
          <a:p>
            <a:pPr marL="0" lvl="0" indent="0" algn="l" rtl="0">
              <a:spcBef>
                <a:spcPts val="0"/>
              </a:spcBef>
              <a:spcAft>
                <a:spcPts val="0"/>
              </a:spcAft>
              <a:buNone/>
            </a:pPr>
            <a:endParaRPr sz="1739">
              <a:solidFill>
                <a:schemeClr val="dk2"/>
              </a:solidFill>
            </a:endParaRPr>
          </a:p>
          <a:p>
            <a:pPr marL="0" lvl="0" indent="0" algn="l" rtl="0">
              <a:spcBef>
                <a:spcPts val="0"/>
              </a:spcBef>
              <a:spcAft>
                <a:spcPts val="0"/>
              </a:spcAft>
              <a:buNone/>
            </a:pPr>
            <a:endParaRPr sz="1739">
              <a:solidFill>
                <a:schemeClr val="dk2"/>
              </a:solidFill>
            </a:endParaRPr>
          </a:p>
        </p:txBody>
      </p:sp>
      <p:sp>
        <p:nvSpPr>
          <p:cNvPr id="79" name="Google Shape;79;p15"/>
          <p:cNvSpPr txBox="1"/>
          <p:nvPr/>
        </p:nvSpPr>
        <p:spPr>
          <a:xfrm>
            <a:off x="772000" y="2004450"/>
            <a:ext cx="7521300" cy="3052500"/>
          </a:xfrm>
          <a:prstGeom prst="rect">
            <a:avLst/>
          </a:prstGeom>
          <a:noFill/>
          <a:ln>
            <a:noFill/>
          </a:ln>
        </p:spPr>
        <p:txBody>
          <a:bodyPr spcFirstLastPara="1" wrap="square" lIns="78175" tIns="78175" rIns="78175" bIns="78175" anchor="t" anchorCtr="0">
            <a:noAutofit/>
          </a:bodyPr>
          <a:lstStyle/>
          <a:p>
            <a:pPr marL="0" lvl="0" indent="0" algn="l" rtl="0">
              <a:spcBef>
                <a:spcPts val="0"/>
              </a:spcBef>
              <a:spcAft>
                <a:spcPts val="0"/>
              </a:spcAft>
              <a:buNone/>
            </a:pPr>
            <a:r>
              <a:rPr lang="en-GB" sz="1539" b="1" dirty="0">
                <a:solidFill>
                  <a:schemeClr val="dk1"/>
                </a:solidFill>
              </a:rPr>
              <a:t>Teammate &amp; Role </a:t>
            </a:r>
            <a:endParaRPr sz="1539" b="1" dirty="0">
              <a:solidFill>
                <a:schemeClr val="dk1"/>
              </a:solidFill>
            </a:endParaRPr>
          </a:p>
          <a:p>
            <a:pPr marL="0" lvl="0" indent="0" algn="l" rtl="0">
              <a:spcBef>
                <a:spcPts val="0"/>
              </a:spcBef>
              <a:spcAft>
                <a:spcPts val="0"/>
              </a:spcAft>
              <a:buNone/>
            </a:pPr>
            <a:endParaRPr sz="1539" b="1" dirty="0">
              <a:solidFill>
                <a:schemeClr val="dk1"/>
              </a:solidFill>
            </a:endParaRPr>
          </a:p>
          <a:p>
            <a:pPr marL="0" lvl="0" indent="0" algn="just" rtl="0">
              <a:spcBef>
                <a:spcPts val="0"/>
              </a:spcBef>
              <a:spcAft>
                <a:spcPts val="0"/>
              </a:spcAft>
              <a:buNone/>
            </a:pPr>
            <a:r>
              <a:rPr lang="en-GB" sz="1112" dirty="0">
                <a:solidFill>
                  <a:schemeClr val="dk1"/>
                </a:solidFill>
              </a:rPr>
              <a:t>CHIEB CHEY                        CHAO SIVCHHOUNG            CHHOM VANNTHOUN       	        BAN THUNPISEY</a:t>
            </a:r>
            <a:endParaRPr sz="1112" dirty="0">
              <a:solidFill>
                <a:schemeClr val="dk1"/>
              </a:solidFill>
            </a:endParaRPr>
          </a:p>
          <a:p>
            <a:pPr marL="0" lvl="0" indent="0" algn="just" rtl="0">
              <a:spcBef>
                <a:spcPts val="0"/>
              </a:spcBef>
              <a:spcAft>
                <a:spcPts val="0"/>
              </a:spcAft>
              <a:buNone/>
            </a:pPr>
            <a:r>
              <a:rPr lang="en-GB" sz="1283" dirty="0">
                <a:solidFill>
                  <a:schemeClr val="dk1"/>
                </a:solidFill>
              </a:rPr>
              <a:t>e20220235</a:t>
            </a:r>
            <a:r>
              <a:rPr lang="en-GB" sz="1112" dirty="0">
                <a:solidFill>
                  <a:schemeClr val="dk1"/>
                </a:solidFill>
              </a:rPr>
              <a:t>	        	        </a:t>
            </a:r>
            <a:r>
              <a:rPr lang="en-GB" sz="1283" dirty="0">
                <a:solidFill>
                  <a:schemeClr val="dk1"/>
                </a:solidFill>
              </a:rPr>
              <a:t>e20220409	   e20220432	           e20220860	       </a:t>
            </a:r>
            <a:endParaRPr sz="1112" dirty="0">
              <a:solidFill>
                <a:schemeClr val="dk1"/>
              </a:solidFill>
            </a:endParaRPr>
          </a:p>
          <a:p>
            <a:pPr marL="0" lvl="0" indent="0" algn="just" rtl="0">
              <a:spcBef>
                <a:spcPts val="0"/>
              </a:spcBef>
              <a:spcAft>
                <a:spcPts val="0"/>
              </a:spcAft>
              <a:buNone/>
            </a:pPr>
            <a:endParaRPr sz="1112" dirty="0">
              <a:solidFill>
                <a:schemeClr val="dk1"/>
              </a:solidFill>
            </a:endParaRPr>
          </a:p>
          <a:p>
            <a:pPr marL="390978" lvl="0" indent="0" algn="just" rtl="0">
              <a:spcBef>
                <a:spcPts val="0"/>
              </a:spcBef>
              <a:spcAft>
                <a:spcPts val="0"/>
              </a:spcAft>
              <a:buNone/>
            </a:pPr>
            <a:endParaRPr sz="1112" dirty="0">
              <a:solidFill>
                <a:schemeClr val="dk1"/>
              </a:solidFill>
            </a:endParaRPr>
          </a:p>
          <a:p>
            <a:pPr marL="0" lvl="0" indent="0" algn="just" rtl="0">
              <a:spcBef>
                <a:spcPts val="0"/>
              </a:spcBef>
              <a:spcAft>
                <a:spcPts val="0"/>
              </a:spcAft>
              <a:buNone/>
            </a:pPr>
            <a:endParaRPr sz="1539" dirty="0">
              <a:solidFill>
                <a:schemeClr val="dk1"/>
              </a:solidFill>
            </a:endParaRPr>
          </a:p>
        </p:txBody>
      </p:sp>
      <p:sp>
        <p:nvSpPr>
          <p:cNvPr id="80" name="Google Shape;80;p15"/>
          <p:cNvSpPr/>
          <p:nvPr/>
        </p:nvSpPr>
        <p:spPr>
          <a:xfrm>
            <a:off x="772000" y="3056572"/>
            <a:ext cx="1141200" cy="1850400"/>
          </a:xfrm>
          <a:prstGeom prst="roundRect">
            <a:avLst>
              <a:gd name="adj" fmla="val 16667"/>
            </a:avLst>
          </a:prstGeom>
          <a:solidFill>
            <a:schemeClr val="lt2"/>
          </a:solidFill>
          <a:ln w="8150" cap="flat" cmpd="sng">
            <a:solidFill>
              <a:schemeClr val="dk2"/>
            </a:solidFill>
            <a:prstDash val="solid"/>
            <a:round/>
            <a:headEnd type="none" w="sm" len="sm"/>
            <a:tailEnd type="none" w="sm" len="sm"/>
          </a:ln>
        </p:spPr>
        <p:txBody>
          <a:bodyPr spcFirstLastPara="1" wrap="square" lIns="78175" tIns="78175" rIns="78175" bIns="78175" anchor="ctr" anchorCtr="0">
            <a:noAutofit/>
          </a:bodyPr>
          <a:lstStyle/>
          <a:p>
            <a:pPr marL="0" lvl="0" indent="0" algn="l" rtl="0">
              <a:spcBef>
                <a:spcPts val="0"/>
              </a:spcBef>
              <a:spcAft>
                <a:spcPts val="0"/>
              </a:spcAft>
              <a:buNone/>
            </a:pPr>
            <a:r>
              <a:rPr lang="en-GB" sz="1026"/>
              <a:t>- Define the equation of the problem</a:t>
            </a:r>
            <a:endParaRPr sz="1026"/>
          </a:p>
          <a:p>
            <a:pPr marL="0" lvl="0" indent="0" algn="l" rtl="0">
              <a:spcBef>
                <a:spcPts val="0"/>
              </a:spcBef>
              <a:spcAft>
                <a:spcPts val="0"/>
              </a:spcAft>
              <a:buNone/>
            </a:pPr>
            <a:r>
              <a:rPr lang="en-GB" sz="1026"/>
              <a:t>- Target the objective </a:t>
            </a:r>
            <a:endParaRPr sz="1026"/>
          </a:p>
        </p:txBody>
      </p:sp>
      <p:sp>
        <p:nvSpPr>
          <p:cNvPr id="81" name="Google Shape;81;p15"/>
          <p:cNvSpPr/>
          <p:nvPr/>
        </p:nvSpPr>
        <p:spPr>
          <a:xfrm>
            <a:off x="2757342" y="2991472"/>
            <a:ext cx="1141200" cy="1850400"/>
          </a:xfrm>
          <a:prstGeom prst="roundRect">
            <a:avLst>
              <a:gd name="adj" fmla="val 16667"/>
            </a:avLst>
          </a:prstGeom>
          <a:solidFill>
            <a:schemeClr val="lt2"/>
          </a:solidFill>
          <a:ln w="8150" cap="flat" cmpd="sng">
            <a:solidFill>
              <a:schemeClr val="dk2"/>
            </a:solidFill>
            <a:prstDash val="solid"/>
            <a:round/>
            <a:headEnd type="none" w="sm" len="sm"/>
            <a:tailEnd type="none" w="sm" len="sm"/>
          </a:ln>
        </p:spPr>
        <p:txBody>
          <a:bodyPr spcFirstLastPara="1" wrap="square" lIns="78175" tIns="78175" rIns="78175" bIns="78175" anchor="ctr" anchorCtr="0">
            <a:noAutofit/>
          </a:bodyPr>
          <a:lstStyle/>
          <a:p>
            <a:pPr marL="0" lvl="0" indent="0" algn="l" rtl="0">
              <a:spcBef>
                <a:spcPts val="0"/>
              </a:spcBef>
              <a:spcAft>
                <a:spcPts val="0"/>
              </a:spcAft>
              <a:buNone/>
            </a:pPr>
            <a:r>
              <a:rPr lang="en-GB" sz="1026"/>
              <a:t>- Methodology graphical</a:t>
            </a:r>
            <a:endParaRPr sz="1026"/>
          </a:p>
          <a:p>
            <a:pPr marL="0" lvl="0" indent="0" algn="l" rtl="0">
              <a:spcBef>
                <a:spcPts val="0"/>
              </a:spcBef>
              <a:spcAft>
                <a:spcPts val="0"/>
              </a:spcAft>
              <a:buNone/>
            </a:pPr>
            <a:r>
              <a:rPr lang="en-GB" sz="1026"/>
              <a:t>- Software analyse</a:t>
            </a:r>
            <a:endParaRPr sz="1026"/>
          </a:p>
        </p:txBody>
      </p:sp>
      <p:sp>
        <p:nvSpPr>
          <p:cNvPr id="82" name="Google Shape;82;p15"/>
          <p:cNvSpPr/>
          <p:nvPr/>
        </p:nvSpPr>
        <p:spPr>
          <a:xfrm>
            <a:off x="4755443" y="2991472"/>
            <a:ext cx="1141200" cy="1850400"/>
          </a:xfrm>
          <a:prstGeom prst="roundRect">
            <a:avLst>
              <a:gd name="adj" fmla="val 16667"/>
            </a:avLst>
          </a:prstGeom>
          <a:solidFill>
            <a:schemeClr val="lt2"/>
          </a:solidFill>
          <a:ln w="8150" cap="flat" cmpd="sng">
            <a:solidFill>
              <a:schemeClr val="dk2"/>
            </a:solidFill>
            <a:prstDash val="solid"/>
            <a:round/>
            <a:headEnd type="none" w="sm" len="sm"/>
            <a:tailEnd type="none" w="sm" len="sm"/>
          </a:ln>
        </p:spPr>
        <p:txBody>
          <a:bodyPr spcFirstLastPara="1" wrap="square" lIns="78175" tIns="78175" rIns="78175" bIns="78175" anchor="ctr" anchorCtr="0">
            <a:noAutofit/>
          </a:bodyPr>
          <a:lstStyle/>
          <a:p>
            <a:pPr marL="0" lvl="0" indent="0" algn="l" rtl="0">
              <a:spcBef>
                <a:spcPts val="0"/>
              </a:spcBef>
              <a:spcAft>
                <a:spcPts val="0"/>
              </a:spcAft>
              <a:buNone/>
            </a:pPr>
            <a:r>
              <a:rPr lang="en-GB" sz="1026"/>
              <a:t>- Calculate the equation</a:t>
            </a:r>
            <a:endParaRPr sz="1026"/>
          </a:p>
          <a:p>
            <a:pPr marL="0" lvl="0" indent="0" algn="l" rtl="0">
              <a:spcBef>
                <a:spcPts val="0"/>
              </a:spcBef>
              <a:spcAft>
                <a:spcPts val="0"/>
              </a:spcAft>
              <a:buNone/>
            </a:pPr>
            <a:r>
              <a:rPr lang="en-GB" sz="1026"/>
              <a:t>- Choose the methods</a:t>
            </a:r>
            <a:endParaRPr sz="1026"/>
          </a:p>
        </p:txBody>
      </p:sp>
      <p:sp>
        <p:nvSpPr>
          <p:cNvPr id="83" name="Google Shape;83;p15"/>
          <p:cNvSpPr/>
          <p:nvPr/>
        </p:nvSpPr>
        <p:spPr>
          <a:xfrm>
            <a:off x="6753531" y="2991472"/>
            <a:ext cx="1141200" cy="1850400"/>
          </a:xfrm>
          <a:prstGeom prst="roundRect">
            <a:avLst>
              <a:gd name="adj" fmla="val 16667"/>
            </a:avLst>
          </a:prstGeom>
          <a:solidFill>
            <a:schemeClr val="lt2"/>
          </a:solidFill>
          <a:ln w="8150" cap="flat" cmpd="sng">
            <a:solidFill>
              <a:schemeClr val="dk2"/>
            </a:solidFill>
            <a:prstDash val="solid"/>
            <a:round/>
            <a:headEnd type="none" w="sm" len="sm"/>
            <a:tailEnd type="none" w="sm" len="sm"/>
          </a:ln>
        </p:spPr>
        <p:txBody>
          <a:bodyPr spcFirstLastPara="1" wrap="square" lIns="78175" tIns="78175" rIns="78175" bIns="78175" anchor="ctr" anchorCtr="0">
            <a:noAutofit/>
          </a:bodyPr>
          <a:lstStyle/>
          <a:p>
            <a:pPr marL="0" lvl="0" indent="0" algn="l" rtl="0">
              <a:spcBef>
                <a:spcPts val="0"/>
              </a:spcBef>
              <a:spcAft>
                <a:spcPts val="0"/>
              </a:spcAft>
              <a:buNone/>
            </a:pPr>
            <a:r>
              <a:rPr lang="en-GB" sz="1026"/>
              <a:t>- Evaluation the result</a:t>
            </a:r>
            <a:endParaRPr sz="1026"/>
          </a:p>
          <a:p>
            <a:pPr marL="0" lvl="0" indent="0" algn="l" rtl="0">
              <a:spcBef>
                <a:spcPts val="0"/>
              </a:spcBef>
              <a:spcAft>
                <a:spcPts val="0"/>
              </a:spcAft>
              <a:buNone/>
            </a:pPr>
            <a:r>
              <a:rPr lang="en-GB" sz="1026"/>
              <a:t>- Check the result</a:t>
            </a:r>
            <a:endParaRPr sz="1026"/>
          </a:p>
        </p:txBody>
      </p:sp>
      <p:sp>
        <p:nvSpPr>
          <p:cNvPr id="84" name="Google Shape;84;p15"/>
          <p:cNvSpPr txBox="1"/>
          <p:nvPr/>
        </p:nvSpPr>
        <p:spPr>
          <a:xfrm>
            <a:off x="149325" y="835200"/>
            <a:ext cx="8673000" cy="241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a:solidFill>
                  <a:schemeClr val="dk1"/>
                </a:solidFill>
                <a:highlight>
                  <a:srgbClr val="FFFFFF"/>
                </a:highlight>
                <a:latin typeface="Times New Roman"/>
                <a:ea typeface="Times New Roman"/>
                <a:cs typeface="Times New Roman"/>
                <a:sym typeface="Times New Roman"/>
              </a:rPr>
              <a:t>      The engineering problem addressed in this project is determining the mathematical relationship between the height of water in a tank and the time required to fill it. In engineering design, tracking fluid levels over time is essential for sizing infrastructure and preventing system overflows. However, because the equations relating fluid height and time can be non-linear and difficult to solve directly using standard algebra, finding the exact time for a specific water height requires finding the roots of these engineering functions.</a:t>
            </a:r>
            <a:r>
              <a:rPr lang="en-GB">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p:txBody>
      </p:sp>
      <p:sp>
        <p:nvSpPr>
          <p:cNvPr id="85" name="Google Shape;85;p15"/>
          <p:cNvSpPr txBox="1"/>
          <p:nvPr/>
        </p:nvSpPr>
        <p:spPr>
          <a:xfrm>
            <a:off x="772000" y="540000"/>
            <a:ext cx="4103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chemeClr val="dk1"/>
                </a:solidFill>
              </a:rPr>
              <a:t>Water Tank Filling Time </a:t>
            </a:r>
            <a:endParaRPr sz="1500" b="1">
              <a:solidFill>
                <a:schemeClr val="dk1"/>
              </a:solidFill>
            </a:endParaRPr>
          </a:p>
          <a:p>
            <a:pPr marL="0" lvl="0" indent="0" algn="l" rtl="0">
              <a:spcBef>
                <a:spcPts val="0"/>
              </a:spcBef>
              <a:spcAft>
                <a:spcPts val="0"/>
              </a:spcAft>
              <a:buNone/>
            </a:pPr>
            <a:endParaRPr sz="1500"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457200" algn="l" rtl="0">
              <a:spcBef>
                <a:spcPts val="0"/>
              </a:spcBef>
              <a:spcAft>
                <a:spcPts val="0"/>
              </a:spcAft>
              <a:buNone/>
            </a:pPr>
            <a:r>
              <a:rPr lang="en-GB" sz="2000" b="1"/>
              <a:t>II. </a:t>
            </a:r>
            <a:r>
              <a:rPr lang="en-GB" sz="2000" b="1">
                <a:solidFill>
                  <a:schemeClr val="dk1"/>
                </a:solidFill>
              </a:rPr>
              <a:t>Objective </a:t>
            </a:r>
            <a:endParaRPr sz="2000" b="1"/>
          </a:p>
        </p:txBody>
      </p:sp>
      <p:sp>
        <p:nvSpPr>
          <p:cNvPr id="91" name="Google Shape;91;p16"/>
          <p:cNvSpPr txBox="1"/>
          <p:nvPr/>
        </p:nvSpPr>
        <p:spPr>
          <a:xfrm>
            <a:off x="755550" y="852550"/>
            <a:ext cx="7632900" cy="2413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apply Numerical Method to solve real problem</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find the volume flow rate to define the right time </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define the better method </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understand how to determine the equation of the problem</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know how to read graphic of result  </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evaluate the result </a:t>
            </a:r>
            <a:endParaRPr sz="1600">
              <a:solidFill>
                <a:srgbClr val="1E293B"/>
              </a:solidFill>
              <a:highlight>
                <a:schemeClr val="lt1"/>
              </a:highlight>
            </a:endParaRPr>
          </a:p>
          <a:p>
            <a:pPr marL="457200" lvl="0" indent="-330200" algn="l" rtl="0">
              <a:lnSpc>
                <a:spcPct val="115000"/>
              </a:lnSpc>
              <a:spcBef>
                <a:spcPts val="0"/>
              </a:spcBef>
              <a:spcAft>
                <a:spcPts val="0"/>
              </a:spcAft>
              <a:buClr>
                <a:srgbClr val="1E293B"/>
              </a:buClr>
              <a:buSzPts val="1600"/>
              <a:buChar char="●"/>
            </a:pPr>
            <a:r>
              <a:rPr lang="en-GB" sz="1600">
                <a:solidFill>
                  <a:srgbClr val="1E293B"/>
                </a:solidFill>
                <a:highlight>
                  <a:schemeClr val="lt1"/>
                </a:highlight>
              </a:rPr>
              <a:t>To discussion and recommendation </a:t>
            </a:r>
            <a:endParaRPr sz="1600">
              <a:solidFill>
                <a:srgbClr val="1E293B"/>
              </a:solidFill>
              <a:highlight>
                <a:schemeClr val="lt1"/>
              </a:highlight>
            </a:endParaRPr>
          </a:p>
          <a:p>
            <a:pPr marL="457200" lvl="0" indent="0" algn="l" rtl="0">
              <a:lnSpc>
                <a:spcPct val="115000"/>
              </a:lnSpc>
              <a:spcBef>
                <a:spcPts val="0"/>
              </a:spcBef>
              <a:spcAft>
                <a:spcPts val="0"/>
              </a:spcAft>
              <a:buNone/>
            </a:pPr>
            <a:endParaRPr sz="1600">
              <a:solidFill>
                <a:srgbClr val="1E293B"/>
              </a:solidFill>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p:nvPr/>
        </p:nvSpPr>
        <p:spPr>
          <a:xfrm>
            <a:off x="727189"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97" name="Google Shape;97;p17"/>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457200" algn="l" rtl="0">
              <a:spcBef>
                <a:spcPts val="0"/>
              </a:spcBef>
              <a:spcAft>
                <a:spcPts val="0"/>
              </a:spcAft>
              <a:buNone/>
            </a:pPr>
            <a:r>
              <a:rPr lang="en-GB" sz="2000" b="1"/>
              <a:t>III. </a:t>
            </a:r>
            <a:r>
              <a:rPr lang="en-GB" sz="2000" b="1">
                <a:solidFill>
                  <a:schemeClr val="dk1"/>
                </a:solidFill>
              </a:rPr>
              <a:t>Methodology</a:t>
            </a:r>
            <a:endParaRPr sz="2000" b="1"/>
          </a:p>
        </p:txBody>
      </p:sp>
      <p:sp>
        <p:nvSpPr>
          <p:cNvPr id="98" name="Google Shape;98;p17"/>
          <p:cNvSpPr txBox="1">
            <a:spLocks noGrp="1"/>
          </p:cNvSpPr>
          <p:nvPr>
            <p:ph type="sldNum" idx="12"/>
          </p:nvPr>
        </p:nvSpPr>
        <p:spPr>
          <a:xfrm>
            <a:off x="8554773"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5</a:t>
            </a:fld>
            <a:endParaRPr/>
          </a:p>
        </p:txBody>
      </p:sp>
      <p:sp>
        <p:nvSpPr>
          <p:cNvPr id="99" name="Google Shape;99;p17"/>
          <p:cNvSpPr txBox="1"/>
          <p:nvPr/>
        </p:nvSpPr>
        <p:spPr>
          <a:xfrm>
            <a:off x="538594" y="456124"/>
            <a:ext cx="36252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600" b="1">
              <a:solidFill>
                <a:srgbClr val="2563EB"/>
              </a:solidFill>
              <a:highlight>
                <a:schemeClr val="lt1"/>
              </a:highlight>
            </a:endParaRPr>
          </a:p>
          <a:p>
            <a:pPr marL="457200" lvl="0" indent="-330200" algn="l" rtl="0">
              <a:lnSpc>
                <a:spcPct val="115000"/>
              </a:lnSpc>
              <a:spcBef>
                <a:spcPts val="0"/>
              </a:spcBef>
              <a:spcAft>
                <a:spcPts val="0"/>
              </a:spcAft>
              <a:buClr>
                <a:srgbClr val="2563EB"/>
              </a:buClr>
              <a:buSzPts val="1600"/>
              <a:buAutoNum type="arabicPeriod"/>
            </a:pPr>
            <a:r>
              <a:rPr lang="en-GB" sz="1600" b="1">
                <a:solidFill>
                  <a:srgbClr val="1E293B"/>
                </a:solidFill>
                <a:highlight>
                  <a:schemeClr val="lt1"/>
                </a:highlight>
              </a:rPr>
              <a:t>The Mathematical Model </a:t>
            </a:r>
            <a:endParaRPr sz="1600"/>
          </a:p>
        </p:txBody>
      </p:sp>
      <p:sp>
        <p:nvSpPr>
          <p:cNvPr id="100" name="Google Shape;100;p17"/>
          <p:cNvSpPr txBox="1"/>
          <p:nvPr/>
        </p:nvSpPr>
        <p:spPr>
          <a:xfrm>
            <a:off x="4874304" y="739324"/>
            <a:ext cx="42468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solidFill>
                  <a:schemeClr val="accent1"/>
                </a:solidFill>
                <a:highlight>
                  <a:schemeClr val="lt1"/>
                </a:highlight>
              </a:rPr>
              <a:t>2.</a:t>
            </a:r>
            <a:r>
              <a:rPr lang="en-GB" sz="1600" b="1">
                <a:solidFill>
                  <a:srgbClr val="1E293B"/>
                </a:solidFill>
                <a:highlight>
                  <a:schemeClr val="lt1"/>
                </a:highlight>
              </a:rPr>
              <a:t> Method Selection &amp; Justification</a:t>
            </a:r>
            <a:endParaRPr sz="1600" b="1">
              <a:solidFill>
                <a:srgbClr val="1E293B"/>
              </a:solidFill>
              <a:highlight>
                <a:schemeClr val="lt1"/>
              </a:highlight>
            </a:endParaRPr>
          </a:p>
        </p:txBody>
      </p:sp>
      <p:sp>
        <p:nvSpPr>
          <p:cNvPr id="101" name="Google Shape;101;p17"/>
          <p:cNvSpPr txBox="1"/>
          <p:nvPr/>
        </p:nvSpPr>
        <p:spPr>
          <a:xfrm>
            <a:off x="646769" y="3104444"/>
            <a:ext cx="30000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solidFill>
                  <a:schemeClr val="accent1"/>
                </a:solidFill>
                <a:highlight>
                  <a:schemeClr val="lt1"/>
                </a:highlight>
              </a:rPr>
              <a:t>3.</a:t>
            </a:r>
            <a:r>
              <a:rPr lang="en-GB" sz="1600" b="1">
                <a:solidFill>
                  <a:srgbClr val="1E293B"/>
                </a:solidFill>
                <a:highlight>
                  <a:schemeClr val="lt1"/>
                </a:highlight>
              </a:rPr>
              <a:t>  Comparing Alternatives</a:t>
            </a:r>
            <a:endParaRPr sz="1600" b="1">
              <a:solidFill>
                <a:srgbClr val="1E293B"/>
              </a:solidFill>
              <a:highlight>
                <a:schemeClr val="lt1"/>
              </a:highlight>
            </a:endParaRPr>
          </a:p>
        </p:txBody>
      </p:sp>
      <p:sp>
        <p:nvSpPr>
          <p:cNvPr id="102" name="Google Shape;102;p17"/>
          <p:cNvSpPr txBox="1"/>
          <p:nvPr/>
        </p:nvSpPr>
        <p:spPr>
          <a:xfrm>
            <a:off x="4874304" y="3104444"/>
            <a:ext cx="30000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solidFill>
                  <a:schemeClr val="accent1"/>
                </a:solidFill>
                <a:highlight>
                  <a:schemeClr val="lt1"/>
                </a:highlight>
              </a:rPr>
              <a:t>4.</a:t>
            </a:r>
            <a:r>
              <a:rPr lang="en-GB" sz="1600" b="1">
                <a:solidFill>
                  <a:srgbClr val="1E293B"/>
                </a:solidFill>
                <a:highlight>
                  <a:schemeClr val="lt1"/>
                </a:highlight>
              </a:rPr>
              <a:t> Implementation &amp; Tools</a:t>
            </a:r>
            <a:endParaRPr sz="1600">
              <a:solidFill>
                <a:schemeClr val="dk1"/>
              </a:solidFill>
            </a:endParaRPr>
          </a:p>
        </p:txBody>
      </p:sp>
      <p:pic>
        <p:nvPicPr>
          <p:cNvPr id="103" name="Google Shape;103;p17"/>
          <p:cNvPicPr preferRelativeResize="0"/>
          <p:nvPr/>
        </p:nvPicPr>
        <p:blipFill>
          <a:blip r:embed="rId3">
            <a:alphaModFix/>
          </a:blip>
          <a:stretch>
            <a:fillRect/>
          </a:stretch>
        </p:blipFill>
        <p:spPr>
          <a:xfrm>
            <a:off x="1214004" y="1170425"/>
            <a:ext cx="1685100" cy="1685100"/>
          </a:xfrm>
          <a:prstGeom prst="rect">
            <a:avLst/>
          </a:prstGeom>
          <a:noFill/>
          <a:ln>
            <a:noFill/>
          </a:ln>
        </p:spPr>
      </p:pic>
      <p:pic>
        <p:nvPicPr>
          <p:cNvPr id="104" name="Google Shape;104;p17"/>
          <p:cNvPicPr preferRelativeResize="0"/>
          <p:nvPr/>
        </p:nvPicPr>
        <p:blipFill>
          <a:blip r:embed="rId4">
            <a:alphaModFix/>
          </a:blip>
          <a:stretch>
            <a:fillRect/>
          </a:stretch>
        </p:blipFill>
        <p:spPr>
          <a:xfrm>
            <a:off x="5997027" y="1350812"/>
            <a:ext cx="1315003" cy="1315027"/>
          </a:xfrm>
          <a:prstGeom prst="rect">
            <a:avLst/>
          </a:prstGeom>
          <a:noFill/>
          <a:ln>
            <a:noFill/>
          </a:ln>
        </p:spPr>
      </p:pic>
      <p:pic>
        <p:nvPicPr>
          <p:cNvPr id="105" name="Google Shape;105;p17"/>
          <p:cNvPicPr preferRelativeResize="0"/>
          <p:nvPr/>
        </p:nvPicPr>
        <p:blipFill>
          <a:blip r:embed="rId5">
            <a:alphaModFix/>
          </a:blip>
          <a:stretch>
            <a:fillRect/>
          </a:stretch>
        </p:blipFill>
        <p:spPr>
          <a:xfrm>
            <a:off x="855629" y="3535550"/>
            <a:ext cx="2519030" cy="1511424"/>
          </a:xfrm>
          <a:prstGeom prst="rect">
            <a:avLst/>
          </a:prstGeom>
          <a:noFill/>
          <a:ln>
            <a:noFill/>
          </a:ln>
        </p:spPr>
      </p:pic>
      <p:pic>
        <p:nvPicPr>
          <p:cNvPr id="106" name="Google Shape;106;p17"/>
          <p:cNvPicPr preferRelativeResize="0"/>
          <p:nvPr/>
        </p:nvPicPr>
        <p:blipFill>
          <a:blip r:embed="rId6">
            <a:alphaModFix/>
          </a:blip>
          <a:stretch>
            <a:fillRect/>
          </a:stretch>
        </p:blipFill>
        <p:spPr>
          <a:xfrm>
            <a:off x="5682803" y="3476649"/>
            <a:ext cx="1629220" cy="16292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12" name="Google Shape;112;p18"/>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1.	The Mathematical Model</a:t>
            </a:r>
            <a:endParaRPr sz="2000" b="1"/>
          </a:p>
        </p:txBody>
      </p:sp>
      <p:sp>
        <p:nvSpPr>
          <p:cNvPr id="113" name="Google Shape;11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114" name="Google Shape;114;p18"/>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15" name="Google Shape;11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116" name="Google Shape;116;p18"/>
          <p:cNvSpPr txBox="1"/>
          <p:nvPr/>
        </p:nvSpPr>
        <p:spPr>
          <a:xfrm>
            <a:off x="389825" y="206894"/>
            <a:ext cx="4560900" cy="55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2400" b="1">
              <a:solidFill>
                <a:srgbClr val="1A1A1A"/>
              </a:solidFill>
            </a:endParaRPr>
          </a:p>
        </p:txBody>
      </p:sp>
      <p:sp>
        <p:nvSpPr>
          <p:cNvPr id="117" name="Google Shape;117;p18"/>
          <p:cNvSpPr txBox="1"/>
          <p:nvPr/>
        </p:nvSpPr>
        <p:spPr>
          <a:xfrm>
            <a:off x="550800" y="662744"/>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300" b="1">
                <a:solidFill>
                  <a:srgbClr val="1A1A1A"/>
                </a:solidFill>
              </a:rPr>
              <a:t>Problem Statement</a:t>
            </a:r>
            <a:endParaRPr sz="1300" b="1">
              <a:solidFill>
                <a:srgbClr val="1A1A1A"/>
              </a:solidFill>
            </a:endParaRPr>
          </a:p>
        </p:txBody>
      </p:sp>
      <p:sp>
        <p:nvSpPr>
          <p:cNvPr id="118" name="Google Shape;118;p18"/>
          <p:cNvSpPr txBox="1"/>
          <p:nvPr/>
        </p:nvSpPr>
        <p:spPr>
          <a:xfrm>
            <a:off x="550800" y="960994"/>
            <a:ext cx="4320000" cy="93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100">
                <a:solidFill>
                  <a:schemeClr val="dk1"/>
                </a:solidFill>
              </a:rPr>
              <a:t>In engineering, knowing how fast a tank fills up is a common and critical design problem. As water flows into a cylindrical tank, the height increases over time depending on the shape of the tank and the flow conditions.</a:t>
            </a:r>
            <a:endParaRPr sz="1100">
              <a:solidFill>
                <a:schemeClr val="dk1"/>
              </a:solidFill>
            </a:endParaRPr>
          </a:p>
        </p:txBody>
      </p:sp>
      <p:pic>
        <p:nvPicPr>
          <p:cNvPr id="119" name="Google Shape;119;p18"/>
          <p:cNvPicPr preferRelativeResize="0"/>
          <p:nvPr/>
        </p:nvPicPr>
        <p:blipFill>
          <a:blip r:embed="rId3">
            <a:alphaModFix/>
          </a:blip>
          <a:stretch>
            <a:fillRect/>
          </a:stretch>
        </p:blipFill>
        <p:spPr>
          <a:xfrm>
            <a:off x="4870800" y="729369"/>
            <a:ext cx="3727663" cy="4018450"/>
          </a:xfrm>
          <a:prstGeom prst="rect">
            <a:avLst/>
          </a:prstGeom>
          <a:noFill/>
          <a:ln>
            <a:noFill/>
          </a:ln>
        </p:spPr>
      </p:pic>
      <p:sp>
        <p:nvSpPr>
          <p:cNvPr id="120" name="Google Shape;120;p18"/>
          <p:cNvSpPr txBox="1"/>
          <p:nvPr/>
        </p:nvSpPr>
        <p:spPr>
          <a:xfrm>
            <a:off x="389825" y="1834119"/>
            <a:ext cx="4734600" cy="1841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300" b="1">
                <a:solidFill>
                  <a:schemeClr val="dk1"/>
                </a:solidFill>
              </a:rPr>
              <a:t>Physical Constraints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L</a:t>
            </a:r>
            <a:r>
              <a:rPr lang="en-GB" sz="1100">
                <a:solidFill>
                  <a:schemeClr val="dk1"/>
                </a:solidFill>
              </a:rPr>
              <a:t> :</a:t>
            </a:r>
            <a:r>
              <a:rPr lang="en-GB" sz="1100" b="1">
                <a:solidFill>
                  <a:schemeClr val="dk1"/>
                </a:solidFill>
              </a:rPr>
              <a:t> </a:t>
            </a:r>
            <a:r>
              <a:rPr lang="en-GB" sz="1100">
                <a:solidFill>
                  <a:schemeClr val="dk1"/>
                </a:solidFill>
              </a:rPr>
              <a:t>Height of tank: 2.85 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D : </a:t>
            </a:r>
            <a:r>
              <a:rPr lang="en-GB" sz="1100">
                <a:solidFill>
                  <a:schemeClr val="dk1"/>
                </a:solidFill>
              </a:rPr>
              <a:t>Tank diameter: 1.5 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h₀ :</a:t>
            </a:r>
            <a:r>
              <a:rPr lang="en-GB" sz="1100">
                <a:solidFill>
                  <a:schemeClr val="dk1"/>
                </a:solidFill>
              </a:rPr>
              <a:t> Initial water level: 0.5 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 : </a:t>
            </a:r>
            <a:r>
              <a:rPr lang="en-GB" sz="1100">
                <a:solidFill>
                  <a:schemeClr val="dk1"/>
                </a:solidFill>
              </a:rPr>
              <a:t>Cross-sectional area: 1.76625 m²</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Q : </a:t>
            </a:r>
            <a:r>
              <a:rPr lang="en-GB" sz="1100">
                <a:solidFill>
                  <a:schemeClr val="dk1"/>
                </a:solidFill>
              </a:rPr>
              <a:t>Volume flow rate: 0.005 m³/s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Q_max : </a:t>
            </a:r>
            <a:r>
              <a:rPr lang="en-GB" sz="1100">
                <a:solidFill>
                  <a:schemeClr val="dk1"/>
                </a:solidFill>
              </a:rPr>
              <a:t>Maximum outlet flow rate: 0.003 m³/s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200" b="1">
                <a:solidFill>
                  <a:schemeClr val="dk1"/>
                </a:solidFill>
              </a:rPr>
              <a:t>τ </a:t>
            </a:r>
            <a:r>
              <a:rPr lang="en-GB" sz="1100" b="1">
                <a:solidFill>
                  <a:schemeClr val="dk1"/>
                </a:solidFill>
              </a:rPr>
              <a:t>: </a:t>
            </a:r>
            <a:r>
              <a:rPr lang="en-GB" sz="1100">
                <a:solidFill>
                  <a:schemeClr val="dk1"/>
                </a:solidFill>
              </a:rPr>
              <a:t>Time constant: 30 s</a:t>
            </a: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spcBef>
                <a:spcPts val="1200"/>
              </a:spcBef>
              <a:spcAft>
                <a:spcPts val="0"/>
              </a:spcAft>
              <a:buNone/>
            </a:pPr>
            <a:endParaRPr sz="1800">
              <a:solidFill>
                <a:schemeClr val="dk1"/>
              </a:solidFill>
            </a:endParaRPr>
          </a:p>
        </p:txBody>
      </p:sp>
      <p:sp>
        <p:nvSpPr>
          <p:cNvPr id="121" name="Google Shape;121;p18"/>
          <p:cNvSpPr txBox="1"/>
          <p:nvPr/>
        </p:nvSpPr>
        <p:spPr>
          <a:xfrm>
            <a:off x="496625" y="3736375"/>
            <a:ext cx="43743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150" b="1">
                <a:solidFill>
                  <a:schemeClr val="dk1"/>
                </a:solidFill>
              </a:rPr>
              <a:t>Goal</a:t>
            </a:r>
            <a:r>
              <a:rPr lang="en-GB" sz="1150">
                <a:solidFill>
                  <a:schemeClr val="dk1"/>
                </a:solidFill>
              </a:rPr>
              <a:t>:</a:t>
            </a:r>
            <a:r>
              <a:rPr lang="en-GB" sz="1150" b="1">
                <a:solidFill>
                  <a:schemeClr val="dk1"/>
                </a:solidFill>
              </a:rPr>
              <a:t> </a:t>
            </a:r>
            <a:r>
              <a:rPr lang="en-GB" sz="1150">
                <a:solidFill>
                  <a:schemeClr val="dk1"/>
                </a:solidFill>
              </a:rPr>
              <a:t>Determine the total time required to fill the tank to full capacity given the net inflow and physical constraints</a:t>
            </a:r>
            <a:r>
              <a:rPr lang="en-GB" sz="1100">
                <a:solidFill>
                  <a:schemeClr val="dk1"/>
                </a:solidFill>
              </a:rPr>
              <a:t>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27" name="Google Shape;127;p19"/>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2. Method Selection &amp; Justification</a:t>
            </a:r>
            <a:endParaRPr sz="2000" b="1"/>
          </a:p>
        </p:txBody>
      </p:sp>
      <p:sp>
        <p:nvSpPr>
          <p:cNvPr id="128" name="Google Shape;128;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
        <p:nvSpPr>
          <p:cNvPr id="129" name="Google Shape;129;p19"/>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30" name="Google Shape;13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
        <p:nvSpPr>
          <p:cNvPr id="131" name="Google Shape;131;p19"/>
          <p:cNvSpPr txBox="1"/>
          <p:nvPr/>
        </p:nvSpPr>
        <p:spPr>
          <a:xfrm>
            <a:off x="516600" y="1259225"/>
            <a:ext cx="30000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700" b="1">
              <a:solidFill>
                <a:srgbClr val="1E293B"/>
              </a:solidFill>
              <a:highlight>
                <a:schemeClr val="lt1"/>
              </a:highlight>
            </a:endParaRPr>
          </a:p>
        </p:txBody>
      </p:sp>
      <p:pic>
        <p:nvPicPr>
          <p:cNvPr id="132" name="Google Shape;132;p19"/>
          <p:cNvPicPr preferRelativeResize="0"/>
          <p:nvPr/>
        </p:nvPicPr>
        <p:blipFill rotWithShape="1">
          <a:blip r:embed="rId3">
            <a:alphaModFix/>
          </a:blip>
          <a:srcRect l="3261" t="9865" r="1373" b="3140"/>
          <a:stretch/>
        </p:blipFill>
        <p:spPr>
          <a:xfrm>
            <a:off x="47600" y="698750"/>
            <a:ext cx="9048798" cy="44744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38" name="Google Shape;138;p20"/>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2. Method Selection &amp; Justification</a:t>
            </a:r>
            <a:endParaRPr sz="2000" b="1"/>
          </a:p>
        </p:txBody>
      </p:sp>
      <p:sp>
        <p:nvSpPr>
          <p:cNvPr id="139" name="Google Shape;13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
        <p:nvSpPr>
          <p:cNvPr id="140" name="Google Shape;140;p20"/>
          <p:cNvSpPr txBox="1"/>
          <p:nvPr/>
        </p:nvSpPr>
        <p:spPr>
          <a:xfrm>
            <a:off x="353825" y="558150"/>
            <a:ext cx="86616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600" b="1">
                <a:solidFill>
                  <a:schemeClr val="dk1"/>
                </a:solidFill>
              </a:rPr>
              <a:t>A brief flowchart showing how the chosen algorithm works step-by-step</a:t>
            </a:r>
            <a:endParaRPr sz="1600" b="1">
              <a:solidFill>
                <a:schemeClr val="dk1"/>
              </a:solidFill>
            </a:endParaRPr>
          </a:p>
          <a:p>
            <a:pPr marL="0" lvl="0" indent="0" algn="l" rtl="0">
              <a:spcBef>
                <a:spcPts val="0"/>
              </a:spcBef>
              <a:spcAft>
                <a:spcPts val="0"/>
              </a:spcAft>
              <a:buNone/>
            </a:pPr>
            <a:endParaRPr sz="1600" b="1">
              <a:solidFill>
                <a:schemeClr val="dk1"/>
              </a:solidFill>
            </a:endParaRPr>
          </a:p>
        </p:txBody>
      </p:sp>
      <p:sp>
        <p:nvSpPr>
          <p:cNvPr id="141" name="Google Shape;14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
        <p:nvSpPr>
          <p:cNvPr id="142" name="Google Shape;142;p20"/>
          <p:cNvSpPr txBox="1"/>
          <p:nvPr/>
        </p:nvSpPr>
        <p:spPr>
          <a:xfrm>
            <a:off x="516600" y="1259225"/>
            <a:ext cx="30000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700" b="1">
              <a:solidFill>
                <a:srgbClr val="1E293B"/>
              </a:solidFill>
              <a:highlight>
                <a:schemeClr val="lt1"/>
              </a:highlight>
            </a:endParaRPr>
          </a:p>
        </p:txBody>
      </p:sp>
      <p:pic>
        <p:nvPicPr>
          <p:cNvPr id="143" name="Google Shape;143;p20"/>
          <p:cNvPicPr preferRelativeResize="0"/>
          <p:nvPr/>
        </p:nvPicPr>
        <p:blipFill rotWithShape="1">
          <a:blip r:embed="rId3">
            <a:alphaModFix/>
          </a:blip>
          <a:srcRect l="882" t="10929"/>
          <a:stretch/>
        </p:blipFill>
        <p:spPr>
          <a:xfrm>
            <a:off x="659350" y="1008000"/>
            <a:ext cx="8290276" cy="4153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49" name="Google Shape;149;p21"/>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3. Comparing Alternatives</a:t>
            </a:r>
            <a:endParaRPr sz="2000" b="1"/>
          </a:p>
        </p:txBody>
      </p:sp>
      <p:sp>
        <p:nvSpPr>
          <p:cNvPr id="150" name="Google Shape;15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
        <p:nvSpPr>
          <p:cNvPr id="151" name="Google Shape;151;p21"/>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52" name="Google Shape;15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pic>
        <p:nvPicPr>
          <p:cNvPr id="153" name="Google Shape;153;p21"/>
          <p:cNvPicPr preferRelativeResize="0"/>
          <p:nvPr/>
        </p:nvPicPr>
        <p:blipFill rotWithShape="1">
          <a:blip r:embed="rId3">
            <a:alphaModFix/>
          </a:blip>
          <a:srcRect l="527" t="11190"/>
          <a:stretch/>
        </p:blipFill>
        <p:spPr>
          <a:xfrm>
            <a:off x="91650" y="603300"/>
            <a:ext cx="8775875" cy="4361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2"/>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59" name="Google Shape;159;p22"/>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3. Comparing Alternatives</a:t>
            </a:r>
            <a:endParaRPr sz="2000" b="1"/>
          </a:p>
        </p:txBody>
      </p:sp>
      <p:sp>
        <p:nvSpPr>
          <p:cNvPr id="160" name="Google Shape;160;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sp>
        <p:nvSpPr>
          <p:cNvPr id="161" name="Google Shape;161;p22"/>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62" name="Google Shape;16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pic>
        <p:nvPicPr>
          <p:cNvPr id="163" name="Google Shape;163;p22"/>
          <p:cNvPicPr preferRelativeResize="0"/>
          <p:nvPr/>
        </p:nvPicPr>
        <p:blipFill rotWithShape="1">
          <a:blip r:embed="rId3">
            <a:alphaModFix/>
          </a:blip>
          <a:srcRect l="2881" t="12273" r="8749"/>
          <a:stretch/>
        </p:blipFill>
        <p:spPr>
          <a:xfrm>
            <a:off x="247975" y="631200"/>
            <a:ext cx="8137424" cy="451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69" name="Google Shape;169;p23"/>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4.	Implementation &amp; Tools</a:t>
            </a:r>
            <a:endParaRPr sz="2000" b="1"/>
          </a:p>
        </p:txBody>
      </p:sp>
      <p:sp>
        <p:nvSpPr>
          <p:cNvPr id="170" name="Google Shape;170;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11</a:t>
            </a:fld>
            <a:endParaRPr/>
          </a:p>
        </p:txBody>
      </p:sp>
      <p:sp>
        <p:nvSpPr>
          <p:cNvPr id="171" name="Google Shape;171;p23"/>
          <p:cNvSpPr txBox="1"/>
          <p:nvPr/>
        </p:nvSpPr>
        <p:spPr>
          <a:xfrm>
            <a:off x="2235900" y="3226912"/>
            <a:ext cx="2469600" cy="329400"/>
          </a:xfrm>
          <a:prstGeom prst="rect">
            <a:avLst/>
          </a:prstGeom>
          <a:noFill/>
          <a:ln>
            <a:noFill/>
          </a:ln>
        </p:spPr>
        <p:txBody>
          <a:bodyPr spcFirstLastPara="1" wrap="square" lIns="75275" tIns="75275" rIns="75275" bIns="75275" anchor="t" anchorCtr="0">
            <a:spAutoFit/>
          </a:bodyPr>
          <a:lstStyle/>
          <a:p>
            <a:pPr marL="0" lvl="0" indent="0" algn="l" rtl="0">
              <a:lnSpc>
                <a:spcPct val="115000"/>
              </a:lnSpc>
              <a:spcBef>
                <a:spcPts val="0"/>
              </a:spcBef>
              <a:spcAft>
                <a:spcPts val="0"/>
              </a:spcAft>
              <a:buNone/>
            </a:pPr>
            <a:endParaRPr sz="1152"/>
          </a:p>
        </p:txBody>
      </p:sp>
      <p:grpSp>
        <p:nvGrpSpPr>
          <p:cNvPr id="172" name="Google Shape;172;p23"/>
          <p:cNvGrpSpPr/>
          <p:nvPr/>
        </p:nvGrpSpPr>
        <p:grpSpPr>
          <a:xfrm>
            <a:off x="239000" y="1233368"/>
            <a:ext cx="4150427" cy="999974"/>
            <a:chOff x="1514483" y="683992"/>
            <a:chExt cx="6018600" cy="1410600"/>
          </a:xfrm>
        </p:grpSpPr>
        <p:sp>
          <p:nvSpPr>
            <p:cNvPr id="173" name="Google Shape;173;p23"/>
            <p:cNvSpPr/>
            <p:nvPr/>
          </p:nvSpPr>
          <p:spPr>
            <a:xfrm>
              <a:off x="1514483" y="683992"/>
              <a:ext cx="6018600" cy="1410600"/>
            </a:xfrm>
            <a:prstGeom prst="roundRect">
              <a:avLst>
                <a:gd name="adj" fmla="val 23416"/>
              </a:avLst>
            </a:prstGeom>
            <a:solidFill>
              <a:schemeClr val="lt2"/>
            </a:solidFill>
            <a:ln w="6550" cap="flat" cmpd="sng">
              <a:solidFill>
                <a:schemeClr val="dk2"/>
              </a:solidFill>
              <a:prstDash val="solid"/>
              <a:round/>
              <a:headEnd type="none" w="sm" len="sm"/>
              <a:tailEnd type="none" w="sm" len="sm"/>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grpSp>
          <p:nvGrpSpPr>
            <p:cNvPr id="174" name="Google Shape;174;p23"/>
            <p:cNvGrpSpPr/>
            <p:nvPr/>
          </p:nvGrpSpPr>
          <p:grpSpPr>
            <a:xfrm>
              <a:off x="2020885" y="847213"/>
              <a:ext cx="5102228" cy="1118015"/>
              <a:chOff x="2954647" y="2656313"/>
              <a:chExt cx="5102228" cy="1118015"/>
            </a:xfrm>
          </p:grpSpPr>
          <p:pic>
            <p:nvPicPr>
              <p:cNvPr id="175" name="Google Shape;175;p23"/>
              <p:cNvPicPr preferRelativeResize="0"/>
              <p:nvPr/>
            </p:nvPicPr>
            <p:blipFill rotWithShape="1">
              <a:blip r:embed="rId3">
                <a:alphaModFix/>
              </a:blip>
              <a:srcRect l="19341" r="18331"/>
              <a:stretch/>
            </p:blipFill>
            <p:spPr>
              <a:xfrm>
                <a:off x="4282700" y="2656325"/>
                <a:ext cx="1238733" cy="1117999"/>
              </a:xfrm>
              <a:prstGeom prst="rect">
                <a:avLst/>
              </a:prstGeom>
              <a:noFill/>
              <a:ln>
                <a:noFill/>
              </a:ln>
            </p:spPr>
          </p:pic>
          <p:pic>
            <p:nvPicPr>
              <p:cNvPr id="176" name="Google Shape;176;p23"/>
              <p:cNvPicPr preferRelativeResize="0"/>
              <p:nvPr/>
            </p:nvPicPr>
            <p:blipFill rotWithShape="1">
              <a:blip r:embed="rId4">
                <a:alphaModFix/>
              </a:blip>
              <a:srcRect l="22319" t="1514" r="22763" b="1408"/>
              <a:stretch/>
            </p:blipFill>
            <p:spPr>
              <a:xfrm>
                <a:off x="2954647" y="2656313"/>
                <a:ext cx="1095004" cy="1088824"/>
              </a:xfrm>
              <a:prstGeom prst="rect">
                <a:avLst/>
              </a:prstGeom>
              <a:noFill/>
              <a:ln>
                <a:noFill/>
              </a:ln>
            </p:spPr>
          </p:pic>
          <p:pic>
            <p:nvPicPr>
              <p:cNvPr id="177" name="Google Shape;177;p23"/>
              <p:cNvPicPr preferRelativeResize="0"/>
              <p:nvPr/>
            </p:nvPicPr>
            <p:blipFill rotWithShape="1">
              <a:blip r:embed="rId5">
                <a:alphaModFix/>
              </a:blip>
              <a:srcRect l="20155" t="-1082" r="21084"/>
              <a:stretch/>
            </p:blipFill>
            <p:spPr>
              <a:xfrm>
                <a:off x="5678478" y="2656313"/>
                <a:ext cx="1125320" cy="1088824"/>
              </a:xfrm>
              <a:prstGeom prst="rect">
                <a:avLst/>
              </a:prstGeom>
              <a:noFill/>
              <a:ln>
                <a:noFill/>
              </a:ln>
            </p:spPr>
          </p:pic>
          <p:pic>
            <p:nvPicPr>
              <p:cNvPr id="178" name="Google Shape;178;p23"/>
              <p:cNvPicPr preferRelativeResize="0"/>
              <p:nvPr/>
            </p:nvPicPr>
            <p:blipFill>
              <a:blip r:embed="rId6">
                <a:alphaModFix/>
              </a:blip>
              <a:stretch>
                <a:fillRect/>
              </a:stretch>
            </p:blipFill>
            <p:spPr>
              <a:xfrm>
                <a:off x="7088328" y="2685515"/>
                <a:ext cx="968547" cy="1088812"/>
              </a:xfrm>
              <a:prstGeom prst="rect">
                <a:avLst/>
              </a:prstGeom>
              <a:noFill/>
              <a:ln>
                <a:noFill/>
              </a:ln>
            </p:spPr>
          </p:pic>
        </p:grpSp>
      </p:grpSp>
      <p:sp>
        <p:nvSpPr>
          <p:cNvPr id="179" name="Google Shape;179;p23"/>
          <p:cNvSpPr txBox="1"/>
          <p:nvPr/>
        </p:nvSpPr>
        <p:spPr>
          <a:xfrm>
            <a:off x="302500" y="644913"/>
            <a:ext cx="3184800" cy="3666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Char char="-"/>
            </a:pPr>
            <a:r>
              <a:rPr lang="en-GB" sz="1600" b="1">
                <a:solidFill>
                  <a:schemeClr val="dk1"/>
                </a:solidFill>
              </a:rPr>
              <a:t>Digital Software Suite </a:t>
            </a:r>
            <a:endParaRPr sz="1600" b="1">
              <a:solidFill>
                <a:schemeClr val="dk1"/>
              </a:solidFill>
            </a:endParaRPr>
          </a:p>
        </p:txBody>
      </p:sp>
      <p:pic>
        <p:nvPicPr>
          <p:cNvPr id="180" name="Google Shape;180;p23"/>
          <p:cNvPicPr preferRelativeResize="0"/>
          <p:nvPr/>
        </p:nvPicPr>
        <p:blipFill>
          <a:blip r:embed="rId7">
            <a:alphaModFix/>
          </a:blip>
          <a:stretch>
            <a:fillRect/>
          </a:stretch>
        </p:blipFill>
        <p:spPr>
          <a:xfrm>
            <a:off x="5061675" y="1001275"/>
            <a:ext cx="3312999" cy="4050075"/>
          </a:xfrm>
          <a:prstGeom prst="rect">
            <a:avLst/>
          </a:prstGeom>
          <a:noFill/>
          <a:ln>
            <a:noFill/>
          </a:ln>
        </p:spPr>
      </p:pic>
      <p:sp>
        <p:nvSpPr>
          <p:cNvPr id="181" name="Google Shape;181;p23"/>
          <p:cNvSpPr txBox="1"/>
          <p:nvPr/>
        </p:nvSpPr>
        <p:spPr>
          <a:xfrm>
            <a:off x="5011950" y="587338"/>
            <a:ext cx="3312900" cy="3666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Char char="-"/>
            </a:pPr>
            <a:r>
              <a:rPr lang="en-GB" sz="1600" b="1">
                <a:solidFill>
                  <a:schemeClr val="dk1"/>
                </a:solidFill>
              </a:rPr>
              <a:t>The Logic Flowchart</a:t>
            </a:r>
            <a:endParaRPr sz="1600" b="1">
              <a:solidFill>
                <a:schemeClr val="dk1"/>
              </a:solidFill>
            </a:endParaRPr>
          </a:p>
        </p:txBody>
      </p:sp>
      <p:cxnSp>
        <p:nvCxnSpPr>
          <p:cNvPr id="182" name="Google Shape;182;p23"/>
          <p:cNvCxnSpPr/>
          <p:nvPr/>
        </p:nvCxnSpPr>
        <p:spPr>
          <a:xfrm>
            <a:off x="4639025" y="540000"/>
            <a:ext cx="0" cy="4613100"/>
          </a:xfrm>
          <a:prstGeom prst="straightConnector1">
            <a:avLst/>
          </a:prstGeom>
          <a:noFill/>
          <a:ln w="28575" cap="flat" cmpd="sng">
            <a:solidFill>
              <a:schemeClr val="dk2"/>
            </a:solidFill>
            <a:prstDash val="solid"/>
            <a:round/>
            <a:headEnd type="none" w="med" len="med"/>
            <a:tailEnd type="none" w="med" len="med"/>
          </a:ln>
        </p:spPr>
      </p:cxnSp>
      <p:sp>
        <p:nvSpPr>
          <p:cNvPr id="183" name="Google Shape;183;p23"/>
          <p:cNvSpPr txBox="1"/>
          <p:nvPr/>
        </p:nvSpPr>
        <p:spPr>
          <a:xfrm>
            <a:off x="175525" y="2264525"/>
            <a:ext cx="4277400" cy="264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200" b="1">
                <a:solidFill>
                  <a:schemeClr val="dk1"/>
                </a:solidFill>
              </a:rPr>
              <a:t>Computational Framework Strategy:</a:t>
            </a:r>
            <a:endParaRPr sz="12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Data Prototyping (Excel &amp; VBA):</a:t>
            </a:r>
            <a:r>
              <a:rPr lang="en-GB" sz="1100">
                <a:solidFill>
                  <a:schemeClr val="dk1"/>
                </a:solidFill>
              </a:rPr>
              <a:t> Utilized for initial system mapping, physical parameter compilation, and boundary condition structuring.</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Algorithmic Engine (MATLAB &amp; Python):</a:t>
            </a:r>
            <a:r>
              <a:rPr lang="en-GB" sz="1100">
                <a:solidFill>
                  <a:schemeClr val="dk1"/>
                </a:solidFill>
              </a:rPr>
              <a:t> Leveraged to implement high-performance, non-linear transcendental solvers (Bisection and Secant loops).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Cross-Platform Validation:</a:t>
            </a:r>
            <a:r>
              <a:rPr lang="en-GB" sz="1100">
                <a:solidFill>
                  <a:schemeClr val="dk1"/>
                </a:solidFill>
              </a:rPr>
              <a:t> Solution criteria were systematically processed across independent environments to guarantee 0.00% convergence variance.</a:t>
            </a:r>
            <a:endParaRPr sz="1100">
              <a:solidFill>
                <a:schemeClr val="dk1"/>
              </a:solidFill>
            </a:endParaRPr>
          </a:p>
          <a:p>
            <a:pPr marL="0" lvl="0" indent="0" algn="l" rtl="0">
              <a:lnSpc>
                <a:spcPct val="115000"/>
              </a:lnSpc>
              <a:spcBef>
                <a:spcPts val="1200"/>
              </a:spcBef>
              <a:spcAft>
                <a:spcPts val="0"/>
              </a:spcAft>
              <a:buNone/>
            </a:pPr>
            <a:endParaRPr sz="12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IV. Result</a:t>
            </a:r>
            <a:endParaRPr sz="2000" b="1"/>
          </a:p>
        </p:txBody>
      </p:sp>
      <p:sp>
        <p:nvSpPr>
          <p:cNvPr id="189" name="Google Shape;189;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12</a:t>
            </a:fld>
            <a:endParaRPr/>
          </a:p>
        </p:txBody>
      </p:sp>
      <p:sp>
        <p:nvSpPr>
          <p:cNvPr id="190" name="Google Shape;190;p24"/>
          <p:cNvSpPr txBox="1"/>
          <p:nvPr/>
        </p:nvSpPr>
        <p:spPr>
          <a:xfrm>
            <a:off x="173650" y="2061159"/>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p>
        </p:txBody>
      </p:sp>
      <p:pic>
        <p:nvPicPr>
          <p:cNvPr id="191" name="Google Shape;191;p24" title="Chart"/>
          <p:cNvPicPr preferRelativeResize="0"/>
          <p:nvPr/>
        </p:nvPicPr>
        <p:blipFill rotWithShape="1">
          <a:blip r:embed="rId3">
            <a:alphaModFix/>
          </a:blip>
          <a:srcRect b="3883"/>
          <a:stretch/>
        </p:blipFill>
        <p:spPr>
          <a:xfrm>
            <a:off x="138850" y="554550"/>
            <a:ext cx="5371524" cy="3192438"/>
          </a:xfrm>
          <a:prstGeom prst="rect">
            <a:avLst/>
          </a:prstGeom>
          <a:noFill/>
          <a:ln>
            <a:noFill/>
          </a:ln>
        </p:spPr>
      </p:pic>
      <p:graphicFrame>
        <p:nvGraphicFramePr>
          <p:cNvPr id="192" name="Google Shape;192;p24"/>
          <p:cNvGraphicFramePr/>
          <p:nvPr/>
        </p:nvGraphicFramePr>
        <p:xfrm>
          <a:off x="5623375" y="663972"/>
          <a:ext cx="3245675" cy="2830386"/>
        </p:xfrm>
        <a:graphic>
          <a:graphicData uri="http://schemas.openxmlformats.org/drawingml/2006/table">
            <a:tbl>
              <a:tblPr>
                <a:noFill/>
                <a:tableStyleId>{8B5C874A-29B0-4466-B717-A07D3B19CCBA}</a:tableStyleId>
              </a:tblPr>
              <a:tblGrid>
                <a:gridCol w="1398225">
                  <a:extLst>
                    <a:ext uri="{9D8B030D-6E8A-4147-A177-3AD203B41FA5}">
                      <a16:colId xmlns:a16="http://schemas.microsoft.com/office/drawing/2014/main" val="20000"/>
                    </a:ext>
                  </a:extLst>
                </a:gridCol>
                <a:gridCol w="803075">
                  <a:extLst>
                    <a:ext uri="{9D8B030D-6E8A-4147-A177-3AD203B41FA5}">
                      <a16:colId xmlns:a16="http://schemas.microsoft.com/office/drawing/2014/main" val="20001"/>
                    </a:ext>
                  </a:extLst>
                </a:gridCol>
                <a:gridCol w="1044375">
                  <a:extLst>
                    <a:ext uri="{9D8B030D-6E8A-4147-A177-3AD203B41FA5}">
                      <a16:colId xmlns:a16="http://schemas.microsoft.com/office/drawing/2014/main" val="20002"/>
                    </a:ext>
                  </a:extLst>
                </a:gridCol>
              </a:tblGrid>
              <a:tr h="251500">
                <a:tc>
                  <a:txBody>
                    <a:bodyPr/>
                    <a:lstStyle/>
                    <a:p>
                      <a:pPr marL="0" lvl="0" indent="0" algn="ctr" rtl="0">
                        <a:lnSpc>
                          <a:spcPct val="115000"/>
                        </a:lnSpc>
                        <a:spcBef>
                          <a:spcPts val="0"/>
                        </a:spcBef>
                        <a:spcAft>
                          <a:spcPts val="0"/>
                        </a:spcAft>
                        <a:buNone/>
                      </a:pPr>
                      <a:r>
                        <a:rPr lang="en-GB" sz="1000" b="1">
                          <a:solidFill>
                            <a:srgbClr val="1F1F1F"/>
                          </a:solidFill>
                        </a:rPr>
                        <a:t>Method</a:t>
                      </a:r>
                      <a:endParaRPr sz="1000" b="1">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GB" sz="1000" b="1">
                          <a:solidFill>
                            <a:srgbClr val="1F1F1F"/>
                          </a:solidFill>
                        </a:rPr>
                        <a:t>Iterations</a:t>
                      </a:r>
                      <a:endParaRPr sz="1000" b="1">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GB" sz="1000" b="1">
                          <a:solidFill>
                            <a:srgbClr val="1F1F1F"/>
                          </a:solidFill>
                        </a:rPr>
                        <a:t>Final Error (%)</a:t>
                      </a:r>
                      <a:endParaRPr sz="1000" b="1">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251500">
                <a:tc>
                  <a:txBody>
                    <a:bodyPr/>
                    <a:lstStyle/>
                    <a:p>
                      <a:pPr marL="0" lvl="0" indent="0" algn="l" rtl="0">
                        <a:lnSpc>
                          <a:spcPct val="115000"/>
                        </a:lnSpc>
                        <a:spcBef>
                          <a:spcPts val="0"/>
                        </a:spcBef>
                        <a:spcAft>
                          <a:spcPts val="0"/>
                        </a:spcAft>
                        <a:buNone/>
                      </a:pPr>
                      <a:r>
                        <a:rPr lang="en-GB" sz="1000">
                          <a:solidFill>
                            <a:srgbClr val="1F1F1F"/>
                          </a:solidFill>
                        </a:rPr>
                        <a:t>Graphical</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51500">
                <a:tc>
                  <a:txBody>
                    <a:bodyPr/>
                    <a:lstStyle/>
                    <a:p>
                      <a:pPr marL="0" lvl="0" indent="0" algn="l" rtl="0">
                        <a:lnSpc>
                          <a:spcPct val="115000"/>
                        </a:lnSpc>
                        <a:spcBef>
                          <a:spcPts val="0"/>
                        </a:spcBef>
                        <a:spcAft>
                          <a:spcPts val="0"/>
                        </a:spcAft>
                        <a:buNone/>
                      </a:pPr>
                      <a:r>
                        <a:rPr lang="en-GB" sz="1000">
                          <a:solidFill>
                            <a:srgbClr val="1F1F1F"/>
                          </a:solidFill>
                        </a:rPr>
                        <a:t>Bisection</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14</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0.0006</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1500">
                <a:tc>
                  <a:txBody>
                    <a:bodyPr/>
                    <a:lstStyle/>
                    <a:p>
                      <a:pPr marL="0" lvl="0" indent="0" algn="l" rtl="0">
                        <a:lnSpc>
                          <a:spcPct val="115000"/>
                        </a:lnSpc>
                        <a:spcBef>
                          <a:spcPts val="0"/>
                        </a:spcBef>
                        <a:spcAft>
                          <a:spcPts val="0"/>
                        </a:spcAft>
                        <a:buNone/>
                      </a:pPr>
                      <a:r>
                        <a:rPr lang="en-GB" sz="1000">
                          <a:solidFill>
                            <a:srgbClr val="1F1F1F"/>
                          </a:solidFill>
                        </a:rPr>
                        <a:t>Position</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2</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50">
                          <a:solidFill>
                            <a:srgbClr val="1C1C1C"/>
                          </a:solidFill>
                          <a:highlight>
                            <a:srgbClr val="FFFFFF"/>
                          </a:highlight>
                          <a:latin typeface="Times New Roman"/>
                          <a:ea typeface="Times New Roman"/>
                          <a:cs typeface="Times New Roman"/>
                          <a:sym typeface="Times New Roman"/>
                        </a:rPr>
                        <a:t>≈ 0</a:t>
                      </a:r>
                      <a:r>
                        <a:rPr lang="en-GB" sz="1100">
                          <a:solidFill>
                            <a:schemeClr val="dk1"/>
                          </a:solidFill>
                        </a:rPr>
                        <a:t> </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1500">
                <a:tc>
                  <a:txBody>
                    <a:bodyPr/>
                    <a:lstStyle/>
                    <a:p>
                      <a:pPr marL="0" lvl="0" indent="0" algn="l" rtl="0">
                        <a:lnSpc>
                          <a:spcPct val="115000"/>
                        </a:lnSpc>
                        <a:spcBef>
                          <a:spcPts val="0"/>
                        </a:spcBef>
                        <a:spcAft>
                          <a:spcPts val="0"/>
                        </a:spcAft>
                        <a:buNone/>
                      </a:pPr>
                      <a:r>
                        <a:rPr lang="en-GB" sz="1000">
                          <a:solidFill>
                            <a:srgbClr val="1F1F1F"/>
                          </a:solidFill>
                        </a:rPr>
                        <a:t>Fixed-Point Iteration</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11</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50">
                          <a:solidFill>
                            <a:srgbClr val="1C1C1C"/>
                          </a:solidFill>
                          <a:highlight>
                            <a:srgbClr val="FFFFFF"/>
                          </a:highlight>
                          <a:latin typeface="Times New Roman"/>
                          <a:ea typeface="Times New Roman"/>
                          <a:cs typeface="Times New Roman"/>
                          <a:sym typeface="Times New Roman"/>
                        </a:rPr>
                        <a:t>≈ 0</a:t>
                      </a:r>
                      <a:r>
                        <a:rPr lang="en-GB" sz="1100">
                          <a:solidFill>
                            <a:schemeClr val="dk1"/>
                          </a:solidFill>
                        </a:rPr>
                        <a:t> </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51500">
                <a:tc>
                  <a:txBody>
                    <a:bodyPr/>
                    <a:lstStyle/>
                    <a:p>
                      <a:pPr marL="0" lvl="0" indent="0" algn="l" rtl="0">
                        <a:lnSpc>
                          <a:spcPct val="115000"/>
                        </a:lnSpc>
                        <a:spcBef>
                          <a:spcPts val="0"/>
                        </a:spcBef>
                        <a:spcAft>
                          <a:spcPts val="0"/>
                        </a:spcAft>
                        <a:buNone/>
                      </a:pPr>
                      <a:r>
                        <a:rPr lang="en-GB" sz="1000">
                          <a:solidFill>
                            <a:srgbClr val="1F1F1F"/>
                          </a:solidFill>
                        </a:rPr>
                        <a:t>Newton-Raphson</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3</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50">
                          <a:solidFill>
                            <a:srgbClr val="1C1C1C"/>
                          </a:solidFill>
                          <a:latin typeface="Times New Roman"/>
                          <a:ea typeface="Times New Roman"/>
                          <a:cs typeface="Times New Roman"/>
                          <a:sym typeface="Times New Roman"/>
                        </a:rPr>
                        <a:t>8.31 × 10⁻¹¹</a:t>
                      </a:r>
                      <a:r>
                        <a:rPr lang="en-GB" sz="1100">
                          <a:solidFill>
                            <a:schemeClr val="dk1"/>
                          </a:solidFill>
                        </a:rPr>
                        <a:t> </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2450">
                <a:tc>
                  <a:txBody>
                    <a:bodyPr/>
                    <a:lstStyle/>
                    <a:p>
                      <a:pPr marL="0" lvl="0" indent="0" algn="l" rtl="0">
                        <a:lnSpc>
                          <a:spcPct val="115000"/>
                        </a:lnSpc>
                        <a:spcBef>
                          <a:spcPts val="0"/>
                        </a:spcBef>
                        <a:spcAft>
                          <a:spcPts val="0"/>
                        </a:spcAft>
                        <a:buNone/>
                      </a:pPr>
                      <a:r>
                        <a:rPr lang="en-GB" sz="1000">
                          <a:solidFill>
                            <a:srgbClr val="1F1F1F"/>
                          </a:solidFill>
                        </a:rPr>
                        <a:t>Secant</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4</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GB" sz="1050">
                          <a:solidFill>
                            <a:srgbClr val="1C1C1C"/>
                          </a:solidFill>
                          <a:highlight>
                            <a:srgbClr val="FFFFFF"/>
                          </a:highlight>
                          <a:latin typeface="Times New Roman"/>
                          <a:ea typeface="Times New Roman"/>
                          <a:cs typeface="Times New Roman"/>
                          <a:sym typeface="Times New Roman"/>
                        </a:rPr>
                        <a:t>2.02 × 10⁻¹³</a:t>
                      </a:r>
                      <a:endParaRPr sz="1050">
                        <a:solidFill>
                          <a:srgbClr val="1C1C1C"/>
                        </a:solidFill>
                        <a:highlight>
                          <a:srgbClr val="FFFFFF"/>
                        </a:highlight>
                        <a:latin typeface="Times New Roman"/>
                        <a:ea typeface="Times New Roman"/>
                        <a:cs typeface="Times New Roman"/>
                        <a:sym typeface="Times New Roman"/>
                      </a:endParaRPr>
                    </a:p>
                  </a:txBody>
                  <a:tcPr marL="133350" marR="133350" marT="104775" marB="10477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51500">
                <a:tc>
                  <a:txBody>
                    <a:bodyPr/>
                    <a:lstStyle/>
                    <a:p>
                      <a:pPr marL="0" lvl="0" indent="0" algn="l" rtl="0">
                        <a:lnSpc>
                          <a:spcPct val="115000"/>
                        </a:lnSpc>
                        <a:spcBef>
                          <a:spcPts val="0"/>
                        </a:spcBef>
                        <a:spcAft>
                          <a:spcPts val="0"/>
                        </a:spcAft>
                        <a:buNone/>
                      </a:pPr>
                      <a:r>
                        <a:rPr lang="en-GB" sz="1000">
                          <a:solidFill>
                            <a:srgbClr val="1F1F1F"/>
                          </a:solidFill>
                        </a:rPr>
                        <a:t>Modified Secant</a:t>
                      </a:r>
                      <a:endParaRPr sz="10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100">
                          <a:solidFill>
                            <a:srgbClr val="1F1F1F"/>
                          </a:solidFill>
                        </a:rPr>
                        <a:t>4</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50">
                          <a:solidFill>
                            <a:srgbClr val="1C1C1C"/>
                          </a:solidFill>
                          <a:highlight>
                            <a:srgbClr val="FFFFFF"/>
                          </a:highlight>
                          <a:latin typeface="Times New Roman"/>
                          <a:ea typeface="Times New Roman"/>
                          <a:cs typeface="Times New Roman"/>
                          <a:sym typeface="Times New Roman"/>
                        </a:rPr>
                        <a:t>3.92 × 10⁻¹³</a:t>
                      </a:r>
                      <a:r>
                        <a:rPr lang="en-GB" sz="1100">
                          <a:solidFill>
                            <a:schemeClr val="dk1"/>
                          </a:solidFill>
                        </a:rPr>
                        <a:t> </a:t>
                      </a:r>
                      <a:endParaRPr sz="1100">
                        <a:solidFill>
                          <a:srgbClr val="1F1F1F"/>
                        </a:solidFill>
                      </a:endParaRPr>
                    </a:p>
                  </a:txBody>
                  <a:tcPr marL="114300" marR="114300" marT="76200" marB="76200">
                    <a:lnL w="7925" cap="flat" cmpd="sng">
                      <a:solidFill>
                        <a:schemeClr val="dk1"/>
                      </a:solidFill>
                      <a:prstDash val="solid"/>
                      <a:round/>
                      <a:headEnd type="none" w="sm" len="sm"/>
                      <a:tailEnd type="none" w="sm" len="sm"/>
                    </a:lnL>
                    <a:lnR w="7925" cap="flat" cmpd="sng">
                      <a:solidFill>
                        <a:schemeClr val="dk1"/>
                      </a:solidFill>
                      <a:prstDash val="solid"/>
                      <a:round/>
                      <a:headEnd type="none" w="sm" len="sm"/>
                      <a:tailEnd type="none" w="sm" len="sm"/>
                    </a:lnR>
                    <a:lnT w="7925" cap="flat" cmpd="sng">
                      <a:solidFill>
                        <a:schemeClr val="dk1"/>
                      </a:solidFill>
                      <a:prstDash val="solid"/>
                      <a:round/>
                      <a:headEnd type="none" w="sm" len="sm"/>
                      <a:tailEnd type="none" w="sm" len="sm"/>
                    </a:lnT>
                    <a:lnB w="79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93" name="Google Shape;193;p24"/>
          <p:cNvSpPr txBox="1"/>
          <p:nvPr/>
        </p:nvSpPr>
        <p:spPr>
          <a:xfrm>
            <a:off x="274950" y="3712125"/>
            <a:ext cx="8594100" cy="400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100" b="1" dirty="0">
                <a:solidFill>
                  <a:schemeClr val="dk1"/>
                </a:solidFill>
              </a:rPr>
              <a:t>Executive Summary: Core Rules for Graph Interpretation</a:t>
            </a:r>
            <a:endParaRPr sz="1100" b="1" dirty="0">
              <a:solidFill>
                <a:schemeClr val="dk1"/>
              </a:solidFill>
            </a:endParaRPr>
          </a:p>
          <a:p>
            <a:pPr marL="457200" lvl="0" indent="-285750" algn="l" rtl="0">
              <a:lnSpc>
                <a:spcPct val="115000"/>
              </a:lnSpc>
              <a:spcBef>
                <a:spcPts val="400"/>
              </a:spcBef>
              <a:spcAft>
                <a:spcPts val="0"/>
              </a:spcAft>
              <a:buClr>
                <a:schemeClr val="dk1"/>
              </a:buClr>
              <a:buSzPts val="900"/>
              <a:buChar char="●"/>
            </a:pPr>
            <a:r>
              <a:rPr lang="en-GB" sz="900" b="1" dirty="0">
                <a:solidFill>
                  <a:schemeClr val="dk1"/>
                </a:solidFill>
              </a:rPr>
              <a:t>1. The Baseline Framework (Axes):</a:t>
            </a:r>
            <a:r>
              <a:rPr lang="en-GB" sz="900" dirty="0">
                <a:solidFill>
                  <a:schemeClr val="dk1"/>
                </a:solidFill>
              </a:rPr>
              <a:t> The vertical </a:t>
            </a:r>
            <a:r>
              <a:rPr lang="en-GB" sz="900" b="1" dirty="0">
                <a:solidFill>
                  <a:schemeClr val="dk1"/>
                </a:solidFill>
              </a:rPr>
              <a:t>axis </a:t>
            </a:r>
            <a:r>
              <a:rPr lang="en-GB" sz="900" b="1" dirty="0" err="1">
                <a:solidFill>
                  <a:schemeClr val="dk1"/>
                </a:solidFill>
              </a:rPr>
              <a:t>Ea</a:t>
            </a:r>
            <a:r>
              <a:rPr lang="en-GB" sz="900" dirty="0">
                <a:solidFill>
                  <a:schemeClr val="dk1"/>
                </a:solidFill>
              </a:rPr>
              <a:t> measures </a:t>
            </a:r>
            <a:r>
              <a:rPr lang="en-GB" sz="900" b="1" dirty="0">
                <a:solidFill>
                  <a:schemeClr val="dk1"/>
                </a:solidFill>
              </a:rPr>
              <a:t>error magnitude</a:t>
            </a:r>
            <a:r>
              <a:rPr lang="en-GB" sz="900" dirty="0">
                <a:solidFill>
                  <a:schemeClr val="dk1"/>
                </a:solidFill>
              </a:rPr>
              <a:t>, while the horizontal axis tracks the discrete computational steps (iteration count) taken to drive that error to zero.</a:t>
            </a:r>
            <a:endParaRPr sz="900" dirty="0">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dirty="0">
                <a:solidFill>
                  <a:schemeClr val="dk1"/>
                </a:solidFill>
              </a:rPr>
              <a:t>2. Rate of Convergence (Slope):</a:t>
            </a:r>
            <a:r>
              <a:rPr lang="en-GB" sz="900" dirty="0">
                <a:solidFill>
                  <a:schemeClr val="dk1"/>
                </a:solidFill>
              </a:rPr>
              <a:t> The steepness of the line visually dictates algorithmic speed. A near-vertical drop proves rapid quadratic/</a:t>
            </a:r>
            <a:r>
              <a:rPr lang="en-GB" sz="900" dirty="0" err="1">
                <a:solidFill>
                  <a:schemeClr val="dk1"/>
                </a:solidFill>
              </a:rPr>
              <a:t>superlinear</a:t>
            </a:r>
            <a:r>
              <a:rPr lang="en-GB" sz="900" dirty="0">
                <a:solidFill>
                  <a:schemeClr val="dk1"/>
                </a:solidFill>
              </a:rPr>
              <a:t> convergence. (e.g., Newton-Raphson), whereas a shallow, extended slope indicates slow linear convergence (e.g., Bisection). </a:t>
            </a:r>
            <a:endParaRPr sz="900" dirty="0">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dirty="0">
                <a:solidFill>
                  <a:schemeClr val="dk1"/>
                </a:solidFill>
              </a:rPr>
              <a:t>3. The Microscopic Scale Limit (The Flatline):</a:t>
            </a:r>
            <a:r>
              <a:rPr lang="en-GB" sz="900" dirty="0">
                <a:solidFill>
                  <a:schemeClr val="dk1"/>
                </a:solidFill>
              </a:rPr>
              <a:t> On a standard macro scale 0 % to 100%, high-efficiency open methods appear to merge and perfectly flatline at zero. Thorough engineering analysis requires looking past this visual illusion to verify the exact micro-level precision values mathematically. </a:t>
            </a:r>
            <a:endParaRPr sz="12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5"/>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99" name="Google Shape;199;p25"/>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IV. Result</a:t>
            </a:r>
            <a:endParaRPr sz="2000" b="1"/>
          </a:p>
        </p:txBody>
      </p:sp>
      <p:sp>
        <p:nvSpPr>
          <p:cNvPr id="200" name="Google Shape;20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13</a:t>
            </a:fld>
            <a:endParaRPr/>
          </a:p>
        </p:txBody>
      </p:sp>
      <p:sp>
        <p:nvSpPr>
          <p:cNvPr id="201" name="Google Shape;201;p25"/>
          <p:cNvSpPr txBox="1"/>
          <p:nvPr/>
        </p:nvSpPr>
        <p:spPr>
          <a:xfrm>
            <a:off x="133475" y="182445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p>
        </p:txBody>
      </p:sp>
      <p:pic>
        <p:nvPicPr>
          <p:cNvPr id="202" name="Google Shape;202;p25" title="Hydraulic_Tank_Filling_Simulation.mp4">
            <a:hlinkClick r:id="rId3"/>
          </p:cNvPr>
          <p:cNvPicPr preferRelativeResize="0"/>
          <p:nvPr/>
        </p:nvPicPr>
        <p:blipFill>
          <a:blip r:embed="rId4">
            <a:alphaModFix/>
          </a:blip>
          <a:stretch>
            <a:fillRect/>
          </a:stretch>
        </p:blipFill>
        <p:spPr>
          <a:xfrm>
            <a:off x="335875" y="617050"/>
            <a:ext cx="8472239" cy="4123224"/>
          </a:xfrm>
          <a:prstGeom prst="rect">
            <a:avLst/>
          </a:prstGeom>
          <a:noFill/>
          <a:ln>
            <a:noFill/>
          </a:ln>
          <a:effectLst>
            <a:outerShdw blurRad="57150" dist="19050" dir="5400000" algn="bl" rotWithShape="0">
              <a:srgbClr val="00000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0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a:spLocks noGrp="1"/>
          </p:cNvSpPr>
          <p:nvPr>
            <p:ph type="ctrTitle"/>
          </p:nvPr>
        </p:nvSpPr>
        <p:spPr>
          <a:xfrm>
            <a:off x="0" y="0"/>
            <a:ext cx="9144000" cy="50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8" name="Google Shape;208;p26"/>
          <p:cNvSpPr txBox="1">
            <a:spLocks noGrp="1"/>
          </p:cNvSpPr>
          <p:nvPr>
            <p:ph type="subTitle" idx="1"/>
          </p:nvPr>
        </p:nvSpPr>
        <p:spPr>
          <a:xfrm>
            <a:off x="5157475" y="1217550"/>
            <a:ext cx="3756300" cy="2862900"/>
          </a:xfrm>
          <a:prstGeom prst="rect">
            <a:avLst/>
          </a:prstGeom>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GB" sz="1200" b="1">
                <a:solidFill>
                  <a:schemeClr val="dk1"/>
                </a:solidFill>
              </a:rPr>
              <a:t>Convergence:</a:t>
            </a:r>
            <a:r>
              <a:rPr lang="en-GB" sz="1200">
                <a:solidFill>
                  <a:schemeClr val="dk1"/>
                </a:solidFill>
              </a:rPr>
              <a:t> The graph shows E_a decreasing with each iteration, proving the numerical method approaches the true root. </a:t>
            </a:r>
            <a:endParaRPr sz="1200">
              <a:solidFill>
                <a:schemeClr val="dk1"/>
              </a:solidFill>
            </a:endParaRPr>
          </a:p>
          <a:p>
            <a:pPr marL="0" lvl="0" indent="0" algn="l" rtl="0">
              <a:lnSpc>
                <a:spcPct val="150000"/>
              </a:lnSpc>
              <a:spcBef>
                <a:spcPts val="0"/>
              </a:spcBef>
              <a:spcAft>
                <a:spcPts val="0"/>
              </a:spcAft>
              <a:buNone/>
            </a:pPr>
            <a:r>
              <a:rPr lang="en-GB" sz="1200" b="1">
                <a:solidFill>
                  <a:schemeClr val="dk1"/>
                </a:solidFill>
              </a:rPr>
              <a:t>Validation:</a:t>
            </a:r>
            <a:r>
              <a:rPr lang="en-GB" sz="1200">
                <a:solidFill>
                  <a:schemeClr val="dk1"/>
                </a:solidFill>
              </a:rPr>
              <a:t> By comparing the Approximate Error (E_a) against the predefined tolerance (E_s), we confirm the stopping criterion was met, ensuring result validity. </a:t>
            </a:r>
            <a:endParaRPr sz="1200">
              <a:solidFill>
                <a:schemeClr val="dk1"/>
              </a:solidFill>
            </a:endParaRPr>
          </a:p>
          <a:p>
            <a:pPr marL="0" lvl="0" indent="0" algn="l" rtl="0">
              <a:lnSpc>
                <a:spcPct val="150000"/>
              </a:lnSpc>
              <a:spcBef>
                <a:spcPts val="0"/>
              </a:spcBef>
              <a:spcAft>
                <a:spcPts val="0"/>
              </a:spcAft>
              <a:buNone/>
            </a:pPr>
            <a:r>
              <a:rPr lang="en-GB" sz="1200" b="1">
                <a:solidFill>
                  <a:schemeClr val="dk1"/>
                </a:solidFill>
              </a:rPr>
              <a:t>Efficiency:</a:t>
            </a:r>
            <a:r>
              <a:rPr lang="en-GB" sz="1200">
                <a:solidFill>
                  <a:schemeClr val="dk1"/>
                </a:solidFill>
              </a:rPr>
              <a:t> The rapid drop in error demonstrates the high efficiency and quadratic convergence characteristic of the Newton-Raphson method. </a:t>
            </a:r>
            <a:endParaRPr sz="1200">
              <a:solidFill>
                <a:schemeClr val="dk1"/>
              </a:solidFill>
            </a:endParaRPr>
          </a:p>
        </p:txBody>
      </p:sp>
      <p:sp>
        <p:nvSpPr>
          <p:cNvPr id="209" name="Google Shape;20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14</a:t>
            </a:fld>
            <a:endParaRPr/>
          </a:p>
        </p:txBody>
      </p:sp>
      <p:pic>
        <p:nvPicPr>
          <p:cNvPr id="210" name="Google Shape;210;p26"/>
          <p:cNvPicPr preferRelativeResize="0"/>
          <p:nvPr/>
        </p:nvPicPr>
        <p:blipFill>
          <a:blip r:embed="rId3">
            <a:alphaModFix/>
          </a:blip>
          <a:stretch>
            <a:fillRect/>
          </a:stretch>
        </p:blipFill>
        <p:spPr>
          <a:xfrm>
            <a:off x="187425" y="1238450"/>
            <a:ext cx="4701825" cy="2821099"/>
          </a:xfrm>
          <a:prstGeom prst="rect">
            <a:avLst/>
          </a:prstGeom>
          <a:noFill/>
          <a:ln>
            <a:noFill/>
          </a:ln>
        </p:spPr>
      </p:pic>
      <p:sp>
        <p:nvSpPr>
          <p:cNvPr id="211" name="Google Shape;211;p26"/>
          <p:cNvSpPr txBox="1"/>
          <p:nvPr/>
        </p:nvSpPr>
        <p:spPr>
          <a:xfrm>
            <a:off x="562175" y="0"/>
            <a:ext cx="33123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800">
              <a:solidFill>
                <a:schemeClr val="dk2"/>
              </a:solidFill>
            </a:endParaRPr>
          </a:p>
        </p:txBody>
      </p:sp>
      <p:sp>
        <p:nvSpPr>
          <p:cNvPr id="212" name="Google Shape;212;p26"/>
          <p:cNvSpPr txBox="1"/>
          <p:nvPr/>
        </p:nvSpPr>
        <p:spPr>
          <a:xfrm>
            <a:off x="0" y="0"/>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a:solidFill>
                  <a:schemeClr val="dk1"/>
                </a:solidFill>
              </a:rPr>
              <a:t>V. Evaluation</a:t>
            </a:r>
            <a:endParaRPr sz="2000" b="1">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7"/>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18" name="Google Shape;218;p27"/>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VI. Limitations</a:t>
            </a:r>
            <a:endParaRPr sz="2000" b="1"/>
          </a:p>
        </p:txBody>
      </p:sp>
      <p:sp>
        <p:nvSpPr>
          <p:cNvPr id="219" name="Google Shape;21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15</a:t>
            </a:fld>
            <a:endParaRPr/>
          </a:p>
        </p:txBody>
      </p:sp>
      <p:sp>
        <p:nvSpPr>
          <p:cNvPr id="220" name="Google Shape;220;p27"/>
          <p:cNvSpPr txBox="1"/>
          <p:nvPr/>
        </p:nvSpPr>
        <p:spPr>
          <a:xfrm>
            <a:off x="133475" y="182445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p>
        </p:txBody>
      </p:sp>
      <p:pic>
        <p:nvPicPr>
          <p:cNvPr id="221" name="Google Shape;221;p27"/>
          <p:cNvPicPr preferRelativeResize="0"/>
          <p:nvPr/>
        </p:nvPicPr>
        <p:blipFill>
          <a:blip r:embed="rId3">
            <a:alphaModFix/>
          </a:blip>
          <a:stretch>
            <a:fillRect/>
          </a:stretch>
        </p:blipFill>
        <p:spPr>
          <a:xfrm>
            <a:off x="198150" y="1278225"/>
            <a:ext cx="4899250" cy="2939550"/>
          </a:xfrm>
          <a:prstGeom prst="rect">
            <a:avLst/>
          </a:prstGeom>
          <a:noFill/>
          <a:ln>
            <a:noFill/>
          </a:ln>
        </p:spPr>
      </p:pic>
      <p:sp>
        <p:nvSpPr>
          <p:cNvPr id="222" name="Google Shape;222;p27"/>
          <p:cNvSpPr txBox="1"/>
          <p:nvPr/>
        </p:nvSpPr>
        <p:spPr>
          <a:xfrm>
            <a:off x="5173950" y="1177950"/>
            <a:ext cx="3797400" cy="31401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chemeClr val="dk2"/>
              </a:buClr>
              <a:buSzPts val="1200"/>
              <a:buChar char="●"/>
            </a:pPr>
            <a:r>
              <a:rPr lang="en-GB" sz="1200" b="1">
                <a:solidFill>
                  <a:schemeClr val="dk2"/>
                </a:solidFill>
              </a:rPr>
              <a:t>Convergence Risks</a:t>
            </a:r>
            <a:r>
              <a:rPr lang="en-GB" sz="1200">
                <a:solidFill>
                  <a:schemeClr val="dk2"/>
                </a:solidFill>
              </a:rPr>
              <a:t> :</a:t>
            </a:r>
            <a:r>
              <a:rPr lang="en-GB" sz="1200" b="1">
                <a:solidFill>
                  <a:schemeClr val="dk1"/>
                </a:solidFill>
              </a:rPr>
              <a:t>Newton-Raphson:</a:t>
            </a:r>
            <a:r>
              <a:rPr lang="en-GB" sz="1200">
                <a:solidFill>
                  <a:schemeClr val="dk1"/>
                </a:solidFill>
              </a:rPr>
              <a:t> May fail if f'(x) =0 (division by zero) or if the initial guess (x_i) is poor, leading to divergence. </a:t>
            </a:r>
            <a:endParaRPr sz="1200">
              <a:solidFill>
                <a:schemeClr val="dk1"/>
              </a:solidFill>
            </a:endParaRPr>
          </a:p>
          <a:p>
            <a:pPr marL="457200" lvl="0" indent="-304800" algn="l" rtl="0">
              <a:lnSpc>
                <a:spcPct val="150000"/>
              </a:lnSpc>
              <a:spcBef>
                <a:spcPts val="0"/>
              </a:spcBef>
              <a:spcAft>
                <a:spcPts val="0"/>
              </a:spcAft>
              <a:buClr>
                <a:schemeClr val="dk1"/>
              </a:buClr>
              <a:buSzPts val="1200"/>
              <a:buChar char="●"/>
            </a:pPr>
            <a:r>
              <a:rPr lang="en-GB" sz="1200">
                <a:solidFill>
                  <a:schemeClr val="dk1"/>
                </a:solidFill>
              </a:rPr>
              <a:t>intentionally stop early once the error is "small enough" (based on tolerance E_s), so we don't reach the absolute exact infinite decimal. </a:t>
            </a:r>
            <a:endParaRPr sz="1200">
              <a:solidFill>
                <a:schemeClr val="dk1"/>
              </a:solidFill>
            </a:endParaRPr>
          </a:p>
          <a:p>
            <a:pPr marL="457200" lvl="0" indent="-304800" algn="l" rtl="0">
              <a:lnSpc>
                <a:spcPct val="150000"/>
              </a:lnSpc>
              <a:spcBef>
                <a:spcPts val="0"/>
              </a:spcBef>
              <a:spcAft>
                <a:spcPts val="0"/>
              </a:spcAft>
              <a:buClr>
                <a:schemeClr val="dk1"/>
              </a:buClr>
              <a:buSzPts val="1200"/>
              <a:buChar char="●"/>
            </a:pPr>
            <a:r>
              <a:rPr lang="en-GB" sz="1200">
                <a:solidFill>
                  <a:schemeClr val="dk1"/>
                </a:solidFill>
              </a:rPr>
              <a:t>Finite memory can introduce round-off errors at extremely small scales. </a:t>
            </a:r>
            <a:endParaRPr sz="1200">
              <a:solidFill>
                <a:schemeClr val="dk1"/>
              </a:solidFill>
            </a:endParaRPr>
          </a:p>
          <a:p>
            <a:pPr marL="457200" lvl="0" indent="-304800" algn="l" rtl="0">
              <a:lnSpc>
                <a:spcPct val="150000"/>
              </a:lnSpc>
              <a:spcBef>
                <a:spcPts val="0"/>
              </a:spcBef>
              <a:spcAft>
                <a:spcPts val="0"/>
              </a:spcAft>
              <a:buClr>
                <a:schemeClr val="dk1"/>
              </a:buClr>
              <a:buSzPts val="1200"/>
              <a:buChar char="●"/>
            </a:pPr>
            <a:r>
              <a:rPr lang="en-GB" sz="1200" b="1">
                <a:solidFill>
                  <a:schemeClr val="dk1"/>
                </a:solidFill>
              </a:rPr>
              <a:t>Method Assumptions:</a:t>
            </a:r>
            <a:r>
              <a:rPr lang="en-GB" sz="1200">
                <a:solidFill>
                  <a:schemeClr val="dk1"/>
                </a:solidFill>
              </a:rPr>
              <a:t> Models require the function to be continuous and differentiable within the region of interest. </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8"/>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28" name="Google Shape;228;p28"/>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VII. Conclusion</a:t>
            </a:r>
            <a:endParaRPr sz="2000" b="1"/>
          </a:p>
        </p:txBody>
      </p:sp>
      <p:sp>
        <p:nvSpPr>
          <p:cNvPr id="229" name="Google Shape;22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16</a:t>
            </a:fld>
            <a:endParaRPr/>
          </a:p>
        </p:txBody>
      </p:sp>
      <p:sp>
        <p:nvSpPr>
          <p:cNvPr id="230" name="Google Shape;230;p28"/>
          <p:cNvSpPr txBox="1"/>
          <p:nvPr/>
        </p:nvSpPr>
        <p:spPr>
          <a:xfrm>
            <a:off x="291075" y="1200913"/>
            <a:ext cx="8464800" cy="28014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SzPts val="1800"/>
              <a:buChar char="●"/>
            </a:pPr>
            <a:r>
              <a:rPr lang="en-GB">
                <a:solidFill>
                  <a:schemeClr val="dk1"/>
                </a:solidFill>
              </a:rPr>
              <a:t>Both the </a:t>
            </a:r>
            <a:r>
              <a:rPr lang="en-GB" b="1">
                <a:solidFill>
                  <a:schemeClr val="dk1"/>
                </a:solidFill>
              </a:rPr>
              <a:t>Newton-Raphson</a:t>
            </a:r>
            <a:r>
              <a:rPr lang="en-GB">
                <a:solidFill>
                  <a:schemeClr val="dk1"/>
                </a:solidFill>
              </a:rPr>
              <a:t> and </a:t>
            </a:r>
            <a:r>
              <a:rPr lang="en-GB" b="1">
                <a:solidFill>
                  <a:schemeClr val="dk1"/>
                </a:solidFill>
              </a:rPr>
              <a:t>Bisection</a:t>
            </a:r>
            <a:r>
              <a:rPr lang="en-GB">
                <a:solidFill>
                  <a:schemeClr val="dk1"/>
                </a:solidFill>
              </a:rPr>
              <a:t> methods successfully converged to the root. The systematic decrease in </a:t>
            </a:r>
            <a:r>
              <a:rPr lang="en-GB" b="1">
                <a:solidFill>
                  <a:schemeClr val="dk1"/>
                </a:solidFill>
              </a:rPr>
              <a:t>Approximate Error </a:t>
            </a:r>
            <a:r>
              <a:rPr lang="en-GB">
                <a:solidFill>
                  <a:schemeClr val="dk1"/>
                </a:solidFill>
              </a:rPr>
              <a:t> confirms that our numerical models are stable and reliably approaching the exact root. </a:t>
            </a:r>
            <a:endParaRPr>
              <a:solidFill>
                <a:schemeClr val="dk1"/>
              </a:solidFill>
            </a:endParaRPr>
          </a:p>
          <a:p>
            <a:pPr marL="457200" lvl="0" indent="-323850" algn="l" rtl="0">
              <a:lnSpc>
                <a:spcPct val="150000"/>
              </a:lnSpc>
              <a:spcBef>
                <a:spcPts val="0"/>
              </a:spcBef>
              <a:spcAft>
                <a:spcPts val="0"/>
              </a:spcAft>
              <a:buClr>
                <a:schemeClr val="dk1"/>
              </a:buClr>
              <a:buSzPts val="1500"/>
              <a:buChar char="●"/>
            </a:pPr>
            <a:r>
              <a:rPr lang="en-GB">
                <a:solidFill>
                  <a:schemeClr val="dk1"/>
                </a:solidFill>
              </a:rPr>
              <a:t>The </a:t>
            </a:r>
            <a:r>
              <a:rPr lang="en-GB" b="1">
                <a:solidFill>
                  <a:schemeClr val="dk1"/>
                </a:solidFill>
              </a:rPr>
              <a:t>Newton-Raphson method</a:t>
            </a:r>
            <a:r>
              <a:rPr lang="en-GB">
                <a:solidFill>
                  <a:schemeClr val="dk1"/>
                </a:solidFill>
              </a:rPr>
              <a:t> achieved convergence in nearly half the iterations of the </a:t>
            </a:r>
            <a:r>
              <a:rPr lang="en-GB" b="1">
                <a:solidFill>
                  <a:schemeClr val="dk1"/>
                </a:solidFill>
              </a:rPr>
              <a:t>Bisection method</a:t>
            </a:r>
            <a:r>
              <a:rPr lang="en-GB">
                <a:solidFill>
                  <a:schemeClr val="dk1"/>
                </a:solidFill>
              </a:rPr>
              <a:t> (14 vs. 26), proving it is the superior, time-saving tool for complex, speed-critical engineering calculations. </a:t>
            </a:r>
            <a:endParaRPr>
              <a:solidFill>
                <a:schemeClr val="dk1"/>
              </a:solidFill>
            </a:endParaRPr>
          </a:p>
          <a:p>
            <a:pPr marL="457200" lvl="0" indent="-323850" algn="l" rtl="0">
              <a:lnSpc>
                <a:spcPct val="150000"/>
              </a:lnSpc>
              <a:spcBef>
                <a:spcPts val="0"/>
              </a:spcBef>
              <a:spcAft>
                <a:spcPts val="0"/>
              </a:spcAft>
              <a:buClr>
                <a:schemeClr val="dk1"/>
              </a:buClr>
              <a:buSzPts val="1500"/>
              <a:buChar char="●"/>
            </a:pPr>
            <a:r>
              <a:rPr lang="en-GB">
                <a:solidFill>
                  <a:schemeClr val="dk1"/>
                </a:solidFill>
              </a:rPr>
              <a:t>Our results are trustworthy because we verified precision using </a:t>
            </a:r>
            <a:r>
              <a:rPr lang="en-GB" b="1">
                <a:solidFill>
                  <a:schemeClr val="dk1"/>
                </a:solidFill>
              </a:rPr>
              <a:t>error estimation </a:t>
            </a:r>
            <a:r>
              <a:rPr lang="en-GB">
                <a:solidFill>
                  <a:schemeClr val="dk1"/>
                </a:solidFill>
              </a:rPr>
              <a:t>, ensuring every solution meets strict safety and quality standards.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9"/>
          <p:cNvSpPr txBox="1"/>
          <p:nvPr/>
        </p:nvSpPr>
        <p:spPr>
          <a:xfrm>
            <a:off x="550800" y="297675"/>
            <a:ext cx="1685100" cy="4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36" name="Google Shape;236;p29"/>
          <p:cNvSpPr/>
          <p:nvPr/>
        </p:nvSpPr>
        <p:spPr>
          <a:xfrm>
            <a:off x="0" y="0"/>
            <a:ext cx="9144000" cy="540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2000" b="1"/>
              <a:t>	VIII. References</a:t>
            </a:r>
            <a:endParaRPr sz="2000" b="1"/>
          </a:p>
        </p:txBody>
      </p:sp>
      <p:sp>
        <p:nvSpPr>
          <p:cNvPr id="237" name="Google Shape;237;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17</a:t>
            </a:fld>
            <a:endParaRPr/>
          </a:p>
        </p:txBody>
      </p:sp>
      <p:sp>
        <p:nvSpPr>
          <p:cNvPr id="238" name="Google Shape;238;p29"/>
          <p:cNvSpPr txBox="1"/>
          <p:nvPr/>
        </p:nvSpPr>
        <p:spPr>
          <a:xfrm>
            <a:off x="291075" y="1200913"/>
            <a:ext cx="8464800" cy="13698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0"/>
              </a:spcBef>
              <a:spcAft>
                <a:spcPts val="0"/>
              </a:spcAft>
              <a:buNone/>
            </a:pPr>
            <a:r>
              <a:rPr lang="en-GB">
                <a:solidFill>
                  <a:schemeClr val="dk1"/>
                </a:solidFill>
              </a:rPr>
              <a:t>Link to google slide: </a:t>
            </a:r>
            <a:r>
              <a:rPr lang="en-GB" u="sng">
                <a:solidFill>
                  <a:schemeClr val="hlink"/>
                </a:solidFill>
                <a:hlinkClick r:id="rId3"/>
              </a:rPr>
              <a:t>https://docs.google.com/presentation/d/1KV_qctCFiBf72FuRUt2mtzY5Ub-EnY3tVvN8oIdzotc/edit?usp=sharing</a:t>
            </a:r>
            <a:endParaRPr>
              <a:solidFill>
                <a:schemeClr val="dk1"/>
              </a:solidFill>
            </a:endParaRPr>
          </a:p>
          <a:p>
            <a:pPr marL="457200" lvl="0" indent="0" algn="l" rtl="0">
              <a:lnSpc>
                <a:spcPct val="150000"/>
              </a:lnSpc>
              <a:spcBef>
                <a:spcPts val="0"/>
              </a:spcBef>
              <a:spcAft>
                <a:spcPts val="0"/>
              </a:spcAft>
              <a:buNone/>
            </a:pP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0"/>
          <p:cNvSpPr txBox="1">
            <a:spLocks noGrp="1"/>
          </p:cNvSpPr>
          <p:nvPr>
            <p:ph type="title"/>
          </p:nvPr>
        </p:nvSpPr>
        <p:spPr>
          <a:xfrm>
            <a:off x="237000" y="17299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sz="5556"/>
              <a:t>Thank You.</a:t>
            </a:r>
            <a:endParaRPr sz="5556"/>
          </a:p>
          <a:p>
            <a:pPr marL="0" lvl="0" indent="0" algn="ctr" rtl="0">
              <a:spcBef>
                <a:spcPts val="0"/>
              </a:spcBef>
              <a:spcAft>
                <a:spcPts val="0"/>
              </a:spcAft>
              <a:buNone/>
            </a:pPr>
            <a:endParaRPr sz="5000"/>
          </a:p>
        </p:txBody>
      </p:sp>
      <p:sp>
        <p:nvSpPr>
          <p:cNvPr id="244" name="Google Shape;244;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18</a:t>
            </a:fld>
            <a:endParaRPr/>
          </a:p>
        </p:txBody>
      </p:sp>
      <p:sp>
        <p:nvSpPr>
          <p:cNvPr id="245" name="Google Shape;245;p30"/>
          <p:cNvSpPr txBox="1"/>
          <p:nvPr/>
        </p:nvSpPr>
        <p:spPr>
          <a:xfrm>
            <a:off x="3324050" y="2415375"/>
            <a:ext cx="2789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500">
                <a:solidFill>
                  <a:schemeClr val="dk2"/>
                </a:solidFill>
              </a:rPr>
              <a:t>Any Question?? </a:t>
            </a:r>
            <a:endParaRPr sz="25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1123</Words>
  <Application>Microsoft Office PowerPoint</Application>
  <PresentationFormat>On-screen Show (16:9)</PresentationFormat>
  <Paragraphs>150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Times New Roman</vt:lpstr>
      <vt:lpstr>Roboto ExtraBold</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chao sivchhuong</cp:lastModifiedBy>
  <cp:revision>2</cp:revision>
  <dcterms:modified xsi:type="dcterms:W3CDTF">2026-07-17T07:50:09Z</dcterms:modified>
</cp:coreProperties>
</file>