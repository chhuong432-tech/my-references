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Roboto ExtraBold"/>
      <p:bold r:id="rId24"/>
      <p:boldItalic r:id="rId25"/>
    </p:embeddedFont>
    <p:embeddedFont>
      <p:font typeface="Roboto Black"/>
      <p:bold r:id="rId26"/>
      <p:boldItalic r:id="rId27"/>
    </p:embeddedFont>
    <p:embeddedFont>
      <p:font typeface="Robo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ExtraBold-bold.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lack-bold.fntdata"/><Relationship Id="rId25" Type="http://schemas.openxmlformats.org/officeDocument/2006/relationships/font" Target="fonts/RobotoExtraBold-boldItalic.fntdata"/><Relationship Id="rId28" Type="http://schemas.openxmlformats.org/officeDocument/2006/relationships/font" Target="fonts/Roboto-regular.fntdata"/><Relationship Id="rId27" Type="http://schemas.openxmlformats.org/officeDocument/2006/relationships/font" Target="fonts/RobotoBlack-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eda5791cb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eda5791cb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eda9ecc350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eda9ecc350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edbd5275a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edbd5275a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dbd5275a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dbd5275a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edbd5275a8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edbd5275a8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edbd5275a8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edbd5275a8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edbd5275a8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edbd5275a8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f169fc84ea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f169fc84ea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edbd5275a8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edbd5275a8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edbd5275a8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edbd5275a8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edbd5275a8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edbd5275a8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edbd5275a8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edbd5275a8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edbd5275a8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edbd5275a8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edbd5275a8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edbd5275a8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edbd5275a8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edbd5275a8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f169fc84ea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f169fc84ea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edbd5275a8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edbd5275a8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f169fc84ea_13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f169fc84ea_13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6.png"/><Relationship Id="rId6"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6.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hyperlink" Target="http://drive.google.com/file/d/1t2ky5WFwIEC1UHmsOhMHyPRIYCRbgWFA/view" TargetMode="External"/><Relationship Id="rId4" Type="http://schemas.openxmlformats.org/officeDocument/2006/relationships/image" Target="../media/image3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image" Target="../media/image18.png"/><Relationship Id="rId5"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6.png"/><Relationship Id="rId4" Type="http://schemas.openxmlformats.org/officeDocument/2006/relationships/image" Target="../media/image25.png"/><Relationship Id="rId5" Type="http://schemas.openxmlformats.org/officeDocument/2006/relationships/image" Target="../media/image28.png"/><Relationship Id="rId6"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hyperlink" Target="https://www.cfdsupport.com/wp-content/uploads/2022/03/TCAE-CFDSUPPORT-Centrifugal-Fan-Design-and-Simulation.pdf-.pdf" TargetMode="External"/><Relationship Id="rId4" Type="http://schemas.openxmlformats.org/officeDocument/2006/relationships/hyperlink" Target="https://www.cfdsupport.com/centrifugal-fan-design-and-simulation/" TargetMode="External"/><Relationship Id="rId5" Type="http://schemas.openxmlformats.org/officeDocument/2006/relationships/hyperlink" Target="https://github.com/chhuong432-tech/My-References/blob/main/Centrifugal%20Pump.pdf" TargetMode="External"/><Relationship Id="rId6" Type="http://schemas.openxmlformats.org/officeDocument/2006/relationships/hyperlink" Target="https://github.com/chhuong432-tech/My-References/blob/main/PumpReport.ht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7504725" y="305025"/>
            <a:ext cx="1075313" cy="1075313"/>
          </a:xfrm>
          <a:prstGeom prst="rect">
            <a:avLst/>
          </a:prstGeom>
          <a:noFill/>
          <a:ln>
            <a:noFill/>
          </a:ln>
        </p:spPr>
      </p:pic>
      <p:sp>
        <p:nvSpPr>
          <p:cNvPr id="55" name="Google Shape;55;p13"/>
          <p:cNvSpPr txBox="1"/>
          <p:nvPr/>
        </p:nvSpPr>
        <p:spPr>
          <a:xfrm>
            <a:off x="1795492" y="533430"/>
            <a:ext cx="5553000" cy="7413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GB" sz="2200">
                <a:solidFill>
                  <a:srgbClr val="000000"/>
                </a:solidFill>
                <a:latin typeface="Roboto ExtraBold"/>
                <a:ea typeface="Roboto ExtraBold"/>
                <a:cs typeface="Roboto ExtraBold"/>
                <a:sym typeface="Roboto ExtraBold"/>
              </a:rPr>
              <a:t>Institute of Technology of Cambodia </a:t>
            </a:r>
            <a:endParaRPr sz="2200">
              <a:solidFill>
                <a:srgbClr val="000000"/>
              </a:solidFill>
              <a:latin typeface="Roboto ExtraBold"/>
              <a:ea typeface="Roboto ExtraBold"/>
              <a:cs typeface="Roboto ExtraBold"/>
              <a:sym typeface="Roboto ExtraBold"/>
            </a:endParaRPr>
          </a:p>
          <a:p>
            <a:pPr indent="0" lvl="0" marL="0" rtl="0" algn="ctr">
              <a:spcBef>
                <a:spcPts val="0"/>
              </a:spcBef>
              <a:spcAft>
                <a:spcPts val="0"/>
              </a:spcAft>
              <a:buNone/>
            </a:pPr>
            <a:r>
              <a:rPr lang="en-GB" sz="2200">
                <a:solidFill>
                  <a:srgbClr val="000000"/>
                </a:solidFill>
                <a:latin typeface="Roboto ExtraBold"/>
                <a:ea typeface="Roboto ExtraBold"/>
                <a:cs typeface="Roboto ExtraBold"/>
                <a:sym typeface="Roboto ExtraBold"/>
              </a:rPr>
              <a:t>Department of Mechanical and Industry </a:t>
            </a:r>
            <a:endParaRPr sz="2200">
              <a:solidFill>
                <a:srgbClr val="000000"/>
              </a:solidFill>
              <a:latin typeface="Roboto ExtraBold"/>
              <a:ea typeface="Roboto ExtraBold"/>
              <a:cs typeface="Roboto ExtraBold"/>
              <a:sym typeface="Roboto ExtraBold"/>
            </a:endParaRPr>
          </a:p>
        </p:txBody>
      </p:sp>
      <p:pic>
        <p:nvPicPr>
          <p:cNvPr id="56" name="Google Shape;56;p13"/>
          <p:cNvPicPr preferRelativeResize="0"/>
          <p:nvPr/>
        </p:nvPicPr>
        <p:blipFill>
          <a:blip r:embed="rId4">
            <a:alphaModFix/>
          </a:blip>
          <a:stretch>
            <a:fillRect/>
          </a:stretch>
        </p:blipFill>
        <p:spPr>
          <a:xfrm>
            <a:off x="599084" y="305131"/>
            <a:ext cx="1215937" cy="1197975"/>
          </a:xfrm>
          <a:prstGeom prst="rect">
            <a:avLst/>
          </a:prstGeom>
          <a:noFill/>
          <a:ln>
            <a:noFill/>
          </a:ln>
        </p:spPr>
      </p:pic>
      <p:sp>
        <p:nvSpPr>
          <p:cNvPr id="57" name="Google Shape;57;p13"/>
          <p:cNvSpPr txBox="1"/>
          <p:nvPr/>
        </p:nvSpPr>
        <p:spPr>
          <a:xfrm>
            <a:off x="2393106" y="3434022"/>
            <a:ext cx="4955400" cy="338100"/>
          </a:xfrm>
          <a:prstGeom prst="rect">
            <a:avLst/>
          </a:prstGeom>
          <a:noFill/>
          <a:ln>
            <a:noFill/>
          </a:ln>
        </p:spPr>
        <p:txBody>
          <a:bodyPr anchorCtr="0" anchor="t" bIns="68575" lIns="68575" spcFirstLastPara="1" rIns="68575" wrap="square" tIns="68575">
            <a:noAutofit/>
          </a:bodyPr>
          <a:lstStyle/>
          <a:p>
            <a:pPr indent="342900" lvl="0" marL="0" rtl="0" algn="l">
              <a:lnSpc>
                <a:spcPct val="115000"/>
              </a:lnSpc>
              <a:spcBef>
                <a:spcPts val="0"/>
              </a:spcBef>
              <a:spcAft>
                <a:spcPts val="0"/>
              </a:spcAft>
              <a:buNone/>
            </a:pPr>
            <a:r>
              <a:rPr b="1" lang="en-GB" sz="1500"/>
              <a:t>    </a:t>
            </a:r>
            <a:r>
              <a:rPr b="1" lang="en-GB" sz="1500">
                <a:solidFill>
                  <a:srgbClr val="000000"/>
                </a:solidFill>
              </a:rPr>
              <a:t>Student’s Name				</a:t>
            </a:r>
            <a:r>
              <a:rPr b="1" lang="en-GB" sz="1500"/>
              <a:t>        </a:t>
            </a:r>
            <a:r>
              <a:rPr b="1" lang="en-GB" sz="1500">
                <a:solidFill>
                  <a:srgbClr val="000000"/>
                </a:solidFill>
              </a:rPr>
              <a:t>ID </a:t>
            </a:r>
            <a:endParaRPr b="1" sz="1500">
              <a:solidFill>
                <a:srgbClr val="000000"/>
              </a:solidFill>
            </a:endParaRPr>
          </a:p>
          <a:p>
            <a:pPr indent="-323850" lvl="0" marL="457200" rtl="0" algn="l">
              <a:lnSpc>
                <a:spcPct val="115000"/>
              </a:lnSpc>
              <a:spcBef>
                <a:spcPts val="0"/>
              </a:spcBef>
              <a:spcAft>
                <a:spcPts val="0"/>
              </a:spcAft>
              <a:buSzPts val="1500"/>
              <a:buAutoNum type="arabicPeriod"/>
            </a:pPr>
            <a:r>
              <a:rPr lang="en-GB" sz="1500"/>
              <a:t>BAN THUNPISEY</a:t>
            </a:r>
            <a:r>
              <a:rPr lang="en-GB" sz="1500">
                <a:solidFill>
                  <a:srgbClr val="000000"/>
                </a:solidFill>
              </a:rPr>
              <a:t>	                            </a:t>
            </a:r>
            <a:r>
              <a:rPr lang="en-GB" sz="1500">
                <a:solidFill>
                  <a:schemeClr val="dk1"/>
                </a:solidFill>
              </a:rPr>
              <a:t>e20220860</a:t>
            </a:r>
            <a:endParaRPr sz="1500">
              <a:solidFill>
                <a:schemeClr val="dk1"/>
              </a:solidFill>
            </a:endParaRPr>
          </a:p>
          <a:p>
            <a:pPr indent="-323850" lvl="0" marL="457200" rtl="0" algn="l">
              <a:lnSpc>
                <a:spcPct val="115000"/>
              </a:lnSpc>
              <a:spcBef>
                <a:spcPts val="0"/>
              </a:spcBef>
              <a:spcAft>
                <a:spcPts val="0"/>
              </a:spcAft>
              <a:buSzPts val="1500"/>
              <a:buAutoNum type="arabicPeriod"/>
            </a:pPr>
            <a:r>
              <a:rPr lang="en-GB" sz="1500"/>
              <a:t>BUNTHEN CHANSOYUTHARITH        </a:t>
            </a:r>
            <a:r>
              <a:rPr lang="en-GB" sz="1500">
                <a:solidFill>
                  <a:schemeClr val="dk1"/>
                </a:solidFill>
              </a:rPr>
              <a:t>e20220219</a:t>
            </a:r>
            <a:r>
              <a:rPr lang="en-GB" sz="1500"/>
              <a:t>      </a:t>
            </a:r>
            <a:endParaRPr sz="1500"/>
          </a:p>
          <a:p>
            <a:pPr indent="-323850" lvl="0" marL="457200" rtl="0" algn="l">
              <a:lnSpc>
                <a:spcPct val="115000"/>
              </a:lnSpc>
              <a:spcBef>
                <a:spcPts val="0"/>
              </a:spcBef>
              <a:spcAft>
                <a:spcPts val="0"/>
              </a:spcAft>
              <a:buSzPts val="1500"/>
              <a:buAutoNum type="arabicPeriod"/>
            </a:pPr>
            <a:r>
              <a:rPr lang="en-GB" sz="1500"/>
              <a:t>CHAO SIVCHHUONG                           </a:t>
            </a:r>
            <a:r>
              <a:rPr lang="en-GB" sz="1500">
                <a:solidFill>
                  <a:schemeClr val="dk1"/>
                </a:solidFill>
              </a:rPr>
              <a:t>e20220409</a:t>
            </a:r>
            <a:endParaRPr sz="1500">
              <a:solidFill>
                <a:schemeClr val="dk1"/>
              </a:solidFill>
            </a:endParaRPr>
          </a:p>
          <a:p>
            <a:pPr indent="-323850" lvl="0" marL="457200" rtl="0" algn="l">
              <a:lnSpc>
                <a:spcPct val="115000"/>
              </a:lnSpc>
              <a:spcBef>
                <a:spcPts val="0"/>
              </a:spcBef>
              <a:spcAft>
                <a:spcPts val="0"/>
              </a:spcAft>
              <a:buSzPts val="1500"/>
              <a:buAutoNum type="arabicPeriod"/>
            </a:pPr>
            <a:r>
              <a:rPr lang="en-GB" sz="1500">
                <a:solidFill>
                  <a:schemeClr val="dk1"/>
                </a:solidFill>
              </a:rPr>
              <a:t>CHAT CHANPARADY                            e20221655</a:t>
            </a:r>
            <a:endParaRPr sz="1500">
              <a:solidFill>
                <a:schemeClr val="dk1"/>
              </a:solidFill>
            </a:endParaRPr>
          </a:p>
          <a:p>
            <a:pPr indent="0" lvl="0" marL="457200" rtl="0" algn="l">
              <a:lnSpc>
                <a:spcPct val="115000"/>
              </a:lnSpc>
              <a:spcBef>
                <a:spcPts val="0"/>
              </a:spcBef>
              <a:spcAft>
                <a:spcPts val="0"/>
              </a:spcAft>
              <a:buNone/>
            </a:pPr>
            <a:r>
              <a:rPr lang="en-GB" sz="1500">
                <a:solidFill>
                  <a:schemeClr val="dk1"/>
                </a:solidFill>
              </a:rPr>
              <a:t>        </a:t>
            </a:r>
            <a:endParaRPr sz="1500"/>
          </a:p>
        </p:txBody>
      </p:sp>
      <p:sp>
        <p:nvSpPr>
          <p:cNvPr id="58" name="Google Shape;58;p13"/>
          <p:cNvSpPr txBox="1"/>
          <p:nvPr/>
        </p:nvSpPr>
        <p:spPr>
          <a:xfrm>
            <a:off x="2629913" y="1825866"/>
            <a:ext cx="4326300" cy="4629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t/>
            </a:r>
            <a:endParaRPr b="1" sz="2100">
              <a:solidFill>
                <a:srgbClr val="000000"/>
              </a:solidFill>
            </a:endParaRPr>
          </a:p>
          <a:p>
            <a:pPr indent="0" lvl="0" marL="0" rtl="0" algn="l">
              <a:spcBef>
                <a:spcPts val="0"/>
              </a:spcBef>
              <a:spcAft>
                <a:spcPts val="0"/>
              </a:spcAft>
              <a:buNone/>
            </a:pPr>
            <a:r>
              <a:t/>
            </a:r>
            <a:endParaRPr sz="2100">
              <a:solidFill>
                <a:srgbClr val="000000"/>
              </a:solidFill>
            </a:endParaRPr>
          </a:p>
          <a:p>
            <a:pPr indent="0" lvl="0" marL="0" rtl="0" algn="l">
              <a:spcBef>
                <a:spcPts val="0"/>
              </a:spcBef>
              <a:spcAft>
                <a:spcPts val="0"/>
              </a:spcAft>
              <a:buNone/>
            </a:pPr>
            <a:r>
              <a:rPr lang="en-GB" sz="2100"/>
              <a:t>Lecture </a:t>
            </a:r>
            <a:r>
              <a:rPr lang="en-GB" sz="2100">
                <a:solidFill>
                  <a:srgbClr val="000000"/>
                </a:solidFill>
              </a:rPr>
              <a:t>: </a:t>
            </a:r>
            <a:r>
              <a:rPr b="1" lang="en-GB" sz="2100"/>
              <a:t>Mr. DARA SEYHAK </a:t>
            </a:r>
            <a:endParaRPr sz="2100">
              <a:solidFill>
                <a:srgbClr val="000000"/>
              </a:solidFill>
            </a:endParaRPr>
          </a:p>
          <a:p>
            <a:pPr indent="0" lvl="0" marL="0" rtl="0" algn="l">
              <a:spcBef>
                <a:spcPts val="0"/>
              </a:spcBef>
              <a:spcAft>
                <a:spcPts val="0"/>
              </a:spcAft>
              <a:buNone/>
            </a:pPr>
            <a:r>
              <a:rPr lang="en-GB" sz="2100">
                <a:solidFill>
                  <a:srgbClr val="000000"/>
                </a:solidFill>
              </a:rPr>
              <a:t>Group:</a:t>
            </a:r>
            <a:r>
              <a:rPr b="1" lang="en-GB" sz="2100">
                <a:solidFill>
                  <a:srgbClr val="000000"/>
                </a:solidFill>
              </a:rPr>
              <a:t> I4-GIM-</a:t>
            </a:r>
            <a:r>
              <a:rPr b="1" lang="en-GB" sz="2100"/>
              <a:t>A1-Gr1</a:t>
            </a:r>
            <a:endParaRPr b="1" sz="2100">
              <a:solidFill>
                <a:srgbClr val="000000"/>
              </a:solidFill>
            </a:endParaRPr>
          </a:p>
        </p:txBody>
      </p:sp>
      <p:sp>
        <p:nvSpPr>
          <p:cNvPr id="59" name="Google Shape;59;p13"/>
          <p:cNvSpPr/>
          <p:nvPr/>
        </p:nvSpPr>
        <p:spPr>
          <a:xfrm>
            <a:off x="1883400" y="1503100"/>
            <a:ext cx="5842500" cy="781500"/>
          </a:xfrm>
          <a:prstGeom prst="roundRect">
            <a:avLst>
              <a:gd fmla="val 16667"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GB" sz="2100">
                <a:solidFill>
                  <a:srgbClr val="000000"/>
                </a:solidFill>
              </a:rPr>
              <a:t>Subject: </a:t>
            </a:r>
            <a:r>
              <a:rPr b="1" lang="en-GB" sz="2100"/>
              <a:t>Turbomachines</a:t>
            </a:r>
            <a:r>
              <a:rPr b="1" lang="en-GB" sz="2100">
                <a:solidFill>
                  <a:srgbClr val="000000"/>
                </a:solidFill>
              </a:rPr>
              <a:t> (</a:t>
            </a:r>
            <a:r>
              <a:rPr b="1" lang="en-GB" sz="2100"/>
              <a:t>Centrifugal Pump</a:t>
            </a:r>
            <a:r>
              <a:rPr b="1" lang="en-GB" sz="2100">
                <a:solidFill>
                  <a:srgbClr val="000000"/>
                </a:solidFill>
              </a:rPr>
              <a: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p:nvPr/>
        </p:nvSpPr>
        <p:spPr>
          <a:xfrm>
            <a:off x="0" y="-305225"/>
            <a:ext cx="9288200" cy="1115650"/>
          </a:xfrm>
          <a:prstGeom prst="flowChartPunchedTape">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2800">
                <a:solidFill>
                  <a:schemeClr val="dk1"/>
                </a:solidFill>
                <a:latin typeface="Roboto Black"/>
                <a:ea typeface="Roboto Black"/>
                <a:cs typeface="Roboto Black"/>
                <a:sym typeface="Roboto Black"/>
              </a:rPr>
              <a:t>Contents</a:t>
            </a:r>
            <a:endParaRPr>
              <a:latin typeface="Roboto Black"/>
              <a:ea typeface="Roboto Black"/>
              <a:cs typeface="Roboto Black"/>
              <a:sym typeface="Roboto Black"/>
            </a:endParaRPr>
          </a:p>
        </p:txBody>
      </p:sp>
      <p:sp>
        <p:nvSpPr>
          <p:cNvPr id="65" name="Google Shape;65;p14"/>
          <p:cNvSpPr txBox="1"/>
          <p:nvPr>
            <p:ph idx="12" type="sldNum"/>
          </p:nvPr>
        </p:nvSpPr>
        <p:spPr>
          <a:xfrm>
            <a:off x="7962053" y="4663225"/>
            <a:ext cx="1059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GB" sz="1200">
                <a:solidFill>
                  <a:schemeClr val="dk1"/>
                </a:solidFill>
              </a:rPr>
              <a:t>Page </a:t>
            </a:r>
            <a:fld id="{00000000-1234-1234-1234-123412341234}" type="slidenum">
              <a:rPr b="1" lang="en-GB" sz="1200">
                <a:solidFill>
                  <a:schemeClr val="dk1"/>
                </a:solidFill>
              </a:rPr>
              <a:t>‹#›</a:t>
            </a:fld>
            <a:r>
              <a:rPr lang="en-GB" sz="1200">
                <a:solidFill>
                  <a:schemeClr val="dk1"/>
                </a:solidFill>
              </a:rPr>
              <a:t> of </a:t>
            </a:r>
            <a:r>
              <a:rPr b="1" lang="en-GB" sz="1200">
                <a:solidFill>
                  <a:schemeClr val="dk1"/>
                </a:solidFill>
              </a:rPr>
              <a:t>18</a:t>
            </a:r>
            <a:endParaRPr b="1" sz="1200">
              <a:solidFill>
                <a:schemeClr val="dk1"/>
              </a:solidFill>
            </a:endParaRPr>
          </a:p>
        </p:txBody>
      </p:sp>
      <p:grpSp>
        <p:nvGrpSpPr>
          <p:cNvPr id="66" name="Google Shape;66;p14"/>
          <p:cNvGrpSpPr/>
          <p:nvPr/>
        </p:nvGrpSpPr>
        <p:grpSpPr>
          <a:xfrm>
            <a:off x="804325" y="1015975"/>
            <a:ext cx="6847500" cy="4288500"/>
            <a:chOff x="804325" y="1174725"/>
            <a:chExt cx="6847500" cy="4288500"/>
          </a:xfrm>
        </p:grpSpPr>
        <p:cxnSp>
          <p:nvCxnSpPr>
            <p:cNvPr id="67" name="Google Shape;67;p14"/>
            <p:cNvCxnSpPr/>
            <p:nvPr/>
          </p:nvCxnSpPr>
          <p:spPr>
            <a:xfrm flipH="1" rot="10800000">
              <a:off x="2722275" y="1421342"/>
              <a:ext cx="4325700" cy="5100"/>
            </a:xfrm>
            <a:prstGeom prst="straightConnector1">
              <a:avLst/>
            </a:prstGeom>
            <a:noFill/>
            <a:ln cap="flat" cmpd="sng" w="19050">
              <a:solidFill>
                <a:schemeClr val="dk2"/>
              </a:solidFill>
              <a:prstDash val="dot"/>
              <a:round/>
              <a:headEnd len="med" w="med" type="none"/>
              <a:tailEnd len="med" w="med" type="none"/>
            </a:ln>
          </p:spPr>
        </p:cxnSp>
        <p:cxnSp>
          <p:nvCxnSpPr>
            <p:cNvPr id="68" name="Google Shape;68;p14"/>
            <p:cNvCxnSpPr/>
            <p:nvPr/>
          </p:nvCxnSpPr>
          <p:spPr>
            <a:xfrm flipH="1" rot="10800000">
              <a:off x="2447025" y="1719742"/>
              <a:ext cx="4672800" cy="5400"/>
            </a:xfrm>
            <a:prstGeom prst="straightConnector1">
              <a:avLst/>
            </a:prstGeom>
            <a:noFill/>
            <a:ln cap="flat" cmpd="sng" w="19050">
              <a:solidFill>
                <a:schemeClr val="dk2"/>
              </a:solidFill>
              <a:prstDash val="dot"/>
              <a:round/>
              <a:headEnd len="med" w="med" type="none"/>
              <a:tailEnd len="med" w="med" type="none"/>
            </a:ln>
          </p:spPr>
        </p:cxnSp>
        <p:cxnSp>
          <p:nvCxnSpPr>
            <p:cNvPr id="69" name="Google Shape;69;p14"/>
            <p:cNvCxnSpPr/>
            <p:nvPr/>
          </p:nvCxnSpPr>
          <p:spPr>
            <a:xfrm>
              <a:off x="2952350" y="1987842"/>
              <a:ext cx="4173000" cy="0"/>
            </a:xfrm>
            <a:prstGeom prst="straightConnector1">
              <a:avLst/>
            </a:prstGeom>
            <a:noFill/>
            <a:ln cap="flat" cmpd="sng" w="19050">
              <a:solidFill>
                <a:schemeClr val="dk2"/>
              </a:solidFill>
              <a:prstDash val="dot"/>
              <a:round/>
              <a:headEnd len="med" w="med" type="none"/>
              <a:tailEnd len="med" w="med" type="none"/>
            </a:ln>
          </p:spPr>
        </p:cxnSp>
        <p:cxnSp>
          <p:nvCxnSpPr>
            <p:cNvPr id="70" name="Google Shape;70;p14"/>
            <p:cNvCxnSpPr/>
            <p:nvPr/>
          </p:nvCxnSpPr>
          <p:spPr>
            <a:xfrm>
              <a:off x="2862725" y="2282317"/>
              <a:ext cx="4246800" cy="0"/>
            </a:xfrm>
            <a:prstGeom prst="straightConnector1">
              <a:avLst/>
            </a:prstGeom>
            <a:noFill/>
            <a:ln cap="flat" cmpd="sng" w="19050">
              <a:solidFill>
                <a:schemeClr val="dk2"/>
              </a:solidFill>
              <a:prstDash val="dot"/>
              <a:round/>
              <a:headEnd len="med" w="med" type="none"/>
              <a:tailEnd len="med" w="med" type="none"/>
            </a:ln>
          </p:spPr>
        </p:cxnSp>
        <p:cxnSp>
          <p:nvCxnSpPr>
            <p:cNvPr id="71" name="Google Shape;71;p14"/>
            <p:cNvCxnSpPr/>
            <p:nvPr/>
          </p:nvCxnSpPr>
          <p:spPr>
            <a:xfrm>
              <a:off x="2862725" y="3066217"/>
              <a:ext cx="4246800" cy="0"/>
            </a:xfrm>
            <a:prstGeom prst="straightConnector1">
              <a:avLst/>
            </a:prstGeom>
            <a:noFill/>
            <a:ln cap="flat" cmpd="sng" w="19050">
              <a:solidFill>
                <a:schemeClr val="dk2"/>
              </a:solidFill>
              <a:prstDash val="dot"/>
              <a:round/>
              <a:headEnd len="med" w="med" type="none"/>
              <a:tailEnd len="med" w="med" type="none"/>
            </a:ln>
          </p:spPr>
        </p:cxnSp>
        <p:cxnSp>
          <p:nvCxnSpPr>
            <p:cNvPr id="72" name="Google Shape;72;p14"/>
            <p:cNvCxnSpPr/>
            <p:nvPr/>
          </p:nvCxnSpPr>
          <p:spPr>
            <a:xfrm>
              <a:off x="2761725" y="4186917"/>
              <a:ext cx="4326900" cy="0"/>
            </a:xfrm>
            <a:prstGeom prst="straightConnector1">
              <a:avLst/>
            </a:prstGeom>
            <a:noFill/>
            <a:ln cap="flat" cmpd="sng" w="19050">
              <a:solidFill>
                <a:schemeClr val="dk2"/>
              </a:solidFill>
              <a:prstDash val="dot"/>
              <a:round/>
              <a:headEnd len="med" w="med" type="none"/>
              <a:tailEnd len="med" w="med" type="none"/>
            </a:ln>
          </p:spPr>
        </p:cxnSp>
        <p:cxnSp>
          <p:nvCxnSpPr>
            <p:cNvPr id="73" name="Google Shape;73;p14"/>
            <p:cNvCxnSpPr/>
            <p:nvPr/>
          </p:nvCxnSpPr>
          <p:spPr>
            <a:xfrm>
              <a:off x="2245775" y="3913042"/>
              <a:ext cx="4821600" cy="6600"/>
            </a:xfrm>
            <a:prstGeom prst="straightConnector1">
              <a:avLst/>
            </a:prstGeom>
            <a:noFill/>
            <a:ln cap="flat" cmpd="sng" w="19050">
              <a:solidFill>
                <a:schemeClr val="dk2"/>
              </a:solidFill>
              <a:prstDash val="dot"/>
              <a:round/>
              <a:headEnd len="med" w="med" type="none"/>
              <a:tailEnd len="med" w="med" type="none"/>
            </a:ln>
          </p:spPr>
        </p:cxnSp>
        <p:cxnSp>
          <p:nvCxnSpPr>
            <p:cNvPr id="74" name="Google Shape;74;p14"/>
            <p:cNvCxnSpPr/>
            <p:nvPr/>
          </p:nvCxnSpPr>
          <p:spPr>
            <a:xfrm>
              <a:off x="2915450" y="3376067"/>
              <a:ext cx="4162500" cy="12000"/>
            </a:xfrm>
            <a:prstGeom prst="straightConnector1">
              <a:avLst/>
            </a:prstGeom>
            <a:noFill/>
            <a:ln cap="flat" cmpd="sng" w="19050">
              <a:solidFill>
                <a:schemeClr val="dk2"/>
              </a:solidFill>
              <a:prstDash val="dot"/>
              <a:round/>
              <a:headEnd len="med" w="med" type="none"/>
              <a:tailEnd len="med" w="med" type="none"/>
            </a:ln>
          </p:spPr>
        </p:cxnSp>
        <p:cxnSp>
          <p:nvCxnSpPr>
            <p:cNvPr id="75" name="Google Shape;75;p14"/>
            <p:cNvCxnSpPr/>
            <p:nvPr/>
          </p:nvCxnSpPr>
          <p:spPr>
            <a:xfrm flipH="1" rot="10800000">
              <a:off x="2873300" y="3630167"/>
              <a:ext cx="4199400" cy="9000"/>
            </a:xfrm>
            <a:prstGeom prst="straightConnector1">
              <a:avLst/>
            </a:prstGeom>
            <a:noFill/>
            <a:ln cap="flat" cmpd="sng" w="19050">
              <a:solidFill>
                <a:schemeClr val="dk2"/>
              </a:solidFill>
              <a:prstDash val="dot"/>
              <a:round/>
              <a:headEnd len="med" w="med" type="none"/>
              <a:tailEnd len="med" w="med" type="none"/>
            </a:ln>
          </p:spPr>
        </p:cxnSp>
        <p:cxnSp>
          <p:nvCxnSpPr>
            <p:cNvPr id="76" name="Google Shape;76;p14"/>
            <p:cNvCxnSpPr/>
            <p:nvPr/>
          </p:nvCxnSpPr>
          <p:spPr>
            <a:xfrm>
              <a:off x="2952350" y="2830317"/>
              <a:ext cx="4125600" cy="5100"/>
            </a:xfrm>
            <a:prstGeom prst="straightConnector1">
              <a:avLst/>
            </a:prstGeom>
            <a:noFill/>
            <a:ln cap="flat" cmpd="sng" w="19050">
              <a:solidFill>
                <a:schemeClr val="dk2"/>
              </a:solidFill>
              <a:prstDash val="dot"/>
              <a:round/>
              <a:headEnd len="med" w="med" type="none"/>
              <a:tailEnd len="med" w="med" type="none"/>
            </a:ln>
          </p:spPr>
        </p:cxnSp>
        <p:cxnSp>
          <p:nvCxnSpPr>
            <p:cNvPr id="77" name="Google Shape;77;p14"/>
            <p:cNvCxnSpPr/>
            <p:nvPr/>
          </p:nvCxnSpPr>
          <p:spPr>
            <a:xfrm flipH="1" rot="10800000">
              <a:off x="3960500" y="2530342"/>
              <a:ext cx="3101700" cy="18900"/>
            </a:xfrm>
            <a:prstGeom prst="straightConnector1">
              <a:avLst/>
            </a:prstGeom>
            <a:noFill/>
            <a:ln cap="flat" cmpd="sng" w="19050">
              <a:solidFill>
                <a:schemeClr val="dk2"/>
              </a:solidFill>
              <a:prstDash val="dot"/>
              <a:round/>
              <a:headEnd len="med" w="med" type="none"/>
              <a:tailEnd len="med" w="med" type="none"/>
            </a:ln>
          </p:spPr>
        </p:cxnSp>
        <p:sp>
          <p:nvSpPr>
            <p:cNvPr id="78" name="Google Shape;78;p14"/>
            <p:cNvSpPr txBox="1"/>
            <p:nvPr/>
          </p:nvSpPr>
          <p:spPr>
            <a:xfrm>
              <a:off x="804325" y="1174725"/>
              <a:ext cx="6847500" cy="42885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Times New Roman"/>
                <a:buAutoNum type="romanUcPeriod"/>
              </a:pPr>
              <a:r>
                <a:rPr b="1" lang="en-GB" sz="1800">
                  <a:solidFill>
                    <a:schemeClr val="dk1"/>
                  </a:solidFill>
                  <a:latin typeface="Times New Roman"/>
                  <a:ea typeface="Times New Roman"/>
                  <a:cs typeface="Times New Roman"/>
                  <a:sym typeface="Times New Roman"/>
                </a:rPr>
                <a:t>Introduction											3</a:t>
              </a:r>
              <a:endParaRPr b="1"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AutoNum type="romanUcPeriod"/>
              </a:pPr>
              <a:r>
                <a:rPr b="1" lang="en-GB" sz="1800">
                  <a:solidFill>
                    <a:schemeClr val="dk1"/>
                  </a:solidFill>
                  <a:latin typeface="Times New Roman"/>
                  <a:ea typeface="Times New Roman"/>
                  <a:cs typeface="Times New Roman"/>
                  <a:sym typeface="Times New Roman"/>
                </a:rPr>
                <a:t>Objective											4</a:t>
              </a:r>
              <a:endParaRPr b="1"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AutoNum type="romanUcPeriod"/>
              </a:pPr>
              <a:r>
                <a:rPr b="1" lang="en-GB" sz="1800">
                  <a:solidFill>
                    <a:schemeClr val="dk1"/>
                  </a:solidFill>
                  <a:latin typeface="Times New Roman"/>
                  <a:ea typeface="Times New Roman"/>
                  <a:cs typeface="Times New Roman"/>
                  <a:sym typeface="Times New Roman"/>
                </a:rPr>
                <a:t>Scope of work 										5</a:t>
              </a:r>
              <a:endParaRPr b="1"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AutoNum type="romanUcPeriod"/>
              </a:pPr>
              <a:r>
                <a:rPr b="1" lang="en-GB" sz="1800">
                  <a:solidFill>
                    <a:schemeClr val="dk1"/>
                  </a:solidFill>
                  <a:latin typeface="Times New Roman"/>
                  <a:ea typeface="Times New Roman"/>
                  <a:cs typeface="Times New Roman"/>
                  <a:sym typeface="Times New Roman"/>
                </a:rPr>
                <a:t>Methodology 										6</a:t>
              </a:r>
              <a:endParaRPr b="1" sz="1800">
                <a:solidFill>
                  <a:schemeClr val="dk1"/>
                </a:solidFill>
                <a:latin typeface="Times New Roman"/>
                <a:ea typeface="Times New Roman"/>
                <a:cs typeface="Times New Roman"/>
                <a:sym typeface="Times New Roman"/>
              </a:endParaRPr>
            </a:p>
            <a:p>
              <a:pPr indent="0" lvl="0" marL="457200" rtl="0" algn="l">
                <a:spcBef>
                  <a:spcPts val="0"/>
                </a:spcBef>
                <a:spcAft>
                  <a:spcPts val="0"/>
                </a:spcAft>
                <a:buClr>
                  <a:schemeClr val="dk1"/>
                </a:buClr>
                <a:buSzPts val="1100"/>
                <a:buFont typeface="Arial"/>
                <a:buNone/>
              </a:pPr>
              <a:r>
                <a:rPr b="1" lang="en-GB" sz="1800">
                  <a:solidFill>
                    <a:schemeClr val="dk1"/>
                  </a:solidFill>
                  <a:latin typeface="Times New Roman"/>
                  <a:ea typeface="Times New Roman"/>
                  <a:cs typeface="Times New Roman"/>
                  <a:sym typeface="Times New Roman"/>
                </a:rPr>
                <a:t>1. Theory and Formula								7</a:t>
              </a:r>
              <a:endParaRPr b="1" sz="1800">
                <a:solidFill>
                  <a:schemeClr val="dk1"/>
                </a:solidFill>
                <a:latin typeface="Times New Roman"/>
                <a:ea typeface="Times New Roman"/>
                <a:cs typeface="Times New Roman"/>
                <a:sym typeface="Times New Roman"/>
              </a:endParaRPr>
            </a:p>
            <a:p>
              <a:pPr indent="0" lvl="0" marL="457200" rtl="0" algn="l">
                <a:spcBef>
                  <a:spcPts val="0"/>
                </a:spcBef>
                <a:spcAft>
                  <a:spcPts val="0"/>
                </a:spcAft>
                <a:buClr>
                  <a:schemeClr val="dk1"/>
                </a:buClr>
                <a:buSzPts val="1100"/>
                <a:buFont typeface="Arial"/>
                <a:buNone/>
              </a:pPr>
              <a:r>
                <a:rPr b="1" lang="en-GB" sz="1800">
                  <a:solidFill>
                    <a:schemeClr val="dk1"/>
                  </a:solidFill>
                  <a:latin typeface="Times New Roman"/>
                  <a:ea typeface="Times New Roman"/>
                  <a:cs typeface="Times New Roman"/>
                  <a:sym typeface="Times New Roman"/>
                </a:rPr>
                <a:t>2. Simulation 										8</a:t>
              </a:r>
              <a:endParaRPr b="1" sz="1800">
                <a:solidFill>
                  <a:schemeClr val="dk1"/>
                </a:solidFill>
                <a:latin typeface="Times New Roman"/>
                <a:ea typeface="Times New Roman"/>
                <a:cs typeface="Times New Roman"/>
                <a:sym typeface="Times New Roman"/>
              </a:endParaRPr>
            </a:p>
            <a:p>
              <a:pPr indent="457200" lvl="0" marL="457200" rtl="0" algn="l">
                <a:spcBef>
                  <a:spcPts val="0"/>
                </a:spcBef>
                <a:spcAft>
                  <a:spcPts val="0"/>
                </a:spcAft>
                <a:buClr>
                  <a:schemeClr val="dk1"/>
                </a:buClr>
                <a:buSzPts val="1100"/>
                <a:buFont typeface="Arial"/>
                <a:buNone/>
              </a:pPr>
              <a:r>
                <a:rPr b="1" lang="en-GB" sz="1800">
                  <a:solidFill>
                    <a:schemeClr val="dk1"/>
                  </a:solidFill>
                  <a:latin typeface="Times New Roman"/>
                  <a:ea typeface="Times New Roman"/>
                  <a:cs typeface="Times New Roman"/>
                  <a:sym typeface="Times New Roman"/>
                </a:rPr>
                <a:t>2.1. CAE 										9</a:t>
              </a:r>
              <a:endParaRPr b="1" sz="1800">
                <a:solidFill>
                  <a:schemeClr val="dk1"/>
                </a:solidFill>
                <a:latin typeface="Times New Roman"/>
                <a:ea typeface="Times New Roman"/>
                <a:cs typeface="Times New Roman"/>
                <a:sym typeface="Times New Roman"/>
              </a:endParaRPr>
            </a:p>
            <a:p>
              <a:pPr indent="457200" lvl="0" marL="457200" rtl="0" algn="l">
                <a:spcBef>
                  <a:spcPts val="0"/>
                </a:spcBef>
                <a:spcAft>
                  <a:spcPts val="0"/>
                </a:spcAft>
                <a:buClr>
                  <a:schemeClr val="dk1"/>
                </a:buClr>
                <a:buSzPts val="1100"/>
                <a:buFont typeface="Arial"/>
                <a:buNone/>
              </a:pPr>
              <a:r>
                <a:rPr b="1" lang="en-GB" sz="1800">
                  <a:solidFill>
                    <a:schemeClr val="dk1"/>
                  </a:solidFill>
                  <a:latin typeface="Times New Roman"/>
                  <a:ea typeface="Times New Roman"/>
                  <a:cs typeface="Times New Roman"/>
                  <a:sym typeface="Times New Roman"/>
                </a:rPr>
                <a:t>2.2. CAD										12</a:t>
              </a:r>
              <a:endParaRPr b="1" sz="1800">
                <a:solidFill>
                  <a:schemeClr val="dk1"/>
                </a:solidFill>
                <a:latin typeface="Times New Roman"/>
                <a:ea typeface="Times New Roman"/>
                <a:cs typeface="Times New Roman"/>
                <a:sym typeface="Times New Roman"/>
              </a:endParaRPr>
            </a:p>
            <a:p>
              <a:pPr indent="457200" lvl="0" marL="457200" rtl="0" algn="l">
                <a:spcBef>
                  <a:spcPts val="0"/>
                </a:spcBef>
                <a:spcAft>
                  <a:spcPts val="0"/>
                </a:spcAft>
                <a:buClr>
                  <a:schemeClr val="dk1"/>
                </a:buClr>
                <a:buSzPts val="1100"/>
                <a:buFont typeface="Arial"/>
                <a:buNone/>
              </a:pPr>
              <a:r>
                <a:rPr b="1" lang="en-GB" sz="1800">
                  <a:solidFill>
                    <a:schemeClr val="dk1"/>
                  </a:solidFill>
                  <a:latin typeface="Times New Roman"/>
                  <a:ea typeface="Times New Roman"/>
                  <a:cs typeface="Times New Roman"/>
                  <a:sym typeface="Times New Roman"/>
                </a:rPr>
                <a:t>2.3. CFD 										13</a:t>
              </a:r>
              <a:endParaRPr b="1"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AutoNum type="romanUcPeriod"/>
              </a:pPr>
              <a:r>
                <a:rPr b="1" lang="en-GB" sz="1800">
                  <a:solidFill>
                    <a:schemeClr val="dk1"/>
                  </a:solidFill>
                  <a:latin typeface="Times New Roman"/>
                  <a:ea typeface="Times New Roman"/>
                  <a:cs typeface="Times New Roman"/>
                  <a:sym typeface="Times New Roman"/>
                </a:rPr>
                <a:t> Technical											15</a:t>
              </a:r>
              <a:endParaRPr b="1"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AutoNum type="romanUcPeriod"/>
              </a:pPr>
              <a:r>
                <a:rPr b="1" lang="en-GB" sz="1800">
                  <a:solidFill>
                    <a:schemeClr val="dk1"/>
                  </a:solidFill>
                  <a:latin typeface="Times New Roman"/>
                  <a:ea typeface="Times New Roman"/>
                  <a:cs typeface="Times New Roman"/>
                  <a:sym typeface="Times New Roman"/>
                </a:rPr>
                <a:t>Result 												16</a:t>
              </a:r>
              <a:endParaRPr b="1"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AutoNum type="romanUcPeriod"/>
              </a:pPr>
              <a:r>
                <a:rPr b="1" lang="en-GB" sz="1800">
                  <a:solidFill>
                    <a:schemeClr val="dk1"/>
                  </a:solidFill>
                  <a:latin typeface="Times New Roman"/>
                  <a:ea typeface="Times New Roman"/>
                  <a:cs typeface="Times New Roman"/>
                  <a:sym typeface="Times New Roman"/>
                </a:rPr>
                <a:t>Conclusion  										17</a:t>
              </a:r>
              <a:endParaRPr b="1"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AutoNum type="romanUcPeriod"/>
              </a:pPr>
              <a:r>
                <a:rPr b="1" lang="en-GB" sz="1800">
                  <a:solidFill>
                    <a:schemeClr val="dk1"/>
                  </a:solidFill>
                  <a:latin typeface="Times New Roman"/>
                  <a:ea typeface="Times New Roman"/>
                  <a:cs typeface="Times New Roman"/>
                  <a:sym typeface="Times New Roman"/>
                </a:rPr>
                <a:t>References 											18</a:t>
              </a:r>
              <a:endParaRPr b="1"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grpSp>
      <p:cxnSp>
        <p:nvCxnSpPr>
          <p:cNvPr id="79" name="Google Shape;79;p14"/>
          <p:cNvCxnSpPr/>
          <p:nvPr/>
        </p:nvCxnSpPr>
        <p:spPr>
          <a:xfrm>
            <a:off x="2704225" y="4308150"/>
            <a:ext cx="4395600" cy="0"/>
          </a:xfrm>
          <a:prstGeom prst="straightConnector1">
            <a:avLst/>
          </a:prstGeom>
          <a:noFill/>
          <a:ln cap="flat" cmpd="sng" w="19050">
            <a:solidFill>
              <a:schemeClr val="dk2"/>
            </a:solidFill>
            <a:prstDash val="dot"/>
            <a:round/>
            <a:headEnd len="med" w="med" type="none"/>
            <a:tailEnd len="med" w="med" type="none"/>
          </a:ln>
        </p:spPr>
      </p:cxnSp>
      <p:cxnSp>
        <p:nvCxnSpPr>
          <p:cNvPr id="80" name="Google Shape;80;p14"/>
          <p:cNvCxnSpPr/>
          <p:nvPr/>
        </p:nvCxnSpPr>
        <p:spPr>
          <a:xfrm>
            <a:off x="2675975" y="4591925"/>
            <a:ext cx="4395600" cy="0"/>
          </a:xfrm>
          <a:prstGeom prst="straightConnector1">
            <a:avLst/>
          </a:prstGeom>
          <a:noFill/>
          <a:ln cap="flat" cmpd="sng" w="19050">
            <a:solidFill>
              <a:schemeClr val="dk2"/>
            </a:solidFill>
            <a:prstDash val="dot"/>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5"/>
          <p:cNvSpPr/>
          <p:nvPr/>
        </p:nvSpPr>
        <p:spPr>
          <a:xfrm>
            <a:off x="0" y="-305225"/>
            <a:ext cx="9288200" cy="1115650"/>
          </a:xfrm>
          <a:prstGeom prst="flowChartPunchedTape">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rPr lang="en-GB" sz="2800">
                <a:solidFill>
                  <a:schemeClr val="dk1"/>
                </a:solidFill>
                <a:latin typeface="Roboto Black"/>
                <a:ea typeface="Roboto Black"/>
                <a:cs typeface="Roboto Black"/>
                <a:sym typeface="Roboto Black"/>
              </a:rPr>
              <a:t>I.		</a:t>
            </a:r>
            <a:r>
              <a:rPr lang="en-GB" sz="2800">
                <a:solidFill>
                  <a:schemeClr val="dk1"/>
                </a:solidFill>
                <a:latin typeface="Roboto Black"/>
                <a:ea typeface="Roboto Black"/>
                <a:cs typeface="Roboto Black"/>
                <a:sym typeface="Roboto Black"/>
              </a:rPr>
              <a:t>Introduction</a:t>
            </a:r>
            <a:endParaRPr sz="2400">
              <a:latin typeface="Roboto Black"/>
              <a:ea typeface="Roboto Black"/>
              <a:cs typeface="Roboto Black"/>
              <a:sym typeface="Roboto Black"/>
            </a:endParaRPr>
          </a:p>
        </p:txBody>
      </p:sp>
      <p:sp>
        <p:nvSpPr>
          <p:cNvPr id="86" name="Google Shape;86;p15"/>
          <p:cNvSpPr txBox="1"/>
          <p:nvPr>
            <p:ph idx="12" type="sldNum"/>
          </p:nvPr>
        </p:nvSpPr>
        <p:spPr>
          <a:xfrm>
            <a:off x="7962053" y="4663225"/>
            <a:ext cx="1059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GB" sz="1200">
                <a:solidFill>
                  <a:schemeClr val="dk1"/>
                </a:solidFill>
              </a:rPr>
              <a:t>Page </a:t>
            </a:r>
            <a:fld id="{00000000-1234-1234-1234-123412341234}" type="slidenum">
              <a:rPr b="1" lang="en-GB" sz="1200">
                <a:solidFill>
                  <a:schemeClr val="dk1"/>
                </a:solidFill>
              </a:rPr>
              <a:t>‹#›</a:t>
            </a:fld>
            <a:r>
              <a:rPr lang="en-GB" sz="1200">
                <a:solidFill>
                  <a:schemeClr val="dk1"/>
                </a:solidFill>
              </a:rPr>
              <a:t> of </a:t>
            </a:r>
            <a:r>
              <a:rPr b="1" lang="en-GB" sz="1200">
                <a:solidFill>
                  <a:schemeClr val="dk1"/>
                </a:solidFill>
              </a:rPr>
              <a:t>18</a:t>
            </a:r>
            <a:endParaRPr sz="1200">
              <a:solidFill>
                <a:schemeClr val="dk1"/>
              </a:solidFill>
            </a:endParaRPr>
          </a:p>
        </p:txBody>
      </p:sp>
      <p:sp>
        <p:nvSpPr>
          <p:cNvPr id="87" name="Google Shape;87;p15"/>
          <p:cNvSpPr txBox="1"/>
          <p:nvPr/>
        </p:nvSpPr>
        <p:spPr>
          <a:xfrm>
            <a:off x="762000" y="1014175"/>
            <a:ext cx="7815900" cy="972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n-GB" sz="1550">
                <a:solidFill>
                  <a:schemeClr val="dk1"/>
                </a:solidFill>
                <a:latin typeface="Times New Roman"/>
                <a:ea typeface="Times New Roman"/>
                <a:cs typeface="Times New Roman"/>
                <a:sym typeface="Times New Roman"/>
              </a:rPr>
              <a:t>       The </a:t>
            </a:r>
            <a:r>
              <a:rPr b="1" lang="en-GB" sz="1550">
                <a:solidFill>
                  <a:schemeClr val="dk1"/>
                </a:solidFill>
                <a:latin typeface="Times New Roman"/>
                <a:ea typeface="Times New Roman"/>
                <a:cs typeface="Times New Roman"/>
                <a:sym typeface="Times New Roman"/>
              </a:rPr>
              <a:t>centrifugal pump</a:t>
            </a:r>
            <a:r>
              <a:rPr lang="en-GB" sz="1550">
                <a:solidFill>
                  <a:schemeClr val="dk1"/>
                </a:solidFill>
                <a:latin typeface="Times New Roman"/>
                <a:ea typeface="Times New Roman"/>
                <a:cs typeface="Times New Roman"/>
                <a:sym typeface="Times New Roman"/>
              </a:rPr>
              <a:t>, which was used to move liquids. In a centrifugal pump, fluid entered the center of a rotating impeller and was pushed outward by rotation. This increased the fluid’s speed and pressure. The volute casing then converted this speed into pressure energy.</a:t>
            </a:r>
            <a:endParaRPr sz="1550">
              <a:solidFill>
                <a:schemeClr val="dk1"/>
              </a:solidFill>
              <a:latin typeface="Times New Roman"/>
              <a:ea typeface="Times New Roman"/>
              <a:cs typeface="Times New Roman"/>
              <a:sym typeface="Times New Roman"/>
            </a:endParaRPr>
          </a:p>
        </p:txBody>
      </p:sp>
      <p:pic>
        <p:nvPicPr>
          <p:cNvPr id="88" name="Google Shape;88;p15"/>
          <p:cNvPicPr preferRelativeResize="0"/>
          <p:nvPr/>
        </p:nvPicPr>
        <p:blipFill>
          <a:blip r:embed="rId3">
            <a:alphaModFix/>
          </a:blip>
          <a:stretch>
            <a:fillRect/>
          </a:stretch>
        </p:blipFill>
        <p:spPr>
          <a:xfrm>
            <a:off x="762000" y="2391825"/>
            <a:ext cx="4215525" cy="2496600"/>
          </a:xfrm>
          <a:prstGeom prst="rect">
            <a:avLst/>
          </a:prstGeom>
          <a:noFill/>
          <a:ln>
            <a:noFill/>
          </a:ln>
        </p:spPr>
      </p:pic>
      <p:pic>
        <p:nvPicPr>
          <p:cNvPr id="89" name="Google Shape;89;p15"/>
          <p:cNvPicPr preferRelativeResize="0"/>
          <p:nvPr/>
        </p:nvPicPr>
        <p:blipFill rotWithShape="1">
          <a:blip r:embed="rId4">
            <a:alphaModFix/>
          </a:blip>
          <a:srcRect b="4735" l="7046" r="20311" t="0"/>
          <a:stretch/>
        </p:blipFill>
        <p:spPr>
          <a:xfrm>
            <a:off x="5904375" y="2731100"/>
            <a:ext cx="2114550" cy="2095500"/>
          </a:xfrm>
          <a:prstGeom prst="rect">
            <a:avLst/>
          </a:prstGeom>
          <a:noFill/>
          <a:ln>
            <a:noFill/>
          </a:ln>
        </p:spPr>
      </p:pic>
      <p:sp>
        <p:nvSpPr>
          <p:cNvPr id="90" name="Google Shape;90;p15"/>
          <p:cNvSpPr/>
          <p:nvPr/>
        </p:nvSpPr>
        <p:spPr>
          <a:xfrm>
            <a:off x="2238375" y="3085050"/>
            <a:ext cx="1471200" cy="1434000"/>
          </a:xfrm>
          <a:prstGeom prst="ellipse">
            <a:avLst/>
          </a:prstGeom>
          <a:no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lt1"/>
              </a:highlight>
            </a:endParaRPr>
          </a:p>
        </p:txBody>
      </p:sp>
      <p:cxnSp>
        <p:nvCxnSpPr>
          <p:cNvPr id="91" name="Google Shape;91;p15"/>
          <p:cNvCxnSpPr>
            <a:stCxn id="90" idx="6"/>
            <a:endCxn id="89" idx="1"/>
          </p:cNvCxnSpPr>
          <p:nvPr/>
        </p:nvCxnSpPr>
        <p:spPr>
          <a:xfrm flipH="1" rot="10800000">
            <a:off x="3709575" y="3778950"/>
            <a:ext cx="2194800" cy="23100"/>
          </a:xfrm>
          <a:prstGeom prst="straightConnector1">
            <a:avLst/>
          </a:prstGeom>
          <a:noFill/>
          <a:ln cap="flat" cmpd="sng" w="38100">
            <a:solidFill>
              <a:schemeClr val="accent4"/>
            </a:solidFill>
            <a:prstDash val="solid"/>
            <a:round/>
            <a:headEnd len="med" w="med"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6"/>
          <p:cNvSpPr/>
          <p:nvPr/>
        </p:nvSpPr>
        <p:spPr>
          <a:xfrm>
            <a:off x="0" y="-305225"/>
            <a:ext cx="9288200" cy="1115650"/>
          </a:xfrm>
          <a:prstGeom prst="flowChartPunchedTape">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rPr lang="en-GB" sz="2800">
                <a:solidFill>
                  <a:schemeClr val="dk1"/>
                </a:solidFill>
                <a:latin typeface="Roboto Black"/>
                <a:ea typeface="Roboto Black"/>
                <a:cs typeface="Roboto Black"/>
                <a:sym typeface="Roboto Black"/>
              </a:rPr>
              <a:t>II.		</a:t>
            </a:r>
            <a:r>
              <a:rPr lang="en-GB" sz="2800">
                <a:solidFill>
                  <a:schemeClr val="dk1"/>
                </a:solidFill>
                <a:latin typeface="Roboto Black"/>
                <a:ea typeface="Roboto Black"/>
                <a:cs typeface="Roboto Black"/>
                <a:sym typeface="Roboto Black"/>
              </a:rPr>
              <a:t>Objective</a:t>
            </a:r>
            <a:endParaRPr sz="2400">
              <a:latin typeface="Roboto Black"/>
              <a:ea typeface="Roboto Black"/>
              <a:cs typeface="Roboto Black"/>
              <a:sym typeface="Roboto Black"/>
            </a:endParaRPr>
          </a:p>
        </p:txBody>
      </p:sp>
      <p:sp>
        <p:nvSpPr>
          <p:cNvPr id="97" name="Google Shape;97;p16"/>
          <p:cNvSpPr txBox="1"/>
          <p:nvPr/>
        </p:nvSpPr>
        <p:spPr>
          <a:xfrm>
            <a:off x="2347025" y="2617725"/>
            <a:ext cx="3000000" cy="338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t/>
            </a:r>
            <a:endParaRPr b="1" sz="1000">
              <a:solidFill>
                <a:schemeClr val="dk2"/>
              </a:solidFill>
            </a:endParaRPr>
          </a:p>
        </p:txBody>
      </p:sp>
      <p:sp>
        <p:nvSpPr>
          <p:cNvPr id="98" name="Google Shape;98;p16"/>
          <p:cNvSpPr txBox="1"/>
          <p:nvPr>
            <p:ph idx="12" type="sldNum"/>
          </p:nvPr>
        </p:nvSpPr>
        <p:spPr>
          <a:xfrm>
            <a:off x="7962053" y="4663225"/>
            <a:ext cx="1059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GB" sz="1200">
                <a:solidFill>
                  <a:schemeClr val="dk1"/>
                </a:solidFill>
              </a:rPr>
              <a:t>Page </a:t>
            </a:r>
            <a:fld id="{00000000-1234-1234-1234-123412341234}" type="slidenum">
              <a:rPr b="1" lang="en-GB" sz="1200">
                <a:solidFill>
                  <a:schemeClr val="dk1"/>
                </a:solidFill>
              </a:rPr>
              <a:t>‹#›</a:t>
            </a:fld>
            <a:r>
              <a:rPr lang="en-GB" sz="1200">
                <a:solidFill>
                  <a:schemeClr val="dk1"/>
                </a:solidFill>
              </a:rPr>
              <a:t> of </a:t>
            </a:r>
            <a:r>
              <a:rPr b="1" lang="en-GB" sz="1200">
                <a:solidFill>
                  <a:schemeClr val="dk1"/>
                </a:solidFill>
              </a:rPr>
              <a:t>18</a:t>
            </a:r>
            <a:endParaRPr b="1" sz="1200">
              <a:solidFill>
                <a:schemeClr val="dk1"/>
              </a:solidFill>
            </a:endParaRPr>
          </a:p>
        </p:txBody>
      </p:sp>
      <p:sp>
        <p:nvSpPr>
          <p:cNvPr id="99" name="Google Shape;99;p16"/>
          <p:cNvSpPr txBox="1"/>
          <p:nvPr/>
        </p:nvSpPr>
        <p:spPr>
          <a:xfrm>
            <a:off x="-316450" y="3990325"/>
            <a:ext cx="8813700" cy="4617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t/>
            </a:r>
            <a:endParaRPr sz="1800">
              <a:solidFill>
                <a:schemeClr val="dk1"/>
              </a:solidFill>
              <a:highlight>
                <a:srgbClr val="FFFFFF"/>
              </a:highlight>
              <a:latin typeface="Times New Roman"/>
              <a:ea typeface="Times New Roman"/>
              <a:cs typeface="Times New Roman"/>
              <a:sym typeface="Times New Roman"/>
            </a:endParaRPr>
          </a:p>
        </p:txBody>
      </p:sp>
      <p:pic>
        <p:nvPicPr>
          <p:cNvPr id="100" name="Google Shape;100;p16"/>
          <p:cNvPicPr preferRelativeResize="0"/>
          <p:nvPr/>
        </p:nvPicPr>
        <p:blipFill>
          <a:blip r:embed="rId3">
            <a:alphaModFix/>
          </a:blip>
          <a:stretch>
            <a:fillRect/>
          </a:stretch>
        </p:blipFill>
        <p:spPr>
          <a:xfrm>
            <a:off x="230725" y="1259693"/>
            <a:ext cx="1722821" cy="1435684"/>
          </a:xfrm>
          <a:prstGeom prst="rect">
            <a:avLst/>
          </a:prstGeom>
          <a:noFill/>
          <a:ln>
            <a:noFill/>
          </a:ln>
        </p:spPr>
      </p:pic>
      <p:pic>
        <p:nvPicPr>
          <p:cNvPr id="101" name="Google Shape;101;p16"/>
          <p:cNvPicPr preferRelativeResize="0"/>
          <p:nvPr/>
        </p:nvPicPr>
        <p:blipFill>
          <a:blip r:embed="rId4">
            <a:alphaModFix/>
          </a:blip>
          <a:stretch>
            <a:fillRect/>
          </a:stretch>
        </p:blipFill>
        <p:spPr>
          <a:xfrm>
            <a:off x="2305504" y="1212575"/>
            <a:ext cx="1699099" cy="1699100"/>
          </a:xfrm>
          <a:prstGeom prst="rect">
            <a:avLst/>
          </a:prstGeom>
          <a:noFill/>
          <a:ln>
            <a:noFill/>
          </a:ln>
        </p:spPr>
      </p:pic>
      <p:pic>
        <p:nvPicPr>
          <p:cNvPr id="102" name="Google Shape;102;p16"/>
          <p:cNvPicPr preferRelativeResize="0"/>
          <p:nvPr/>
        </p:nvPicPr>
        <p:blipFill rotWithShape="1">
          <a:blip r:embed="rId5">
            <a:alphaModFix/>
          </a:blip>
          <a:srcRect b="3177" l="10806" r="15333" t="8068"/>
          <a:stretch/>
        </p:blipFill>
        <p:spPr>
          <a:xfrm>
            <a:off x="4528474" y="1268200"/>
            <a:ext cx="2017335" cy="1587848"/>
          </a:xfrm>
          <a:prstGeom prst="rect">
            <a:avLst/>
          </a:prstGeom>
          <a:noFill/>
          <a:ln>
            <a:noFill/>
          </a:ln>
        </p:spPr>
      </p:pic>
      <p:pic>
        <p:nvPicPr>
          <p:cNvPr id="103" name="Google Shape;103;p16"/>
          <p:cNvPicPr preferRelativeResize="0"/>
          <p:nvPr/>
        </p:nvPicPr>
        <p:blipFill rotWithShape="1">
          <a:blip r:embed="rId6">
            <a:alphaModFix/>
          </a:blip>
          <a:srcRect b="0" l="11196" r="8944" t="0"/>
          <a:stretch/>
        </p:blipFill>
        <p:spPr>
          <a:xfrm>
            <a:off x="6831542" y="1212575"/>
            <a:ext cx="2264849" cy="1867750"/>
          </a:xfrm>
          <a:prstGeom prst="rect">
            <a:avLst/>
          </a:prstGeom>
          <a:noFill/>
          <a:ln>
            <a:noFill/>
          </a:ln>
        </p:spPr>
      </p:pic>
      <p:sp>
        <p:nvSpPr>
          <p:cNvPr id="104" name="Google Shape;104;p16"/>
          <p:cNvSpPr txBox="1"/>
          <p:nvPr/>
        </p:nvSpPr>
        <p:spPr>
          <a:xfrm>
            <a:off x="-26475" y="2956425"/>
            <a:ext cx="2331900" cy="18471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1"/>
              </a:buClr>
              <a:buSzPts val="1600"/>
              <a:buFont typeface="Times New Roman"/>
              <a:buChar char="●"/>
            </a:pPr>
            <a:r>
              <a:rPr b="1" lang="en-GB" sz="1600">
                <a:solidFill>
                  <a:schemeClr val="dk1"/>
                </a:solidFill>
                <a:highlight>
                  <a:schemeClr val="lt1"/>
                </a:highlight>
                <a:latin typeface="Times New Roman"/>
                <a:ea typeface="Times New Roman"/>
                <a:cs typeface="Times New Roman"/>
                <a:sym typeface="Times New Roman"/>
              </a:rPr>
              <a:t>Evaluate Pump Performance :</a:t>
            </a:r>
            <a:r>
              <a:rPr lang="en-GB" sz="1600">
                <a:solidFill>
                  <a:schemeClr val="dk1"/>
                </a:solidFill>
                <a:highlight>
                  <a:schemeClr val="lt1"/>
                </a:highlight>
                <a:latin typeface="Times New Roman"/>
                <a:ea typeface="Times New Roman"/>
                <a:cs typeface="Times New Roman"/>
                <a:sym typeface="Times New Roman"/>
              </a:rPr>
              <a:t> Compare theoretical predictions with</a:t>
            </a:r>
            <a:r>
              <a:rPr lang="en-GB" sz="1600">
                <a:solidFill>
                  <a:schemeClr val="dk1"/>
                </a:solidFill>
                <a:highlight>
                  <a:schemeClr val="lt1"/>
                </a:highlight>
                <a:latin typeface="Times New Roman"/>
                <a:ea typeface="Times New Roman"/>
                <a:cs typeface="Times New Roman"/>
                <a:sym typeface="Times New Roman"/>
              </a:rPr>
              <a:t> </a:t>
            </a:r>
            <a:r>
              <a:rPr lang="en-GB" sz="1600">
                <a:solidFill>
                  <a:schemeClr val="dk1"/>
                </a:solidFill>
                <a:highlight>
                  <a:schemeClr val="lt1"/>
                </a:highlight>
                <a:latin typeface="Times New Roman"/>
                <a:ea typeface="Times New Roman"/>
                <a:cs typeface="Times New Roman"/>
                <a:sym typeface="Times New Roman"/>
              </a:rPr>
              <a:t>experimental results. </a:t>
            </a:r>
            <a:endParaRPr sz="1200"/>
          </a:p>
        </p:txBody>
      </p:sp>
      <p:sp>
        <p:nvSpPr>
          <p:cNvPr id="105" name="Google Shape;105;p16"/>
          <p:cNvSpPr txBox="1"/>
          <p:nvPr/>
        </p:nvSpPr>
        <p:spPr>
          <a:xfrm>
            <a:off x="2148425" y="2956425"/>
            <a:ext cx="2265000" cy="18471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1"/>
              </a:buClr>
              <a:buSzPts val="1600"/>
              <a:buFont typeface="Times New Roman"/>
              <a:buChar char="●"/>
            </a:pPr>
            <a:r>
              <a:rPr b="1" lang="en-GB" sz="1600">
                <a:solidFill>
                  <a:schemeClr val="dk1"/>
                </a:solidFill>
                <a:latin typeface="Times New Roman"/>
                <a:ea typeface="Times New Roman"/>
                <a:cs typeface="Times New Roman"/>
                <a:sym typeface="Times New Roman"/>
              </a:rPr>
              <a:t>Diagnose System Issues</a:t>
            </a:r>
            <a:r>
              <a:rPr b="1" lang="en-GB" sz="1600">
                <a:solidFill>
                  <a:schemeClr val="dk1"/>
                </a:solidFill>
                <a:highlight>
                  <a:schemeClr val="lt1"/>
                </a:highlight>
                <a:latin typeface="Times New Roman"/>
                <a:ea typeface="Times New Roman"/>
                <a:cs typeface="Times New Roman"/>
                <a:sym typeface="Times New Roman"/>
              </a:rPr>
              <a:t>:</a:t>
            </a:r>
            <a:r>
              <a:rPr lang="en-GB" sz="1600">
                <a:solidFill>
                  <a:schemeClr val="dk1"/>
                </a:solidFill>
                <a:highlight>
                  <a:schemeClr val="lt1"/>
                </a:highlight>
                <a:latin typeface="Times New Roman"/>
                <a:ea typeface="Times New Roman"/>
                <a:cs typeface="Times New Roman"/>
                <a:sym typeface="Times New Roman"/>
              </a:rPr>
              <a:t> Identify testing discrepancies and improve system reliability. </a:t>
            </a:r>
            <a:endParaRPr sz="1600">
              <a:solidFill>
                <a:schemeClr val="dk1"/>
              </a:solidFill>
              <a:highlight>
                <a:schemeClr val="lt1"/>
              </a:highlight>
              <a:latin typeface="Times New Roman"/>
              <a:ea typeface="Times New Roman"/>
              <a:cs typeface="Times New Roman"/>
              <a:sym typeface="Times New Roman"/>
            </a:endParaRPr>
          </a:p>
        </p:txBody>
      </p:sp>
      <p:sp>
        <p:nvSpPr>
          <p:cNvPr id="106" name="Google Shape;106;p16"/>
          <p:cNvSpPr txBox="1"/>
          <p:nvPr/>
        </p:nvSpPr>
        <p:spPr>
          <a:xfrm>
            <a:off x="4123950" y="3013200"/>
            <a:ext cx="2534700" cy="15639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1"/>
              </a:buClr>
              <a:buSzPts val="1600"/>
              <a:buFont typeface="Times New Roman"/>
              <a:buChar char="●"/>
            </a:pPr>
            <a:r>
              <a:rPr b="1" lang="en-GB" sz="1600">
                <a:solidFill>
                  <a:schemeClr val="dk1"/>
                </a:solidFill>
                <a:highlight>
                  <a:schemeClr val="lt1"/>
                </a:highlight>
                <a:latin typeface="Times New Roman"/>
                <a:ea typeface="Times New Roman"/>
                <a:cs typeface="Times New Roman"/>
                <a:sym typeface="Times New Roman"/>
              </a:rPr>
              <a:t>Analyze Performance Characteristics :</a:t>
            </a:r>
            <a:r>
              <a:rPr lang="en-GB" sz="1600">
                <a:solidFill>
                  <a:schemeClr val="dk1"/>
                </a:solidFill>
                <a:highlight>
                  <a:schemeClr val="lt1"/>
                </a:highlight>
                <a:latin typeface="Times New Roman"/>
                <a:ea typeface="Times New Roman"/>
                <a:cs typeface="Times New Roman"/>
                <a:sym typeface="Times New Roman"/>
              </a:rPr>
              <a:t> Plot and interpret pump and flow characteristic curves. </a:t>
            </a:r>
            <a:endParaRPr sz="1600">
              <a:solidFill>
                <a:schemeClr val="dk1"/>
              </a:solidFill>
              <a:highlight>
                <a:schemeClr val="lt1"/>
              </a:highlight>
              <a:latin typeface="Times New Roman"/>
              <a:ea typeface="Times New Roman"/>
              <a:cs typeface="Times New Roman"/>
              <a:sym typeface="Times New Roman"/>
            </a:endParaRPr>
          </a:p>
        </p:txBody>
      </p:sp>
      <p:sp>
        <p:nvSpPr>
          <p:cNvPr id="107" name="Google Shape;107;p16"/>
          <p:cNvSpPr txBox="1"/>
          <p:nvPr/>
        </p:nvSpPr>
        <p:spPr>
          <a:xfrm>
            <a:off x="6545800" y="3013200"/>
            <a:ext cx="2534700" cy="12807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1"/>
              </a:buClr>
              <a:buSzPts val="1600"/>
              <a:buFont typeface="Times New Roman"/>
              <a:buChar char="●"/>
            </a:pPr>
            <a:r>
              <a:rPr b="1" lang="en-GB" sz="1600">
                <a:solidFill>
                  <a:schemeClr val="dk1"/>
                </a:solidFill>
                <a:highlight>
                  <a:schemeClr val="lt1"/>
                </a:highlight>
                <a:latin typeface="Times New Roman"/>
                <a:ea typeface="Times New Roman"/>
                <a:cs typeface="Times New Roman"/>
                <a:sym typeface="Times New Roman"/>
              </a:rPr>
              <a:t>Optimize Efficiency :</a:t>
            </a:r>
            <a:r>
              <a:rPr lang="en-GB" sz="1600">
                <a:solidFill>
                  <a:schemeClr val="dk1"/>
                </a:solidFill>
                <a:highlight>
                  <a:schemeClr val="lt1"/>
                </a:highlight>
                <a:latin typeface="Times New Roman"/>
                <a:ea typeface="Times New Roman"/>
                <a:cs typeface="Times New Roman"/>
                <a:sym typeface="Times New Roman"/>
              </a:rPr>
              <a:t> Determine the most efficient operating conditions.  </a:t>
            </a:r>
            <a:endParaRPr sz="1600">
              <a:solidFill>
                <a:schemeClr val="dk1"/>
              </a:solidFill>
              <a:highlight>
                <a:schemeClr val="lt1"/>
              </a:highlight>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p:nvPr/>
        </p:nvSpPr>
        <p:spPr>
          <a:xfrm>
            <a:off x="0" y="-305225"/>
            <a:ext cx="9848125" cy="1115650"/>
          </a:xfrm>
          <a:prstGeom prst="flowChartPunchedTape">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rPr lang="en-GB" sz="2800">
                <a:solidFill>
                  <a:schemeClr val="dk1"/>
                </a:solidFill>
                <a:latin typeface="Roboto Black"/>
                <a:ea typeface="Roboto Black"/>
                <a:cs typeface="Roboto Black"/>
                <a:sym typeface="Roboto Black"/>
              </a:rPr>
              <a:t>III.		</a:t>
            </a:r>
            <a:r>
              <a:rPr lang="en-GB" sz="2800">
                <a:solidFill>
                  <a:schemeClr val="dk1"/>
                </a:solidFill>
                <a:latin typeface="Roboto Black"/>
                <a:ea typeface="Roboto Black"/>
                <a:cs typeface="Roboto Black"/>
                <a:sym typeface="Roboto Black"/>
              </a:rPr>
              <a:t>Scope of work</a:t>
            </a:r>
            <a:endParaRPr sz="3400">
              <a:solidFill>
                <a:schemeClr val="dk1"/>
              </a:solidFill>
              <a:latin typeface="Roboto Black"/>
              <a:ea typeface="Roboto Black"/>
              <a:cs typeface="Roboto Black"/>
              <a:sym typeface="Roboto Black"/>
            </a:endParaRPr>
          </a:p>
        </p:txBody>
      </p:sp>
      <p:sp>
        <p:nvSpPr>
          <p:cNvPr id="113" name="Google Shape;113;p17"/>
          <p:cNvSpPr txBox="1"/>
          <p:nvPr/>
        </p:nvSpPr>
        <p:spPr>
          <a:xfrm>
            <a:off x="862643" y="2944961"/>
            <a:ext cx="2129100" cy="240300"/>
          </a:xfrm>
          <a:prstGeom prst="rect">
            <a:avLst/>
          </a:prstGeom>
          <a:noFill/>
          <a:ln>
            <a:noFill/>
          </a:ln>
        </p:spPr>
        <p:txBody>
          <a:bodyPr anchorCtr="0" anchor="t" bIns="64900" lIns="64900" spcFirstLastPara="1" rIns="64900" wrap="square" tIns="64900">
            <a:spAutoFit/>
          </a:bodyPr>
          <a:lstStyle/>
          <a:p>
            <a:pPr indent="0" lvl="0" marL="0" rtl="0" algn="r">
              <a:spcBef>
                <a:spcPts val="0"/>
              </a:spcBef>
              <a:spcAft>
                <a:spcPts val="0"/>
              </a:spcAft>
              <a:buNone/>
            </a:pPr>
            <a:r>
              <a:t/>
            </a:r>
            <a:endParaRPr b="1" sz="710">
              <a:solidFill>
                <a:schemeClr val="dk1"/>
              </a:solidFill>
            </a:endParaRPr>
          </a:p>
        </p:txBody>
      </p:sp>
      <p:sp>
        <p:nvSpPr>
          <p:cNvPr id="114" name="Google Shape;114;p17"/>
          <p:cNvSpPr txBox="1"/>
          <p:nvPr>
            <p:ph idx="12" type="sldNum"/>
          </p:nvPr>
        </p:nvSpPr>
        <p:spPr>
          <a:xfrm>
            <a:off x="7962053" y="4663225"/>
            <a:ext cx="1059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GB" sz="1200">
                <a:solidFill>
                  <a:schemeClr val="dk1"/>
                </a:solidFill>
              </a:rPr>
              <a:t>Page </a:t>
            </a:r>
            <a:fld id="{00000000-1234-1234-1234-123412341234}" type="slidenum">
              <a:rPr b="1" lang="en-GB" sz="1200">
                <a:solidFill>
                  <a:schemeClr val="dk1"/>
                </a:solidFill>
              </a:rPr>
              <a:t>‹#›</a:t>
            </a:fld>
            <a:r>
              <a:rPr lang="en-GB" sz="1200">
                <a:solidFill>
                  <a:schemeClr val="dk1"/>
                </a:solidFill>
              </a:rPr>
              <a:t> of </a:t>
            </a:r>
            <a:r>
              <a:rPr b="1" lang="en-GB" sz="1200">
                <a:solidFill>
                  <a:schemeClr val="dk1"/>
                </a:solidFill>
              </a:rPr>
              <a:t>18</a:t>
            </a:r>
            <a:endParaRPr sz="1200">
              <a:solidFill>
                <a:schemeClr val="dk1"/>
              </a:solidFill>
            </a:endParaRPr>
          </a:p>
        </p:txBody>
      </p:sp>
      <p:sp>
        <p:nvSpPr>
          <p:cNvPr id="115" name="Google Shape;115;p17"/>
          <p:cNvSpPr/>
          <p:nvPr/>
        </p:nvSpPr>
        <p:spPr>
          <a:xfrm>
            <a:off x="160803" y="1473976"/>
            <a:ext cx="2226600" cy="1261200"/>
          </a:xfrm>
          <a:prstGeom prst="roundRect">
            <a:avLst>
              <a:gd fmla="val 16667" name="adj"/>
            </a:avLst>
          </a:prstGeom>
          <a:solidFill>
            <a:schemeClr val="lt2"/>
          </a:solidFill>
          <a:ln cap="flat" cmpd="sng" w="7575">
            <a:solidFill>
              <a:schemeClr val="dk2"/>
            </a:solidFill>
            <a:prstDash val="solid"/>
            <a:round/>
            <a:headEnd len="sm" w="sm" type="none"/>
            <a:tailEnd len="sm" w="sm" type="none"/>
          </a:ln>
        </p:spPr>
        <p:txBody>
          <a:bodyPr anchorCtr="0" anchor="t" bIns="72675" lIns="72675" spcFirstLastPara="1" rIns="72675" wrap="square" tIns="72675">
            <a:noAutofit/>
          </a:bodyPr>
          <a:lstStyle/>
          <a:p>
            <a:pPr indent="0" lvl="0" marL="0" rtl="0" algn="l">
              <a:spcBef>
                <a:spcPts val="0"/>
              </a:spcBef>
              <a:spcAft>
                <a:spcPts val="0"/>
              </a:spcAft>
              <a:buNone/>
            </a:pPr>
            <a:r>
              <a:rPr b="1" lang="en-GB" sz="954">
                <a:solidFill>
                  <a:schemeClr val="dk1"/>
                </a:solidFill>
                <a:latin typeface="Times New Roman"/>
                <a:ea typeface="Times New Roman"/>
                <a:cs typeface="Times New Roman"/>
                <a:sym typeface="Times New Roman"/>
              </a:rPr>
              <a:t>BAN THUNPISEY</a:t>
            </a:r>
            <a:endParaRPr b="1" sz="954">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954">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954">
              <a:solidFill>
                <a:schemeClr val="dk1"/>
              </a:solidFill>
              <a:latin typeface="Times New Roman"/>
              <a:ea typeface="Times New Roman"/>
              <a:cs typeface="Times New Roman"/>
              <a:sym typeface="Times New Roman"/>
            </a:endParaRPr>
          </a:p>
        </p:txBody>
      </p:sp>
      <p:sp>
        <p:nvSpPr>
          <p:cNvPr id="116" name="Google Shape;116;p17"/>
          <p:cNvSpPr/>
          <p:nvPr/>
        </p:nvSpPr>
        <p:spPr>
          <a:xfrm>
            <a:off x="2548468" y="1473976"/>
            <a:ext cx="2226600" cy="1261200"/>
          </a:xfrm>
          <a:prstGeom prst="roundRect">
            <a:avLst>
              <a:gd fmla="val 16667" name="adj"/>
            </a:avLst>
          </a:prstGeom>
          <a:solidFill>
            <a:schemeClr val="lt2"/>
          </a:solidFill>
          <a:ln cap="flat" cmpd="sng" w="7575">
            <a:solidFill>
              <a:schemeClr val="dk2"/>
            </a:solidFill>
            <a:prstDash val="solid"/>
            <a:round/>
            <a:headEnd len="sm" w="sm" type="none"/>
            <a:tailEnd len="sm" w="sm" type="none"/>
          </a:ln>
        </p:spPr>
        <p:txBody>
          <a:bodyPr anchorCtr="0" anchor="t" bIns="72675" lIns="72675" spcFirstLastPara="1" rIns="72675" wrap="square" tIns="72675">
            <a:noAutofit/>
          </a:bodyPr>
          <a:lstStyle/>
          <a:p>
            <a:pPr indent="0" lvl="0" marL="0" rtl="0" algn="l">
              <a:spcBef>
                <a:spcPts val="0"/>
              </a:spcBef>
              <a:spcAft>
                <a:spcPts val="0"/>
              </a:spcAft>
              <a:buNone/>
            </a:pPr>
            <a:r>
              <a:rPr b="1" lang="en-GB" sz="954">
                <a:solidFill>
                  <a:schemeClr val="dk1"/>
                </a:solidFill>
                <a:latin typeface="Times New Roman"/>
                <a:ea typeface="Times New Roman"/>
                <a:cs typeface="Times New Roman"/>
                <a:sym typeface="Times New Roman"/>
              </a:rPr>
              <a:t>BUNTHEN CHANSOYUTHARITH</a:t>
            </a:r>
            <a:endParaRPr b="1" sz="954">
              <a:solidFill>
                <a:schemeClr val="dk1"/>
              </a:solidFill>
            </a:endParaRPr>
          </a:p>
        </p:txBody>
      </p:sp>
      <p:sp>
        <p:nvSpPr>
          <p:cNvPr id="117" name="Google Shape;117;p17"/>
          <p:cNvSpPr/>
          <p:nvPr/>
        </p:nvSpPr>
        <p:spPr>
          <a:xfrm>
            <a:off x="163933" y="2827266"/>
            <a:ext cx="2226600" cy="1261200"/>
          </a:xfrm>
          <a:prstGeom prst="roundRect">
            <a:avLst>
              <a:gd fmla="val 16667" name="adj"/>
            </a:avLst>
          </a:prstGeom>
          <a:solidFill>
            <a:schemeClr val="lt2"/>
          </a:solidFill>
          <a:ln cap="flat" cmpd="sng" w="7575">
            <a:solidFill>
              <a:schemeClr val="dk2"/>
            </a:solidFill>
            <a:prstDash val="solid"/>
            <a:round/>
            <a:headEnd len="sm" w="sm" type="none"/>
            <a:tailEnd len="sm" w="sm" type="none"/>
          </a:ln>
        </p:spPr>
        <p:txBody>
          <a:bodyPr anchorCtr="0" anchor="t" bIns="72675" lIns="72675" spcFirstLastPara="1" rIns="72675" wrap="square" tIns="72675">
            <a:noAutofit/>
          </a:bodyPr>
          <a:lstStyle/>
          <a:p>
            <a:pPr indent="0" lvl="0" marL="0" rtl="0" algn="l">
              <a:spcBef>
                <a:spcPts val="0"/>
              </a:spcBef>
              <a:spcAft>
                <a:spcPts val="0"/>
              </a:spcAft>
              <a:buNone/>
            </a:pPr>
            <a:r>
              <a:rPr b="1" lang="en-GB" sz="954">
                <a:solidFill>
                  <a:schemeClr val="dk1"/>
                </a:solidFill>
                <a:latin typeface="Times New Roman"/>
                <a:ea typeface="Times New Roman"/>
                <a:cs typeface="Times New Roman"/>
                <a:sym typeface="Times New Roman"/>
              </a:rPr>
              <a:t>CHAO SIVCHHUONG</a:t>
            </a:r>
            <a:endParaRPr b="1" sz="954">
              <a:solidFill>
                <a:schemeClr val="dk1"/>
              </a:solidFill>
            </a:endParaRPr>
          </a:p>
        </p:txBody>
      </p:sp>
      <p:sp>
        <p:nvSpPr>
          <p:cNvPr id="118" name="Google Shape;118;p17"/>
          <p:cNvSpPr/>
          <p:nvPr/>
        </p:nvSpPr>
        <p:spPr>
          <a:xfrm>
            <a:off x="2548465" y="2827275"/>
            <a:ext cx="2226600" cy="1261200"/>
          </a:xfrm>
          <a:prstGeom prst="roundRect">
            <a:avLst>
              <a:gd fmla="val 16667" name="adj"/>
            </a:avLst>
          </a:prstGeom>
          <a:solidFill>
            <a:schemeClr val="lt2"/>
          </a:solidFill>
          <a:ln cap="flat" cmpd="sng" w="7575">
            <a:solidFill>
              <a:schemeClr val="dk2"/>
            </a:solidFill>
            <a:prstDash val="solid"/>
            <a:round/>
            <a:headEnd len="sm" w="sm" type="none"/>
            <a:tailEnd len="sm" w="sm" type="none"/>
          </a:ln>
        </p:spPr>
        <p:txBody>
          <a:bodyPr anchorCtr="0" anchor="t" bIns="72675" lIns="72675" spcFirstLastPara="1" rIns="72675" wrap="square" tIns="72675">
            <a:noAutofit/>
          </a:bodyPr>
          <a:lstStyle/>
          <a:p>
            <a:pPr indent="0" lvl="0" marL="0" rtl="0" algn="l">
              <a:spcBef>
                <a:spcPts val="0"/>
              </a:spcBef>
              <a:spcAft>
                <a:spcPts val="0"/>
              </a:spcAft>
              <a:buNone/>
            </a:pPr>
            <a:r>
              <a:rPr b="1" lang="en-GB" sz="954">
                <a:solidFill>
                  <a:schemeClr val="dk1"/>
                </a:solidFill>
                <a:latin typeface="Times New Roman"/>
                <a:ea typeface="Times New Roman"/>
                <a:cs typeface="Times New Roman"/>
                <a:sym typeface="Times New Roman"/>
              </a:rPr>
              <a:t>CHAT CHAN PARADY        </a:t>
            </a:r>
            <a:endParaRPr b="1" sz="954">
              <a:solidFill>
                <a:schemeClr val="dk1"/>
              </a:solidFill>
            </a:endParaRPr>
          </a:p>
        </p:txBody>
      </p:sp>
      <p:sp>
        <p:nvSpPr>
          <p:cNvPr id="119" name="Google Shape;119;p17"/>
          <p:cNvSpPr txBox="1"/>
          <p:nvPr/>
        </p:nvSpPr>
        <p:spPr>
          <a:xfrm>
            <a:off x="80684" y="1946790"/>
            <a:ext cx="2309400" cy="513600"/>
          </a:xfrm>
          <a:prstGeom prst="rect">
            <a:avLst/>
          </a:prstGeom>
          <a:noFill/>
          <a:ln>
            <a:noFill/>
          </a:ln>
        </p:spPr>
        <p:txBody>
          <a:bodyPr anchorCtr="0" anchor="t" bIns="72675" lIns="72675" spcFirstLastPara="1" rIns="72675" wrap="square" tIns="72675">
            <a:spAutoFit/>
          </a:bodyPr>
          <a:lstStyle/>
          <a:p>
            <a:pPr indent="-232113" lvl="0" marL="363308" rtl="0" algn="l">
              <a:spcBef>
                <a:spcPts val="0"/>
              </a:spcBef>
              <a:spcAft>
                <a:spcPts val="0"/>
              </a:spcAft>
              <a:buClr>
                <a:schemeClr val="dk1"/>
              </a:buClr>
              <a:buSzPts val="795"/>
              <a:buChar char="●"/>
            </a:pPr>
            <a:r>
              <a:rPr lang="en-GB" sz="795">
                <a:solidFill>
                  <a:schemeClr val="dk1"/>
                </a:solidFill>
              </a:rPr>
              <a:t>Geometry parts</a:t>
            </a:r>
            <a:endParaRPr sz="795">
              <a:solidFill>
                <a:schemeClr val="dk1"/>
              </a:solidFill>
            </a:endParaRPr>
          </a:p>
          <a:p>
            <a:pPr indent="-232113" lvl="0" marL="363308" rtl="0" algn="l">
              <a:spcBef>
                <a:spcPts val="0"/>
              </a:spcBef>
              <a:spcAft>
                <a:spcPts val="0"/>
              </a:spcAft>
              <a:buClr>
                <a:schemeClr val="dk1"/>
              </a:buClr>
              <a:buSzPts val="795"/>
              <a:buChar char="●"/>
            </a:pPr>
            <a:r>
              <a:rPr lang="en-GB" sz="795">
                <a:solidFill>
                  <a:schemeClr val="dk1"/>
                </a:solidFill>
              </a:rPr>
              <a:t>Report checking </a:t>
            </a:r>
            <a:endParaRPr sz="795">
              <a:solidFill>
                <a:schemeClr val="dk1"/>
              </a:solidFill>
            </a:endParaRPr>
          </a:p>
          <a:p>
            <a:pPr indent="-232113" lvl="0" marL="363308" rtl="0" algn="l">
              <a:spcBef>
                <a:spcPts val="0"/>
              </a:spcBef>
              <a:spcAft>
                <a:spcPts val="0"/>
              </a:spcAft>
              <a:buClr>
                <a:schemeClr val="dk1"/>
              </a:buClr>
              <a:buSzPts val="795"/>
              <a:buChar char="●"/>
            </a:pPr>
            <a:r>
              <a:rPr lang="en-GB" sz="795">
                <a:solidFill>
                  <a:schemeClr val="dk1"/>
                </a:solidFill>
              </a:rPr>
              <a:t>Target the objectives</a:t>
            </a:r>
            <a:endParaRPr sz="795">
              <a:solidFill>
                <a:schemeClr val="dk1"/>
              </a:solidFill>
            </a:endParaRPr>
          </a:p>
        </p:txBody>
      </p:sp>
      <p:sp>
        <p:nvSpPr>
          <p:cNvPr id="120" name="Google Shape;120;p17"/>
          <p:cNvSpPr txBox="1"/>
          <p:nvPr/>
        </p:nvSpPr>
        <p:spPr>
          <a:xfrm>
            <a:off x="80674" y="3300080"/>
            <a:ext cx="2309400" cy="636000"/>
          </a:xfrm>
          <a:prstGeom prst="rect">
            <a:avLst/>
          </a:prstGeom>
          <a:noFill/>
          <a:ln>
            <a:noFill/>
          </a:ln>
        </p:spPr>
        <p:txBody>
          <a:bodyPr anchorCtr="0" anchor="t" bIns="72675" lIns="72675" spcFirstLastPara="1" rIns="72675" wrap="square" tIns="72675">
            <a:spAutoFit/>
          </a:bodyPr>
          <a:lstStyle/>
          <a:p>
            <a:pPr indent="-232113" lvl="0" marL="363308" rtl="0" algn="l">
              <a:spcBef>
                <a:spcPts val="0"/>
              </a:spcBef>
              <a:spcAft>
                <a:spcPts val="0"/>
              </a:spcAft>
              <a:buClr>
                <a:schemeClr val="dk1"/>
              </a:buClr>
              <a:buSzPts val="795"/>
              <a:buChar char="●"/>
            </a:pPr>
            <a:r>
              <a:rPr lang="en-GB" sz="795">
                <a:solidFill>
                  <a:schemeClr val="dk1"/>
                </a:solidFill>
              </a:rPr>
              <a:t>Lead team</a:t>
            </a:r>
            <a:endParaRPr sz="795">
              <a:solidFill>
                <a:schemeClr val="dk1"/>
              </a:solidFill>
            </a:endParaRPr>
          </a:p>
          <a:p>
            <a:pPr indent="-232113" lvl="0" marL="363308" rtl="0" algn="l">
              <a:spcBef>
                <a:spcPts val="0"/>
              </a:spcBef>
              <a:spcAft>
                <a:spcPts val="0"/>
              </a:spcAft>
              <a:buClr>
                <a:schemeClr val="dk1"/>
              </a:buClr>
              <a:buSzPts val="795"/>
              <a:buChar char="●"/>
            </a:pPr>
            <a:r>
              <a:rPr lang="en-GB" sz="795">
                <a:solidFill>
                  <a:schemeClr val="dk1"/>
                </a:solidFill>
              </a:rPr>
              <a:t>Analyse</a:t>
            </a:r>
            <a:endParaRPr sz="795">
              <a:solidFill>
                <a:schemeClr val="dk1"/>
              </a:solidFill>
            </a:endParaRPr>
          </a:p>
          <a:p>
            <a:pPr indent="-232113" lvl="0" marL="363308" rtl="0" algn="l">
              <a:spcBef>
                <a:spcPts val="0"/>
              </a:spcBef>
              <a:spcAft>
                <a:spcPts val="0"/>
              </a:spcAft>
              <a:buClr>
                <a:schemeClr val="dk1"/>
              </a:buClr>
              <a:buSzPts val="795"/>
              <a:buChar char="●"/>
            </a:pPr>
            <a:r>
              <a:rPr lang="en-GB" sz="795">
                <a:solidFill>
                  <a:schemeClr val="dk1"/>
                </a:solidFill>
              </a:rPr>
              <a:t>Calculation</a:t>
            </a:r>
            <a:endParaRPr sz="795">
              <a:solidFill>
                <a:schemeClr val="dk1"/>
              </a:solidFill>
            </a:endParaRPr>
          </a:p>
          <a:p>
            <a:pPr indent="0" lvl="0" marL="363308" rtl="0" algn="l">
              <a:spcBef>
                <a:spcPts val="0"/>
              </a:spcBef>
              <a:spcAft>
                <a:spcPts val="0"/>
              </a:spcAft>
              <a:buNone/>
            </a:pPr>
            <a:r>
              <a:t/>
            </a:r>
            <a:endParaRPr sz="795">
              <a:solidFill>
                <a:schemeClr val="dk1"/>
              </a:solidFill>
            </a:endParaRPr>
          </a:p>
        </p:txBody>
      </p:sp>
      <p:sp>
        <p:nvSpPr>
          <p:cNvPr id="121" name="Google Shape;121;p17"/>
          <p:cNvSpPr txBox="1"/>
          <p:nvPr/>
        </p:nvSpPr>
        <p:spPr>
          <a:xfrm>
            <a:off x="2428529" y="1975099"/>
            <a:ext cx="2309400" cy="513600"/>
          </a:xfrm>
          <a:prstGeom prst="rect">
            <a:avLst/>
          </a:prstGeom>
          <a:noFill/>
          <a:ln>
            <a:noFill/>
          </a:ln>
        </p:spPr>
        <p:txBody>
          <a:bodyPr anchorCtr="0" anchor="t" bIns="72675" lIns="72675" spcFirstLastPara="1" rIns="72675" wrap="square" tIns="72675">
            <a:spAutoFit/>
          </a:bodyPr>
          <a:lstStyle/>
          <a:p>
            <a:pPr indent="-232113" lvl="0" marL="363308" rtl="0" algn="l">
              <a:spcBef>
                <a:spcPts val="0"/>
              </a:spcBef>
              <a:spcAft>
                <a:spcPts val="0"/>
              </a:spcAft>
              <a:buClr>
                <a:schemeClr val="dk1"/>
              </a:buClr>
              <a:buSzPts val="795"/>
              <a:buChar char="●"/>
            </a:pPr>
            <a:r>
              <a:rPr lang="en-GB" sz="795">
                <a:solidFill>
                  <a:schemeClr val="dk1"/>
                </a:solidFill>
              </a:rPr>
              <a:t>Objective </a:t>
            </a:r>
            <a:endParaRPr sz="795">
              <a:solidFill>
                <a:schemeClr val="dk1"/>
              </a:solidFill>
            </a:endParaRPr>
          </a:p>
          <a:p>
            <a:pPr indent="-232113" lvl="0" marL="363308" rtl="0" algn="l">
              <a:spcBef>
                <a:spcPts val="0"/>
              </a:spcBef>
              <a:spcAft>
                <a:spcPts val="0"/>
              </a:spcAft>
              <a:buClr>
                <a:schemeClr val="dk1"/>
              </a:buClr>
              <a:buSzPts val="795"/>
              <a:buChar char="●"/>
            </a:pPr>
            <a:r>
              <a:rPr lang="en-GB" sz="795">
                <a:solidFill>
                  <a:schemeClr val="dk1"/>
                </a:solidFill>
              </a:rPr>
              <a:t>Technical </a:t>
            </a:r>
            <a:endParaRPr sz="795">
              <a:solidFill>
                <a:schemeClr val="dk1"/>
              </a:solidFill>
            </a:endParaRPr>
          </a:p>
          <a:p>
            <a:pPr indent="-232113" lvl="0" marL="363308" rtl="0" algn="l">
              <a:spcBef>
                <a:spcPts val="0"/>
              </a:spcBef>
              <a:spcAft>
                <a:spcPts val="0"/>
              </a:spcAft>
              <a:buClr>
                <a:schemeClr val="dk1"/>
              </a:buClr>
              <a:buSzPts val="795"/>
              <a:buChar char="●"/>
            </a:pPr>
            <a:r>
              <a:rPr lang="en-GB" sz="795">
                <a:solidFill>
                  <a:schemeClr val="dk1"/>
                </a:solidFill>
              </a:rPr>
              <a:t>Conclusion</a:t>
            </a:r>
            <a:endParaRPr sz="795">
              <a:solidFill>
                <a:schemeClr val="dk1"/>
              </a:solidFill>
            </a:endParaRPr>
          </a:p>
        </p:txBody>
      </p:sp>
      <p:sp>
        <p:nvSpPr>
          <p:cNvPr id="122" name="Google Shape;122;p17"/>
          <p:cNvSpPr txBox="1"/>
          <p:nvPr/>
        </p:nvSpPr>
        <p:spPr>
          <a:xfrm>
            <a:off x="2493516" y="3276245"/>
            <a:ext cx="2309400" cy="513600"/>
          </a:xfrm>
          <a:prstGeom prst="rect">
            <a:avLst/>
          </a:prstGeom>
          <a:noFill/>
          <a:ln>
            <a:noFill/>
          </a:ln>
        </p:spPr>
        <p:txBody>
          <a:bodyPr anchorCtr="0" anchor="t" bIns="72675" lIns="72675" spcFirstLastPara="1" rIns="72675" wrap="square" tIns="72675">
            <a:spAutoFit/>
          </a:bodyPr>
          <a:lstStyle/>
          <a:p>
            <a:pPr indent="-232113" lvl="0" marL="363308" rtl="0" algn="l">
              <a:spcBef>
                <a:spcPts val="0"/>
              </a:spcBef>
              <a:spcAft>
                <a:spcPts val="0"/>
              </a:spcAft>
              <a:buClr>
                <a:schemeClr val="dk1"/>
              </a:buClr>
              <a:buSzPts val="795"/>
              <a:buChar char="●"/>
            </a:pPr>
            <a:r>
              <a:rPr lang="en-GB" sz="795">
                <a:solidFill>
                  <a:schemeClr val="dk1"/>
                </a:solidFill>
              </a:rPr>
              <a:t>Theory</a:t>
            </a:r>
            <a:endParaRPr sz="795">
              <a:solidFill>
                <a:schemeClr val="dk1"/>
              </a:solidFill>
            </a:endParaRPr>
          </a:p>
          <a:p>
            <a:pPr indent="-232113" lvl="0" marL="363308" rtl="0" algn="l">
              <a:spcBef>
                <a:spcPts val="0"/>
              </a:spcBef>
              <a:spcAft>
                <a:spcPts val="0"/>
              </a:spcAft>
              <a:buClr>
                <a:schemeClr val="dk1"/>
              </a:buClr>
              <a:buSzPts val="795"/>
              <a:buChar char="●"/>
            </a:pPr>
            <a:r>
              <a:rPr lang="en-GB" sz="795">
                <a:solidFill>
                  <a:schemeClr val="dk1"/>
                </a:solidFill>
              </a:rPr>
              <a:t>Formula </a:t>
            </a:r>
            <a:endParaRPr sz="795">
              <a:solidFill>
                <a:schemeClr val="dk1"/>
              </a:solidFill>
            </a:endParaRPr>
          </a:p>
          <a:p>
            <a:pPr indent="-232113" lvl="0" marL="363308" rtl="0" algn="l">
              <a:spcBef>
                <a:spcPts val="0"/>
              </a:spcBef>
              <a:spcAft>
                <a:spcPts val="0"/>
              </a:spcAft>
              <a:buClr>
                <a:schemeClr val="dk1"/>
              </a:buClr>
              <a:buSzPts val="795"/>
              <a:buChar char="●"/>
            </a:pPr>
            <a:r>
              <a:rPr lang="en-GB" sz="795">
                <a:solidFill>
                  <a:schemeClr val="dk1"/>
                </a:solidFill>
              </a:rPr>
              <a:t>Strategy and flow chart</a:t>
            </a:r>
            <a:endParaRPr sz="795">
              <a:solidFill>
                <a:schemeClr val="dk1"/>
              </a:solidFill>
            </a:endParaRPr>
          </a:p>
        </p:txBody>
      </p:sp>
      <p:grpSp>
        <p:nvGrpSpPr>
          <p:cNvPr id="123" name="Google Shape;123;p17"/>
          <p:cNvGrpSpPr/>
          <p:nvPr/>
        </p:nvGrpSpPr>
        <p:grpSpPr>
          <a:xfrm>
            <a:off x="5921533" y="1131903"/>
            <a:ext cx="1681375" cy="3912437"/>
            <a:chOff x="6579898" y="750798"/>
            <a:chExt cx="1681375" cy="3912437"/>
          </a:xfrm>
        </p:grpSpPr>
        <p:grpSp>
          <p:nvGrpSpPr>
            <p:cNvPr id="124" name="Google Shape;124;p17"/>
            <p:cNvGrpSpPr/>
            <p:nvPr/>
          </p:nvGrpSpPr>
          <p:grpSpPr>
            <a:xfrm>
              <a:off x="6579898" y="750798"/>
              <a:ext cx="1681375" cy="3912437"/>
              <a:chOff x="6579898" y="750798"/>
              <a:chExt cx="1681375" cy="3912437"/>
            </a:xfrm>
          </p:grpSpPr>
          <p:sp>
            <p:nvSpPr>
              <p:cNvPr id="125" name="Google Shape;125;p17"/>
              <p:cNvSpPr/>
              <p:nvPr/>
            </p:nvSpPr>
            <p:spPr>
              <a:xfrm>
                <a:off x="6579898" y="3722723"/>
                <a:ext cx="1681375" cy="509453"/>
              </a:xfrm>
              <a:prstGeom prst="flowChartDecision">
                <a:avLst/>
              </a:prstGeom>
              <a:solidFill>
                <a:schemeClr val="lt2"/>
              </a:solidFill>
              <a:ln cap="flat" cmpd="sng" w="7575">
                <a:solidFill>
                  <a:schemeClr val="dk2"/>
                </a:solidFill>
                <a:prstDash val="solid"/>
                <a:round/>
                <a:headEnd len="sm" w="sm" type="none"/>
                <a:tailEnd len="sm" w="sm" type="none"/>
              </a:ln>
            </p:spPr>
            <p:txBody>
              <a:bodyPr anchorCtr="0" anchor="ctr" bIns="72725" lIns="72725" spcFirstLastPara="1" rIns="72725" wrap="square" tIns="72725">
                <a:noAutofit/>
              </a:bodyPr>
              <a:lstStyle/>
              <a:p>
                <a:pPr indent="0" lvl="0" marL="0" rtl="0" algn="l">
                  <a:spcBef>
                    <a:spcPts val="0"/>
                  </a:spcBef>
                  <a:spcAft>
                    <a:spcPts val="0"/>
                  </a:spcAft>
                  <a:buNone/>
                </a:pPr>
                <a:r>
                  <a:rPr lang="en-GB" sz="1113"/>
                  <a:t>Comparing</a:t>
                </a:r>
                <a:endParaRPr sz="1113"/>
              </a:p>
            </p:txBody>
          </p:sp>
          <p:sp>
            <p:nvSpPr>
              <p:cNvPr id="126" name="Google Shape;126;p17"/>
              <p:cNvSpPr/>
              <p:nvPr/>
            </p:nvSpPr>
            <p:spPr>
              <a:xfrm>
                <a:off x="6766810" y="3240463"/>
                <a:ext cx="1305300" cy="346800"/>
              </a:xfrm>
              <a:prstGeom prst="parallelogram">
                <a:avLst>
                  <a:gd fmla="val 61115" name="adj"/>
                </a:avLst>
              </a:prstGeom>
              <a:solidFill>
                <a:schemeClr val="lt2"/>
              </a:solidFill>
              <a:ln cap="flat" cmpd="sng" w="7575">
                <a:solidFill>
                  <a:schemeClr val="dk2"/>
                </a:solidFill>
                <a:prstDash val="solid"/>
                <a:round/>
                <a:headEnd len="sm" w="sm" type="none"/>
                <a:tailEnd len="sm" w="sm" type="none"/>
              </a:ln>
            </p:spPr>
            <p:txBody>
              <a:bodyPr anchorCtr="0" anchor="ctr" bIns="72725" lIns="72725" spcFirstLastPara="1" rIns="72725" wrap="square" tIns="72725">
                <a:noAutofit/>
              </a:bodyPr>
              <a:lstStyle/>
              <a:p>
                <a:pPr indent="0" lvl="0" marL="0" rtl="0" algn="ctr">
                  <a:spcBef>
                    <a:spcPts val="0"/>
                  </a:spcBef>
                  <a:spcAft>
                    <a:spcPts val="0"/>
                  </a:spcAft>
                  <a:buNone/>
                </a:pPr>
                <a:r>
                  <a:rPr lang="en-GB" sz="1113"/>
                  <a:t>Result</a:t>
                </a:r>
                <a:endParaRPr sz="1113"/>
              </a:p>
            </p:txBody>
          </p:sp>
          <p:sp>
            <p:nvSpPr>
              <p:cNvPr id="127" name="Google Shape;127;p17"/>
              <p:cNvSpPr/>
              <p:nvPr/>
            </p:nvSpPr>
            <p:spPr>
              <a:xfrm>
                <a:off x="6926871" y="750798"/>
                <a:ext cx="1010100" cy="295500"/>
              </a:xfrm>
              <a:prstGeom prst="roundRect">
                <a:avLst>
                  <a:gd fmla="val 50000" name="adj"/>
                </a:avLst>
              </a:prstGeom>
              <a:solidFill>
                <a:schemeClr val="lt2"/>
              </a:solidFill>
              <a:ln cap="flat" cmpd="sng" w="7575">
                <a:solidFill>
                  <a:schemeClr val="dk2"/>
                </a:solidFill>
                <a:prstDash val="solid"/>
                <a:round/>
                <a:headEnd len="sm" w="sm" type="none"/>
                <a:tailEnd len="sm" w="sm" type="none"/>
              </a:ln>
            </p:spPr>
            <p:txBody>
              <a:bodyPr anchorCtr="0" anchor="ctr" bIns="72725" lIns="72725" spcFirstLastPara="1" rIns="72725" wrap="square" tIns="72725">
                <a:noAutofit/>
              </a:bodyPr>
              <a:lstStyle/>
              <a:p>
                <a:pPr indent="0" lvl="0" marL="0" rtl="0" algn="ctr">
                  <a:spcBef>
                    <a:spcPts val="0"/>
                  </a:spcBef>
                  <a:spcAft>
                    <a:spcPts val="0"/>
                  </a:spcAft>
                  <a:buNone/>
                </a:pPr>
                <a:r>
                  <a:rPr lang="en-GB" sz="1113"/>
                  <a:t>Start</a:t>
                </a:r>
                <a:endParaRPr sz="1113"/>
              </a:p>
            </p:txBody>
          </p:sp>
          <p:sp>
            <p:nvSpPr>
              <p:cNvPr id="128" name="Google Shape;128;p17"/>
              <p:cNvSpPr/>
              <p:nvPr/>
            </p:nvSpPr>
            <p:spPr>
              <a:xfrm>
                <a:off x="6917593" y="4367735"/>
                <a:ext cx="1010100" cy="295500"/>
              </a:xfrm>
              <a:prstGeom prst="roundRect">
                <a:avLst>
                  <a:gd fmla="val 50000" name="adj"/>
                </a:avLst>
              </a:prstGeom>
              <a:solidFill>
                <a:schemeClr val="lt2"/>
              </a:solidFill>
              <a:ln cap="flat" cmpd="sng" w="7575">
                <a:solidFill>
                  <a:schemeClr val="dk2"/>
                </a:solidFill>
                <a:prstDash val="solid"/>
                <a:round/>
                <a:headEnd len="sm" w="sm" type="none"/>
                <a:tailEnd len="sm" w="sm" type="none"/>
              </a:ln>
            </p:spPr>
            <p:txBody>
              <a:bodyPr anchorCtr="0" anchor="ctr" bIns="72725" lIns="72725" spcFirstLastPara="1" rIns="72725" wrap="square" tIns="72725">
                <a:noAutofit/>
              </a:bodyPr>
              <a:lstStyle/>
              <a:p>
                <a:pPr indent="0" lvl="0" marL="0" rtl="0" algn="ctr">
                  <a:spcBef>
                    <a:spcPts val="0"/>
                  </a:spcBef>
                  <a:spcAft>
                    <a:spcPts val="0"/>
                  </a:spcAft>
                  <a:buNone/>
                </a:pPr>
                <a:r>
                  <a:rPr lang="en-GB" sz="1113"/>
                  <a:t>End</a:t>
                </a:r>
                <a:endParaRPr sz="1113"/>
              </a:p>
            </p:txBody>
          </p:sp>
          <p:sp>
            <p:nvSpPr>
              <p:cNvPr id="129" name="Google Shape;129;p17"/>
              <p:cNvSpPr/>
              <p:nvPr/>
            </p:nvSpPr>
            <p:spPr>
              <a:xfrm>
                <a:off x="6948064" y="1653260"/>
                <a:ext cx="891600" cy="267900"/>
              </a:xfrm>
              <a:prstGeom prst="rect">
                <a:avLst/>
              </a:prstGeom>
              <a:solidFill>
                <a:schemeClr val="lt2"/>
              </a:solidFill>
              <a:ln cap="flat" cmpd="sng" w="6350">
                <a:solidFill>
                  <a:schemeClr val="dk2"/>
                </a:solidFill>
                <a:prstDash val="solid"/>
                <a:round/>
                <a:headEnd len="sm" w="sm" type="none"/>
                <a:tailEnd len="sm" w="sm" type="none"/>
              </a:ln>
            </p:spPr>
            <p:txBody>
              <a:bodyPr anchorCtr="0" anchor="ctr" bIns="61025" lIns="61025" spcFirstLastPara="1" rIns="61025" wrap="square" tIns="61025">
                <a:noAutofit/>
              </a:bodyPr>
              <a:lstStyle/>
              <a:p>
                <a:pPr indent="0" lvl="0" marL="0" rtl="0" algn="ctr">
                  <a:spcBef>
                    <a:spcPts val="0"/>
                  </a:spcBef>
                  <a:spcAft>
                    <a:spcPts val="0"/>
                  </a:spcAft>
                  <a:buNone/>
                </a:pPr>
                <a:r>
                  <a:rPr lang="en-GB" sz="1113"/>
                  <a:t>Collect data</a:t>
                </a:r>
                <a:endParaRPr sz="1113"/>
              </a:p>
            </p:txBody>
          </p:sp>
          <p:sp>
            <p:nvSpPr>
              <p:cNvPr id="130" name="Google Shape;130;p17"/>
              <p:cNvSpPr/>
              <p:nvPr/>
            </p:nvSpPr>
            <p:spPr>
              <a:xfrm>
                <a:off x="6957166" y="2056992"/>
                <a:ext cx="891600" cy="267900"/>
              </a:xfrm>
              <a:prstGeom prst="rect">
                <a:avLst/>
              </a:prstGeom>
              <a:solidFill>
                <a:schemeClr val="lt2"/>
              </a:solidFill>
              <a:ln cap="flat" cmpd="sng" w="6350">
                <a:solidFill>
                  <a:schemeClr val="dk2"/>
                </a:solidFill>
                <a:prstDash val="solid"/>
                <a:round/>
                <a:headEnd len="sm" w="sm" type="none"/>
                <a:tailEnd len="sm" w="sm" type="none"/>
              </a:ln>
            </p:spPr>
            <p:txBody>
              <a:bodyPr anchorCtr="0" anchor="ctr" bIns="61025" lIns="61025" spcFirstLastPara="1" rIns="61025" wrap="square" tIns="61025">
                <a:noAutofit/>
              </a:bodyPr>
              <a:lstStyle/>
              <a:p>
                <a:pPr indent="0" lvl="0" marL="0" rtl="0" algn="ctr">
                  <a:spcBef>
                    <a:spcPts val="0"/>
                  </a:spcBef>
                  <a:spcAft>
                    <a:spcPts val="0"/>
                  </a:spcAft>
                  <a:buNone/>
                </a:pPr>
                <a:r>
                  <a:rPr lang="en-GB" sz="1113"/>
                  <a:t>CAE</a:t>
                </a:r>
                <a:endParaRPr sz="1113"/>
              </a:p>
              <a:p>
                <a:pPr indent="0" lvl="0" marL="0" rtl="0" algn="ctr">
                  <a:spcBef>
                    <a:spcPts val="0"/>
                  </a:spcBef>
                  <a:spcAft>
                    <a:spcPts val="0"/>
                  </a:spcAft>
                  <a:buClr>
                    <a:schemeClr val="dk1"/>
                  </a:buClr>
                  <a:buSzPts val="875"/>
                  <a:buFont typeface="Arial"/>
                  <a:buNone/>
                </a:pPr>
                <a:r>
                  <a:rPr lang="en-GB" sz="636">
                    <a:solidFill>
                      <a:schemeClr val="dk1"/>
                    </a:solidFill>
                  </a:rPr>
                  <a:t>(MATLAB )</a:t>
                </a:r>
                <a:endParaRPr sz="636"/>
              </a:p>
            </p:txBody>
          </p:sp>
          <p:sp>
            <p:nvSpPr>
              <p:cNvPr id="131" name="Google Shape;131;p17"/>
              <p:cNvSpPr/>
              <p:nvPr/>
            </p:nvSpPr>
            <p:spPr>
              <a:xfrm>
                <a:off x="6957166" y="2441454"/>
                <a:ext cx="891600" cy="267900"/>
              </a:xfrm>
              <a:prstGeom prst="rect">
                <a:avLst/>
              </a:prstGeom>
              <a:solidFill>
                <a:schemeClr val="lt2"/>
              </a:solidFill>
              <a:ln cap="flat" cmpd="sng" w="6350">
                <a:solidFill>
                  <a:schemeClr val="dk2"/>
                </a:solidFill>
                <a:prstDash val="solid"/>
                <a:round/>
                <a:headEnd len="sm" w="sm" type="none"/>
                <a:tailEnd len="sm" w="sm" type="none"/>
              </a:ln>
            </p:spPr>
            <p:txBody>
              <a:bodyPr anchorCtr="0" anchor="ctr" bIns="61025" lIns="61025" spcFirstLastPara="1" rIns="61025" wrap="square" tIns="61025">
                <a:noAutofit/>
              </a:bodyPr>
              <a:lstStyle/>
              <a:p>
                <a:pPr indent="0" lvl="0" marL="0" rtl="0" algn="ctr">
                  <a:spcBef>
                    <a:spcPts val="0"/>
                  </a:spcBef>
                  <a:spcAft>
                    <a:spcPts val="0"/>
                  </a:spcAft>
                  <a:buNone/>
                </a:pPr>
                <a:r>
                  <a:rPr lang="en-GB" sz="1113"/>
                  <a:t>CAD</a:t>
                </a:r>
                <a:endParaRPr sz="1113"/>
              </a:p>
              <a:p>
                <a:pPr indent="0" lvl="0" marL="0" rtl="0" algn="ctr">
                  <a:spcBef>
                    <a:spcPts val="0"/>
                  </a:spcBef>
                  <a:spcAft>
                    <a:spcPts val="0"/>
                  </a:spcAft>
                  <a:buClr>
                    <a:schemeClr val="dk1"/>
                  </a:buClr>
                  <a:buSzPts val="875"/>
                  <a:buFont typeface="Arial"/>
                  <a:buNone/>
                </a:pPr>
                <a:r>
                  <a:rPr lang="en-GB" sz="636">
                    <a:solidFill>
                      <a:schemeClr val="dk1"/>
                    </a:solidFill>
                  </a:rPr>
                  <a:t>(SOLIDWORKS)</a:t>
                </a:r>
                <a:endParaRPr sz="636"/>
              </a:p>
            </p:txBody>
          </p:sp>
          <p:sp>
            <p:nvSpPr>
              <p:cNvPr id="132" name="Google Shape;132;p17"/>
              <p:cNvSpPr/>
              <p:nvPr/>
            </p:nvSpPr>
            <p:spPr>
              <a:xfrm>
                <a:off x="6957170" y="2825905"/>
                <a:ext cx="891600" cy="267900"/>
              </a:xfrm>
              <a:prstGeom prst="rect">
                <a:avLst/>
              </a:prstGeom>
              <a:solidFill>
                <a:schemeClr val="lt2"/>
              </a:solidFill>
              <a:ln cap="flat" cmpd="sng" w="6350">
                <a:solidFill>
                  <a:schemeClr val="dk2"/>
                </a:solidFill>
                <a:prstDash val="solid"/>
                <a:round/>
                <a:headEnd len="sm" w="sm" type="none"/>
                <a:tailEnd len="sm" w="sm" type="none"/>
              </a:ln>
            </p:spPr>
            <p:txBody>
              <a:bodyPr anchorCtr="0" anchor="ctr" bIns="61025" lIns="61025" spcFirstLastPara="1" rIns="61025" wrap="square" tIns="61025">
                <a:noAutofit/>
              </a:bodyPr>
              <a:lstStyle/>
              <a:p>
                <a:pPr indent="0" lvl="0" marL="0" rtl="0" algn="ctr">
                  <a:spcBef>
                    <a:spcPts val="0"/>
                  </a:spcBef>
                  <a:spcAft>
                    <a:spcPts val="0"/>
                  </a:spcAft>
                  <a:buNone/>
                </a:pPr>
                <a:r>
                  <a:rPr lang="en-GB" sz="1113"/>
                  <a:t>CFD</a:t>
                </a:r>
                <a:endParaRPr sz="1113"/>
              </a:p>
              <a:p>
                <a:pPr indent="0" lvl="0" marL="0" rtl="0" algn="ctr">
                  <a:spcBef>
                    <a:spcPts val="0"/>
                  </a:spcBef>
                  <a:spcAft>
                    <a:spcPts val="0"/>
                  </a:spcAft>
                  <a:buNone/>
                </a:pPr>
                <a:r>
                  <a:rPr lang="en-GB" sz="636">
                    <a:solidFill>
                      <a:schemeClr val="dk1"/>
                    </a:solidFill>
                  </a:rPr>
                  <a:t>(ANSYS) </a:t>
                </a:r>
                <a:endParaRPr sz="636"/>
              </a:p>
            </p:txBody>
          </p:sp>
          <p:sp>
            <p:nvSpPr>
              <p:cNvPr id="133" name="Google Shape;133;p17"/>
              <p:cNvSpPr/>
              <p:nvPr/>
            </p:nvSpPr>
            <p:spPr>
              <a:xfrm>
                <a:off x="6779177" y="1181921"/>
                <a:ext cx="1305300" cy="346800"/>
              </a:xfrm>
              <a:prstGeom prst="parallelogram">
                <a:avLst>
                  <a:gd fmla="val 61115" name="adj"/>
                </a:avLst>
              </a:prstGeom>
              <a:solidFill>
                <a:schemeClr val="lt2"/>
              </a:solidFill>
              <a:ln cap="flat" cmpd="sng" w="7575">
                <a:solidFill>
                  <a:schemeClr val="dk2"/>
                </a:solidFill>
                <a:prstDash val="solid"/>
                <a:round/>
                <a:headEnd len="sm" w="sm" type="none"/>
                <a:tailEnd len="sm" w="sm" type="none"/>
              </a:ln>
            </p:spPr>
            <p:txBody>
              <a:bodyPr anchorCtr="0" anchor="ctr" bIns="72725" lIns="72725" spcFirstLastPara="1" rIns="72725" wrap="square" tIns="72725">
                <a:noAutofit/>
              </a:bodyPr>
              <a:lstStyle/>
              <a:p>
                <a:pPr indent="0" lvl="0" marL="0" rtl="0" algn="ctr">
                  <a:spcBef>
                    <a:spcPts val="0"/>
                  </a:spcBef>
                  <a:spcAft>
                    <a:spcPts val="0"/>
                  </a:spcAft>
                  <a:buNone/>
                </a:pPr>
                <a:r>
                  <a:rPr lang="en-GB" sz="1113"/>
                  <a:t>Problem</a:t>
                </a:r>
                <a:endParaRPr sz="1113"/>
              </a:p>
            </p:txBody>
          </p:sp>
        </p:grpSp>
        <p:cxnSp>
          <p:nvCxnSpPr>
            <p:cNvPr id="134" name="Google Shape;134;p17"/>
            <p:cNvCxnSpPr>
              <a:stCxn id="127" idx="2"/>
              <a:endCxn id="133" idx="0"/>
            </p:cNvCxnSpPr>
            <p:nvPr/>
          </p:nvCxnSpPr>
          <p:spPr>
            <a:xfrm>
              <a:off x="7431921" y="1046298"/>
              <a:ext cx="0" cy="135600"/>
            </a:xfrm>
            <a:prstGeom prst="straightConnector1">
              <a:avLst/>
            </a:prstGeom>
            <a:noFill/>
            <a:ln cap="flat" cmpd="sng" w="7575">
              <a:solidFill>
                <a:schemeClr val="dk2"/>
              </a:solidFill>
              <a:prstDash val="solid"/>
              <a:round/>
              <a:headEnd len="med" w="med" type="none"/>
              <a:tailEnd len="med" w="med" type="triangle"/>
            </a:ln>
          </p:spPr>
        </p:cxnSp>
        <p:cxnSp>
          <p:nvCxnSpPr>
            <p:cNvPr id="135" name="Google Shape;135;p17"/>
            <p:cNvCxnSpPr/>
            <p:nvPr/>
          </p:nvCxnSpPr>
          <p:spPr>
            <a:xfrm>
              <a:off x="7419644" y="1517546"/>
              <a:ext cx="0" cy="174300"/>
            </a:xfrm>
            <a:prstGeom prst="straightConnector1">
              <a:avLst/>
            </a:prstGeom>
            <a:noFill/>
            <a:ln cap="flat" cmpd="sng" w="7575">
              <a:solidFill>
                <a:schemeClr val="dk2"/>
              </a:solidFill>
              <a:prstDash val="solid"/>
              <a:round/>
              <a:headEnd len="med" w="med" type="none"/>
              <a:tailEnd len="med" w="med" type="triangle"/>
            </a:ln>
          </p:spPr>
        </p:cxnSp>
        <p:cxnSp>
          <p:nvCxnSpPr>
            <p:cNvPr id="136" name="Google Shape;136;p17"/>
            <p:cNvCxnSpPr/>
            <p:nvPr/>
          </p:nvCxnSpPr>
          <p:spPr>
            <a:xfrm>
              <a:off x="7418750" y="1918525"/>
              <a:ext cx="900" cy="136500"/>
            </a:xfrm>
            <a:prstGeom prst="straightConnector1">
              <a:avLst/>
            </a:prstGeom>
            <a:noFill/>
            <a:ln cap="flat" cmpd="sng" w="7575">
              <a:solidFill>
                <a:schemeClr val="dk2"/>
              </a:solidFill>
              <a:prstDash val="solid"/>
              <a:round/>
              <a:headEnd len="med" w="med" type="none"/>
              <a:tailEnd len="med" w="med" type="triangle"/>
            </a:ln>
          </p:spPr>
        </p:cxnSp>
        <p:cxnSp>
          <p:nvCxnSpPr>
            <p:cNvPr id="137" name="Google Shape;137;p17"/>
            <p:cNvCxnSpPr/>
            <p:nvPr/>
          </p:nvCxnSpPr>
          <p:spPr>
            <a:xfrm flipH="1">
              <a:off x="7419557" y="2328164"/>
              <a:ext cx="4800" cy="132300"/>
            </a:xfrm>
            <a:prstGeom prst="straightConnector1">
              <a:avLst/>
            </a:prstGeom>
            <a:noFill/>
            <a:ln cap="flat" cmpd="sng" w="7575">
              <a:solidFill>
                <a:schemeClr val="dk2"/>
              </a:solidFill>
              <a:prstDash val="solid"/>
              <a:round/>
              <a:headEnd len="med" w="med" type="none"/>
              <a:tailEnd len="med" w="med" type="triangle"/>
            </a:ln>
          </p:spPr>
        </p:cxnSp>
        <p:cxnSp>
          <p:nvCxnSpPr>
            <p:cNvPr id="138" name="Google Shape;138;p17"/>
            <p:cNvCxnSpPr/>
            <p:nvPr/>
          </p:nvCxnSpPr>
          <p:spPr>
            <a:xfrm flipH="1">
              <a:off x="7421793" y="2693549"/>
              <a:ext cx="6600" cy="143700"/>
            </a:xfrm>
            <a:prstGeom prst="straightConnector1">
              <a:avLst/>
            </a:prstGeom>
            <a:noFill/>
            <a:ln cap="flat" cmpd="sng" w="7575">
              <a:solidFill>
                <a:schemeClr val="dk2"/>
              </a:solidFill>
              <a:prstDash val="solid"/>
              <a:round/>
              <a:headEnd len="med" w="med" type="none"/>
              <a:tailEnd len="med" w="med" type="triangle"/>
            </a:ln>
          </p:spPr>
        </p:cxnSp>
        <p:cxnSp>
          <p:nvCxnSpPr>
            <p:cNvPr id="139" name="Google Shape;139;p17"/>
            <p:cNvCxnSpPr/>
            <p:nvPr/>
          </p:nvCxnSpPr>
          <p:spPr>
            <a:xfrm>
              <a:off x="7419644" y="3077342"/>
              <a:ext cx="0" cy="174300"/>
            </a:xfrm>
            <a:prstGeom prst="straightConnector1">
              <a:avLst/>
            </a:prstGeom>
            <a:noFill/>
            <a:ln cap="flat" cmpd="sng" w="7575">
              <a:solidFill>
                <a:schemeClr val="dk2"/>
              </a:solidFill>
              <a:prstDash val="solid"/>
              <a:round/>
              <a:headEnd len="med" w="med" type="none"/>
              <a:tailEnd len="med" w="med" type="triangle"/>
            </a:ln>
          </p:spPr>
        </p:cxnSp>
        <p:cxnSp>
          <p:nvCxnSpPr>
            <p:cNvPr id="140" name="Google Shape;140;p17"/>
            <p:cNvCxnSpPr>
              <a:stCxn id="126" idx="4"/>
              <a:endCxn id="125" idx="0"/>
            </p:cNvCxnSpPr>
            <p:nvPr/>
          </p:nvCxnSpPr>
          <p:spPr>
            <a:xfrm>
              <a:off x="7419460" y="3587263"/>
              <a:ext cx="1200" cy="135600"/>
            </a:xfrm>
            <a:prstGeom prst="straightConnector1">
              <a:avLst/>
            </a:prstGeom>
            <a:noFill/>
            <a:ln cap="flat" cmpd="sng" w="7575">
              <a:solidFill>
                <a:schemeClr val="dk2"/>
              </a:solidFill>
              <a:prstDash val="solid"/>
              <a:round/>
              <a:headEnd len="med" w="med" type="none"/>
              <a:tailEnd len="med" w="med" type="triangle"/>
            </a:ln>
          </p:spPr>
        </p:cxnSp>
        <p:cxnSp>
          <p:nvCxnSpPr>
            <p:cNvPr id="141" name="Google Shape;141;p17"/>
            <p:cNvCxnSpPr>
              <a:stCxn id="125" idx="2"/>
              <a:endCxn id="128" idx="0"/>
            </p:cNvCxnSpPr>
            <p:nvPr/>
          </p:nvCxnSpPr>
          <p:spPr>
            <a:xfrm>
              <a:off x="7420585" y="4232176"/>
              <a:ext cx="2100" cy="135600"/>
            </a:xfrm>
            <a:prstGeom prst="straightConnector1">
              <a:avLst/>
            </a:prstGeom>
            <a:noFill/>
            <a:ln cap="flat" cmpd="sng" w="7575">
              <a:solidFill>
                <a:schemeClr val="dk2"/>
              </a:solidFill>
              <a:prstDash val="solid"/>
              <a:round/>
              <a:headEnd len="med" w="med" type="none"/>
              <a:tailEnd len="med" w="med" type="triangle"/>
            </a:ln>
          </p:spPr>
        </p:cxnSp>
      </p:grpSp>
      <p:cxnSp>
        <p:nvCxnSpPr>
          <p:cNvPr id="142" name="Google Shape;142;p17"/>
          <p:cNvCxnSpPr>
            <a:stCxn id="112" idx="2"/>
          </p:cNvCxnSpPr>
          <p:nvPr/>
        </p:nvCxnSpPr>
        <p:spPr>
          <a:xfrm>
            <a:off x="4924063" y="698860"/>
            <a:ext cx="26700" cy="4489500"/>
          </a:xfrm>
          <a:prstGeom prst="straightConnector1">
            <a:avLst/>
          </a:prstGeom>
          <a:noFill/>
          <a:ln cap="flat" cmpd="sng" w="38100">
            <a:solidFill>
              <a:schemeClr val="dk2"/>
            </a:solidFill>
            <a:prstDash val="solid"/>
            <a:round/>
            <a:headEnd len="med" w="med" type="none"/>
            <a:tailEnd len="med" w="med" type="none"/>
          </a:ln>
        </p:spPr>
      </p:cxnSp>
      <p:sp>
        <p:nvSpPr>
          <p:cNvPr id="143" name="Google Shape;143;p17"/>
          <p:cNvSpPr txBox="1"/>
          <p:nvPr/>
        </p:nvSpPr>
        <p:spPr>
          <a:xfrm>
            <a:off x="297000" y="925275"/>
            <a:ext cx="3473700" cy="3165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Times New Roman"/>
              <a:buChar char="●"/>
            </a:pPr>
            <a:r>
              <a:rPr b="1" lang="en-GB" sz="1800">
                <a:solidFill>
                  <a:schemeClr val="dk1"/>
                </a:solidFill>
                <a:latin typeface="Times New Roman"/>
                <a:ea typeface="Times New Roman"/>
                <a:cs typeface="Times New Roman"/>
                <a:sym typeface="Times New Roman"/>
              </a:rPr>
              <a:t>Team Responsibilities</a:t>
            </a:r>
            <a:endParaRPr b="1"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p:txBody>
      </p:sp>
      <p:sp>
        <p:nvSpPr>
          <p:cNvPr id="144" name="Google Shape;144;p17"/>
          <p:cNvSpPr txBox="1"/>
          <p:nvPr/>
        </p:nvSpPr>
        <p:spPr>
          <a:xfrm>
            <a:off x="5476687" y="681707"/>
            <a:ext cx="2627100" cy="3165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Times New Roman"/>
              <a:buChar char="●"/>
            </a:pPr>
            <a:r>
              <a:rPr b="1" lang="en-GB" sz="1800">
                <a:solidFill>
                  <a:schemeClr val="dk1"/>
                </a:solidFill>
                <a:latin typeface="Times New Roman"/>
                <a:ea typeface="Times New Roman"/>
                <a:cs typeface="Times New Roman"/>
                <a:sym typeface="Times New Roman"/>
              </a:rPr>
              <a:t>Scope of work</a:t>
            </a:r>
            <a:endParaRPr b="1" sz="18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8"/>
          <p:cNvSpPr/>
          <p:nvPr/>
        </p:nvSpPr>
        <p:spPr>
          <a:xfrm>
            <a:off x="0" y="-305225"/>
            <a:ext cx="9288200" cy="1115650"/>
          </a:xfrm>
          <a:prstGeom prst="flowChartPunchedTape">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rPr lang="en-GB" sz="2800">
                <a:solidFill>
                  <a:schemeClr val="dk1"/>
                </a:solidFill>
                <a:latin typeface="Roboto Black"/>
                <a:ea typeface="Roboto Black"/>
                <a:cs typeface="Roboto Black"/>
                <a:sym typeface="Roboto Black"/>
              </a:rPr>
              <a:t>IV.		</a:t>
            </a:r>
            <a:r>
              <a:rPr lang="en-GB" sz="2800">
                <a:solidFill>
                  <a:schemeClr val="dk1"/>
                </a:solidFill>
                <a:latin typeface="Roboto Black"/>
                <a:ea typeface="Roboto Black"/>
                <a:cs typeface="Roboto Black"/>
                <a:sym typeface="Roboto Black"/>
              </a:rPr>
              <a:t>Methodology</a:t>
            </a:r>
            <a:endParaRPr sz="3400">
              <a:latin typeface="Roboto Black"/>
              <a:ea typeface="Roboto Black"/>
              <a:cs typeface="Roboto Black"/>
              <a:sym typeface="Roboto Black"/>
            </a:endParaRPr>
          </a:p>
        </p:txBody>
      </p:sp>
      <p:sp>
        <p:nvSpPr>
          <p:cNvPr id="150" name="Google Shape;150;p18"/>
          <p:cNvSpPr txBox="1"/>
          <p:nvPr>
            <p:ph idx="12" type="sldNum"/>
          </p:nvPr>
        </p:nvSpPr>
        <p:spPr>
          <a:xfrm>
            <a:off x="7962053" y="4663225"/>
            <a:ext cx="1059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GB" sz="1200">
                <a:solidFill>
                  <a:schemeClr val="dk1"/>
                </a:solidFill>
              </a:rPr>
              <a:t>Page </a:t>
            </a:r>
            <a:fld id="{00000000-1234-1234-1234-123412341234}" type="slidenum">
              <a:rPr b="1" lang="en-GB" sz="1200">
                <a:solidFill>
                  <a:schemeClr val="dk1"/>
                </a:solidFill>
              </a:rPr>
              <a:t>‹#›</a:t>
            </a:fld>
            <a:r>
              <a:rPr lang="en-GB" sz="1200">
                <a:solidFill>
                  <a:schemeClr val="dk1"/>
                </a:solidFill>
              </a:rPr>
              <a:t> of </a:t>
            </a:r>
            <a:r>
              <a:rPr b="1" lang="en-GB" sz="1200">
                <a:solidFill>
                  <a:schemeClr val="dk1"/>
                </a:solidFill>
              </a:rPr>
              <a:t>18</a:t>
            </a:r>
            <a:endParaRPr sz="1200">
              <a:solidFill>
                <a:schemeClr val="dk1"/>
              </a:solidFill>
            </a:endParaRPr>
          </a:p>
        </p:txBody>
      </p:sp>
      <p:sp>
        <p:nvSpPr>
          <p:cNvPr id="151" name="Google Shape;151;p18"/>
          <p:cNvSpPr/>
          <p:nvPr/>
        </p:nvSpPr>
        <p:spPr>
          <a:xfrm>
            <a:off x="3361450" y="1000150"/>
            <a:ext cx="1963200" cy="576900"/>
          </a:xfrm>
          <a:prstGeom prst="roundRect">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Methodology</a:t>
            </a:r>
            <a:endParaRPr>
              <a:latin typeface="Times New Roman"/>
              <a:ea typeface="Times New Roman"/>
              <a:cs typeface="Times New Roman"/>
              <a:sym typeface="Times New Roman"/>
            </a:endParaRPr>
          </a:p>
        </p:txBody>
      </p:sp>
      <p:sp>
        <p:nvSpPr>
          <p:cNvPr id="152" name="Google Shape;152;p18"/>
          <p:cNvSpPr/>
          <p:nvPr/>
        </p:nvSpPr>
        <p:spPr>
          <a:xfrm>
            <a:off x="1285475" y="1956875"/>
            <a:ext cx="1963200" cy="576900"/>
          </a:xfrm>
          <a:prstGeom prst="roundRect">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Theory and Formula</a:t>
            </a:r>
            <a:endParaRPr>
              <a:latin typeface="Times New Roman"/>
              <a:ea typeface="Times New Roman"/>
              <a:cs typeface="Times New Roman"/>
              <a:sym typeface="Times New Roman"/>
            </a:endParaRPr>
          </a:p>
        </p:txBody>
      </p:sp>
      <p:sp>
        <p:nvSpPr>
          <p:cNvPr id="153" name="Google Shape;153;p18"/>
          <p:cNvSpPr/>
          <p:nvPr/>
        </p:nvSpPr>
        <p:spPr>
          <a:xfrm>
            <a:off x="5421825" y="1904900"/>
            <a:ext cx="1963200" cy="576900"/>
          </a:xfrm>
          <a:prstGeom prst="roundRect">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Simulation</a:t>
            </a:r>
            <a:endParaRPr>
              <a:latin typeface="Times New Roman"/>
              <a:ea typeface="Times New Roman"/>
              <a:cs typeface="Times New Roman"/>
              <a:sym typeface="Times New Roman"/>
            </a:endParaRPr>
          </a:p>
        </p:txBody>
      </p:sp>
      <p:sp>
        <p:nvSpPr>
          <p:cNvPr id="154" name="Google Shape;154;p18"/>
          <p:cNvSpPr/>
          <p:nvPr/>
        </p:nvSpPr>
        <p:spPr>
          <a:xfrm>
            <a:off x="4452400" y="2820250"/>
            <a:ext cx="1059000" cy="576900"/>
          </a:xfrm>
          <a:prstGeom prst="roundRect">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CAE</a:t>
            </a:r>
            <a:endParaRPr>
              <a:latin typeface="Times New Roman"/>
              <a:ea typeface="Times New Roman"/>
              <a:cs typeface="Times New Roman"/>
              <a:sym typeface="Times New Roman"/>
            </a:endParaRPr>
          </a:p>
        </p:txBody>
      </p:sp>
      <p:sp>
        <p:nvSpPr>
          <p:cNvPr id="155" name="Google Shape;155;p18"/>
          <p:cNvSpPr/>
          <p:nvPr/>
        </p:nvSpPr>
        <p:spPr>
          <a:xfrm>
            <a:off x="5889226" y="2772625"/>
            <a:ext cx="1059000" cy="576900"/>
          </a:xfrm>
          <a:prstGeom prst="roundRect">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CAD</a:t>
            </a:r>
            <a:endParaRPr>
              <a:latin typeface="Times New Roman"/>
              <a:ea typeface="Times New Roman"/>
              <a:cs typeface="Times New Roman"/>
              <a:sym typeface="Times New Roman"/>
            </a:endParaRPr>
          </a:p>
        </p:txBody>
      </p:sp>
      <p:sp>
        <p:nvSpPr>
          <p:cNvPr id="156" name="Google Shape;156;p18"/>
          <p:cNvSpPr/>
          <p:nvPr/>
        </p:nvSpPr>
        <p:spPr>
          <a:xfrm>
            <a:off x="7295450" y="2799075"/>
            <a:ext cx="1059000" cy="576900"/>
          </a:xfrm>
          <a:prstGeom prst="roundRect">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CFD</a:t>
            </a:r>
            <a:endParaRPr>
              <a:latin typeface="Times New Roman"/>
              <a:ea typeface="Times New Roman"/>
              <a:cs typeface="Times New Roman"/>
              <a:sym typeface="Times New Roman"/>
            </a:endParaRPr>
          </a:p>
        </p:txBody>
      </p:sp>
      <p:pic>
        <p:nvPicPr>
          <p:cNvPr id="157" name="Google Shape;157;p18"/>
          <p:cNvPicPr preferRelativeResize="0"/>
          <p:nvPr/>
        </p:nvPicPr>
        <p:blipFill rotWithShape="1">
          <a:blip r:embed="rId3">
            <a:alphaModFix/>
          </a:blip>
          <a:srcRect b="22131" l="0" r="66732" t="0"/>
          <a:stretch/>
        </p:blipFill>
        <p:spPr>
          <a:xfrm>
            <a:off x="4267600" y="3576275"/>
            <a:ext cx="1428599" cy="1386850"/>
          </a:xfrm>
          <a:prstGeom prst="rect">
            <a:avLst/>
          </a:prstGeom>
          <a:noFill/>
          <a:ln>
            <a:noFill/>
          </a:ln>
        </p:spPr>
      </p:pic>
      <p:sp>
        <p:nvSpPr>
          <p:cNvPr id="158" name="Google Shape;158;p18"/>
          <p:cNvSpPr txBox="1"/>
          <p:nvPr/>
        </p:nvSpPr>
        <p:spPr>
          <a:xfrm>
            <a:off x="2381502" y="5017113"/>
            <a:ext cx="3923100" cy="442800"/>
          </a:xfrm>
          <a:prstGeom prst="rect">
            <a:avLst/>
          </a:prstGeom>
          <a:noFill/>
          <a:ln>
            <a:noFill/>
          </a:ln>
        </p:spPr>
        <p:txBody>
          <a:bodyPr anchorCtr="0" anchor="t" bIns="119550" lIns="119550" spcFirstLastPara="1" rIns="119550" wrap="square" tIns="119550">
            <a:spAutoFit/>
          </a:bodyPr>
          <a:lstStyle/>
          <a:p>
            <a:pPr indent="0" lvl="0" marL="0" rtl="0" algn="r">
              <a:spcBef>
                <a:spcPts val="0"/>
              </a:spcBef>
              <a:spcAft>
                <a:spcPts val="0"/>
              </a:spcAft>
              <a:buNone/>
            </a:pPr>
            <a:r>
              <a:t/>
            </a:r>
            <a:endParaRPr b="1" sz="1308">
              <a:solidFill>
                <a:schemeClr val="dk2"/>
              </a:solidFill>
            </a:endParaRPr>
          </a:p>
        </p:txBody>
      </p:sp>
      <p:pic>
        <p:nvPicPr>
          <p:cNvPr id="159" name="Google Shape;159;p18"/>
          <p:cNvPicPr preferRelativeResize="0"/>
          <p:nvPr/>
        </p:nvPicPr>
        <p:blipFill rotWithShape="1">
          <a:blip r:embed="rId3">
            <a:alphaModFix/>
          </a:blip>
          <a:srcRect b="22131" l="66732" r="0" t="0"/>
          <a:stretch/>
        </p:blipFill>
        <p:spPr>
          <a:xfrm>
            <a:off x="7223108" y="3540125"/>
            <a:ext cx="1228802" cy="1192875"/>
          </a:xfrm>
          <a:prstGeom prst="rect">
            <a:avLst/>
          </a:prstGeom>
          <a:noFill/>
          <a:ln>
            <a:noFill/>
          </a:ln>
        </p:spPr>
      </p:pic>
      <p:pic>
        <p:nvPicPr>
          <p:cNvPr id="160" name="Google Shape;160;p18"/>
          <p:cNvPicPr preferRelativeResize="0"/>
          <p:nvPr/>
        </p:nvPicPr>
        <p:blipFill rotWithShape="1">
          <a:blip r:embed="rId3">
            <a:alphaModFix/>
          </a:blip>
          <a:srcRect b="22131" l="35984" r="34306" t="0"/>
          <a:stretch/>
        </p:blipFill>
        <p:spPr>
          <a:xfrm>
            <a:off x="5852117" y="3540126"/>
            <a:ext cx="1319658" cy="1434525"/>
          </a:xfrm>
          <a:prstGeom prst="rect">
            <a:avLst/>
          </a:prstGeom>
          <a:noFill/>
          <a:ln>
            <a:noFill/>
          </a:ln>
        </p:spPr>
      </p:pic>
      <p:cxnSp>
        <p:nvCxnSpPr>
          <p:cNvPr id="161" name="Google Shape;161;p18"/>
          <p:cNvCxnSpPr>
            <a:endCxn id="152" idx="0"/>
          </p:cNvCxnSpPr>
          <p:nvPr/>
        </p:nvCxnSpPr>
        <p:spPr>
          <a:xfrm flipH="1">
            <a:off x="2267075" y="1272275"/>
            <a:ext cx="9300" cy="684600"/>
          </a:xfrm>
          <a:prstGeom prst="straightConnector1">
            <a:avLst/>
          </a:prstGeom>
          <a:noFill/>
          <a:ln cap="flat" cmpd="sng" w="9525">
            <a:solidFill>
              <a:schemeClr val="dk2"/>
            </a:solidFill>
            <a:prstDash val="solid"/>
            <a:round/>
            <a:headEnd len="med" w="med" type="none"/>
            <a:tailEnd len="med" w="med" type="triangle"/>
          </a:ln>
        </p:spPr>
      </p:cxnSp>
      <p:cxnSp>
        <p:nvCxnSpPr>
          <p:cNvPr id="162" name="Google Shape;162;p18"/>
          <p:cNvCxnSpPr/>
          <p:nvPr/>
        </p:nvCxnSpPr>
        <p:spPr>
          <a:xfrm>
            <a:off x="4943450" y="2215675"/>
            <a:ext cx="5400" cy="604500"/>
          </a:xfrm>
          <a:prstGeom prst="straightConnector1">
            <a:avLst/>
          </a:prstGeom>
          <a:noFill/>
          <a:ln cap="flat" cmpd="sng" w="9525">
            <a:solidFill>
              <a:schemeClr val="dk2"/>
            </a:solidFill>
            <a:prstDash val="solid"/>
            <a:round/>
            <a:headEnd len="med" w="med" type="none"/>
            <a:tailEnd len="med" w="med" type="triangle"/>
          </a:ln>
        </p:spPr>
      </p:cxnSp>
      <p:cxnSp>
        <p:nvCxnSpPr>
          <p:cNvPr id="163" name="Google Shape;163;p18"/>
          <p:cNvCxnSpPr/>
          <p:nvPr/>
        </p:nvCxnSpPr>
        <p:spPr>
          <a:xfrm>
            <a:off x="6412100" y="2466875"/>
            <a:ext cx="15000" cy="302400"/>
          </a:xfrm>
          <a:prstGeom prst="straightConnector1">
            <a:avLst/>
          </a:prstGeom>
          <a:noFill/>
          <a:ln cap="flat" cmpd="sng" w="9525">
            <a:solidFill>
              <a:schemeClr val="dk2"/>
            </a:solidFill>
            <a:prstDash val="solid"/>
            <a:round/>
            <a:headEnd len="med" w="med" type="none"/>
            <a:tailEnd len="med" w="med" type="triangle"/>
          </a:ln>
        </p:spPr>
      </p:cxnSp>
      <p:cxnSp>
        <p:nvCxnSpPr>
          <p:cNvPr id="164" name="Google Shape;164;p18"/>
          <p:cNvCxnSpPr/>
          <p:nvPr/>
        </p:nvCxnSpPr>
        <p:spPr>
          <a:xfrm flipH="1">
            <a:off x="6405275" y="1271000"/>
            <a:ext cx="13800" cy="633900"/>
          </a:xfrm>
          <a:prstGeom prst="straightConnector1">
            <a:avLst/>
          </a:prstGeom>
          <a:noFill/>
          <a:ln cap="flat" cmpd="sng" w="9525">
            <a:solidFill>
              <a:schemeClr val="dk2"/>
            </a:solidFill>
            <a:prstDash val="solid"/>
            <a:round/>
            <a:headEnd len="med" w="med" type="none"/>
            <a:tailEnd len="med" w="med" type="triangle"/>
          </a:ln>
        </p:spPr>
      </p:cxnSp>
      <p:cxnSp>
        <p:nvCxnSpPr>
          <p:cNvPr id="165" name="Google Shape;165;p18"/>
          <p:cNvCxnSpPr/>
          <p:nvPr/>
        </p:nvCxnSpPr>
        <p:spPr>
          <a:xfrm>
            <a:off x="7822650" y="2160850"/>
            <a:ext cx="6900" cy="638400"/>
          </a:xfrm>
          <a:prstGeom prst="straightConnector1">
            <a:avLst/>
          </a:prstGeom>
          <a:noFill/>
          <a:ln cap="flat" cmpd="sng" w="9525">
            <a:solidFill>
              <a:schemeClr val="dk2"/>
            </a:solidFill>
            <a:prstDash val="solid"/>
            <a:round/>
            <a:headEnd len="med" w="med" type="none"/>
            <a:tailEnd len="med" w="med" type="triangle"/>
          </a:ln>
        </p:spPr>
      </p:cxnSp>
      <p:cxnSp>
        <p:nvCxnSpPr>
          <p:cNvPr id="166" name="Google Shape;166;p18"/>
          <p:cNvCxnSpPr>
            <a:endCxn id="153" idx="1"/>
          </p:cNvCxnSpPr>
          <p:nvPr/>
        </p:nvCxnSpPr>
        <p:spPr>
          <a:xfrm flipH="1" rot="10800000">
            <a:off x="4949625" y="2193350"/>
            <a:ext cx="472200" cy="16200"/>
          </a:xfrm>
          <a:prstGeom prst="straightConnector1">
            <a:avLst/>
          </a:prstGeom>
          <a:noFill/>
          <a:ln cap="flat" cmpd="sng" w="9525">
            <a:solidFill>
              <a:schemeClr val="dk2"/>
            </a:solidFill>
            <a:prstDash val="solid"/>
            <a:round/>
            <a:headEnd len="med" w="med" type="none"/>
            <a:tailEnd len="med" w="med" type="none"/>
          </a:ln>
        </p:spPr>
      </p:cxnSp>
      <p:cxnSp>
        <p:nvCxnSpPr>
          <p:cNvPr id="167" name="Google Shape;167;p18"/>
          <p:cNvCxnSpPr/>
          <p:nvPr/>
        </p:nvCxnSpPr>
        <p:spPr>
          <a:xfrm>
            <a:off x="7385025" y="2148850"/>
            <a:ext cx="443700" cy="12900"/>
          </a:xfrm>
          <a:prstGeom prst="straightConnector1">
            <a:avLst/>
          </a:prstGeom>
          <a:noFill/>
          <a:ln cap="flat" cmpd="sng" w="9525">
            <a:solidFill>
              <a:schemeClr val="dk2"/>
            </a:solidFill>
            <a:prstDash val="solid"/>
            <a:round/>
            <a:headEnd len="med" w="med" type="none"/>
            <a:tailEnd len="med" w="med" type="none"/>
          </a:ln>
        </p:spPr>
      </p:cxnSp>
      <p:cxnSp>
        <p:nvCxnSpPr>
          <p:cNvPr id="168" name="Google Shape;168;p18"/>
          <p:cNvCxnSpPr>
            <a:endCxn id="151" idx="1"/>
          </p:cNvCxnSpPr>
          <p:nvPr/>
        </p:nvCxnSpPr>
        <p:spPr>
          <a:xfrm>
            <a:off x="2272750" y="1282600"/>
            <a:ext cx="1088700" cy="6000"/>
          </a:xfrm>
          <a:prstGeom prst="straightConnector1">
            <a:avLst/>
          </a:prstGeom>
          <a:noFill/>
          <a:ln cap="flat" cmpd="sng" w="9525">
            <a:solidFill>
              <a:schemeClr val="dk2"/>
            </a:solidFill>
            <a:prstDash val="solid"/>
            <a:round/>
            <a:headEnd len="med" w="med" type="none"/>
            <a:tailEnd len="med" w="med" type="none"/>
          </a:ln>
        </p:spPr>
      </p:cxnSp>
      <p:cxnSp>
        <p:nvCxnSpPr>
          <p:cNvPr id="169" name="Google Shape;169;p18"/>
          <p:cNvCxnSpPr>
            <a:stCxn id="151" idx="3"/>
          </p:cNvCxnSpPr>
          <p:nvPr/>
        </p:nvCxnSpPr>
        <p:spPr>
          <a:xfrm flipH="1" rot="10800000">
            <a:off x="5324650" y="1282600"/>
            <a:ext cx="1097700" cy="6000"/>
          </a:xfrm>
          <a:prstGeom prst="straightConnector1">
            <a:avLst/>
          </a:prstGeom>
          <a:noFill/>
          <a:ln cap="flat" cmpd="sng" w="9525">
            <a:solidFill>
              <a:schemeClr val="dk2"/>
            </a:solidFill>
            <a:prstDash val="solid"/>
            <a:round/>
            <a:headEnd len="med" w="med" type="none"/>
            <a:tailEnd len="med" w="med" type="none"/>
          </a:ln>
        </p:spPr>
      </p:cxnSp>
      <p:pic>
        <p:nvPicPr>
          <p:cNvPr id="170" name="Google Shape;170;p18"/>
          <p:cNvPicPr preferRelativeResize="0"/>
          <p:nvPr/>
        </p:nvPicPr>
        <p:blipFill>
          <a:blip r:embed="rId4">
            <a:alphaModFix/>
          </a:blip>
          <a:stretch>
            <a:fillRect/>
          </a:stretch>
        </p:blipFill>
        <p:spPr>
          <a:xfrm>
            <a:off x="1318650" y="2654224"/>
            <a:ext cx="1906250" cy="19062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9"/>
          <p:cNvSpPr/>
          <p:nvPr/>
        </p:nvSpPr>
        <p:spPr>
          <a:xfrm>
            <a:off x="0" y="-305225"/>
            <a:ext cx="9288200" cy="1115650"/>
          </a:xfrm>
          <a:prstGeom prst="flowChartPunchedTape">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rPr lang="en-GB" sz="2800">
                <a:solidFill>
                  <a:schemeClr val="dk1"/>
                </a:solidFill>
                <a:latin typeface="Roboto Black"/>
                <a:ea typeface="Roboto Black"/>
                <a:cs typeface="Roboto Black"/>
                <a:sym typeface="Roboto Black"/>
              </a:rPr>
              <a:t>1.	</a:t>
            </a:r>
            <a:r>
              <a:rPr lang="en-GB" sz="2800">
                <a:solidFill>
                  <a:schemeClr val="dk1"/>
                </a:solidFill>
                <a:latin typeface="Roboto Black"/>
                <a:ea typeface="Roboto Black"/>
                <a:cs typeface="Roboto Black"/>
                <a:sym typeface="Roboto Black"/>
              </a:rPr>
              <a:t>Theory and Formula</a:t>
            </a:r>
            <a:endParaRPr sz="3400">
              <a:latin typeface="Roboto Black"/>
              <a:ea typeface="Roboto Black"/>
              <a:cs typeface="Roboto Black"/>
              <a:sym typeface="Roboto Black"/>
            </a:endParaRPr>
          </a:p>
        </p:txBody>
      </p:sp>
      <p:sp>
        <p:nvSpPr>
          <p:cNvPr id="176" name="Google Shape;176;p19"/>
          <p:cNvSpPr txBox="1"/>
          <p:nvPr/>
        </p:nvSpPr>
        <p:spPr>
          <a:xfrm>
            <a:off x="2347025" y="3157475"/>
            <a:ext cx="3000000" cy="338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t/>
            </a:r>
            <a:endParaRPr b="1" sz="1000">
              <a:solidFill>
                <a:schemeClr val="dk2"/>
              </a:solidFill>
            </a:endParaRPr>
          </a:p>
        </p:txBody>
      </p:sp>
      <p:sp>
        <p:nvSpPr>
          <p:cNvPr id="177" name="Google Shape;177;p19"/>
          <p:cNvSpPr txBox="1"/>
          <p:nvPr>
            <p:ph idx="12" type="sldNum"/>
          </p:nvPr>
        </p:nvSpPr>
        <p:spPr>
          <a:xfrm>
            <a:off x="7962053" y="4663225"/>
            <a:ext cx="1059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GB" sz="1200">
                <a:solidFill>
                  <a:schemeClr val="dk1"/>
                </a:solidFill>
              </a:rPr>
              <a:t>Page </a:t>
            </a:r>
            <a:fld id="{00000000-1234-1234-1234-123412341234}" type="slidenum">
              <a:rPr b="1" lang="en-GB" sz="1200">
                <a:solidFill>
                  <a:schemeClr val="dk1"/>
                </a:solidFill>
              </a:rPr>
              <a:t>‹#›</a:t>
            </a:fld>
            <a:r>
              <a:rPr lang="en-GB" sz="1200">
                <a:solidFill>
                  <a:schemeClr val="dk1"/>
                </a:solidFill>
              </a:rPr>
              <a:t> of </a:t>
            </a:r>
            <a:r>
              <a:rPr b="1" lang="en-GB" sz="1200">
                <a:solidFill>
                  <a:schemeClr val="dk1"/>
                </a:solidFill>
              </a:rPr>
              <a:t>18</a:t>
            </a:r>
            <a:endParaRPr sz="1200">
              <a:solidFill>
                <a:schemeClr val="dk1"/>
              </a:solidFill>
            </a:endParaRPr>
          </a:p>
        </p:txBody>
      </p:sp>
      <p:sp>
        <p:nvSpPr>
          <p:cNvPr id="178" name="Google Shape;178;p19"/>
          <p:cNvSpPr txBox="1"/>
          <p:nvPr/>
        </p:nvSpPr>
        <p:spPr>
          <a:xfrm>
            <a:off x="588075" y="1151275"/>
            <a:ext cx="3000000" cy="332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179" name="Google Shape;179;p19"/>
          <p:cNvPicPr preferRelativeResize="0"/>
          <p:nvPr/>
        </p:nvPicPr>
        <p:blipFill>
          <a:blip r:embed="rId3">
            <a:alphaModFix/>
          </a:blip>
          <a:stretch>
            <a:fillRect/>
          </a:stretch>
        </p:blipFill>
        <p:spPr>
          <a:xfrm>
            <a:off x="412475" y="930050"/>
            <a:ext cx="4159525" cy="1816575"/>
          </a:xfrm>
          <a:prstGeom prst="rect">
            <a:avLst/>
          </a:prstGeom>
          <a:noFill/>
          <a:ln>
            <a:noFill/>
          </a:ln>
        </p:spPr>
      </p:pic>
      <p:pic>
        <p:nvPicPr>
          <p:cNvPr id="180" name="Google Shape;180;p19"/>
          <p:cNvPicPr preferRelativeResize="0"/>
          <p:nvPr/>
        </p:nvPicPr>
        <p:blipFill rotWithShape="1">
          <a:blip r:embed="rId4">
            <a:alphaModFix/>
          </a:blip>
          <a:srcRect b="56330" l="0" r="0" t="0"/>
          <a:stretch/>
        </p:blipFill>
        <p:spPr>
          <a:xfrm>
            <a:off x="308306" y="2821025"/>
            <a:ext cx="4017650" cy="1842200"/>
          </a:xfrm>
          <a:prstGeom prst="rect">
            <a:avLst/>
          </a:prstGeom>
          <a:noFill/>
          <a:ln>
            <a:noFill/>
          </a:ln>
        </p:spPr>
      </p:pic>
      <p:pic>
        <p:nvPicPr>
          <p:cNvPr id="181" name="Google Shape;181;p19"/>
          <p:cNvPicPr preferRelativeResize="0"/>
          <p:nvPr/>
        </p:nvPicPr>
        <p:blipFill rotWithShape="1">
          <a:blip r:embed="rId4">
            <a:alphaModFix/>
          </a:blip>
          <a:srcRect b="0" l="0" r="0" t="49063"/>
          <a:stretch/>
        </p:blipFill>
        <p:spPr>
          <a:xfrm>
            <a:off x="5033150" y="763913"/>
            <a:ext cx="4017650" cy="2148850"/>
          </a:xfrm>
          <a:prstGeom prst="rect">
            <a:avLst/>
          </a:prstGeom>
          <a:noFill/>
          <a:ln>
            <a:noFill/>
          </a:ln>
        </p:spPr>
      </p:pic>
      <p:cxnSp>
        <p:nvCxnSpPr>
          <p:cNvPr id="182" name="Google Shape;182;p19"/>
          <p:cNvCxnSpPr/>
          <p:nvPr/>
        </p:nvCxnSpPr>
        <p:spPr>
          <a:xfrm>
            <a:off x="4657325" y="677850"/>
            <a:ext cx="0" cy="4464600"/>
          </a:xfrm>
          <a:prstGeom prst="straightConnector1">
            <a:avLst/>
          </a:prstGeom>
          <a:noFill/>
          <a:ln cap="flat" cmpd="sng" w="38100">
            <a:solidFill>
              <a:schemeClr val="dk2"/>
            </a:solidFill>
            <a:prstDash val="solid"/>
            <a:round/>
            <a:headEnd len="med" w="med" type="none"/>
            <a:tailEnd len="med" w="med" type="none"/>
          </a:ln>
        </p:spPr>
      </p:cxnSp>
      <p:pic>
        <p:nvPicPr>
          <p:cNvPr id="183" name="Google Shape;183;p19"/>
          <p:cNvPicPr preferRelativeResize="0"/>
          <p:nvPr/>
        </p:nvPicPr>
        <p:blipFill rotWithShape="1">
          <a:blip r:embed="rId5">
            <a:alphaModFix/>
          </a:blip>
          <a:srcRect b="67850" l="0" r="0" t="0"/>
          <a:stretch/>
        </p:blipFill>
        <p:spPr>
          <a:xfrm>
            <a:off x="4862675" y="3008821"/>
            <a:ext cx="4017650" cy="116635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0"/>
          <p:cNvSpPr/>
          <p:nvPr/>
        </p:nvSpPr>
        <p:spPr>
          <a:xfrm>
            <a:off x="0" y="-305225"/>
            <a:ext cx="9288200" cy="1115650"/>
          </a:xfrm>
          <a:prstGeom prst="flowChartPunchedTape">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rPr lang="en-GB" sz="2800">
                <a:solidFill>
                  <a:schemeClr val="dk1"/>
                </a:solidFill>
                <a:latin typeface="Roboto Black"/>
                <a:ea typeface="Roboto Black"/>
                <a:cs typeface="Roboto Black"/>
                <a:sym typeface="Roboto Black"/>
              </a:rPr>
              <a:t>1.	Theory and Formula</a:t>
            </a:r>
            <a:endParaRPr sz="3400">
              <a:latin typeface="Roboto Black"/>
              <a:ea typeface="Roboto Black"/>
              <a:cs typeface="Roboto Black"/>
              <a:sym typeface="Roboto Black"/>
            </a:endParaRPr>
          </a:p>
        </p:txBody>
      </p:sp>
      <p:sp>
        <p:nvSpPr>
          <p:cNvPr id="189" name="Google Shape;189;p20"/>
          <p:cNvSpPr txBox="1"/>
          <p:nvPr/>
        </p:nvSpPr>
        <p:spPr>
          <a:xfrm>
            <a:off x="2347025" y="2888448"/>
            <a:ext cx="3000000" cy="338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t/>
            </a:r>
            <a:endParaRPr b="1" sz="1000">
              <a:solidFill>
                <a:schemeClr val="dk2"/>
              </a:solidFill>
            </a:endParaRPr>
          </a:p>
        </p:txBody>
      </p:sp>
      <p:sp>
        <p:nvSpPr>
          <p:cNvPr id="190" name="Google Shape;190;p20"/>
          <p:cNvSpPr txBox="1"/>
          <p:nvPr>
            <p:ph idx="12" type="sldNum"/>
          </p:nvPr>
        </p:nvSpPr>
        <p:spPr>
          <a:xfrm>
            <a:off x="7962053" y="4663225"/>
            <a:ext cx="1059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GB" sz="1200">
                <a:solidFill>
                  <a:schemeClr val="dk1"/>
                </a:solidFill>
              </a:rPr>
              <a:t>Page </a:t>
            </a:r>
            <a:fld id="{00000000-1234-1234-1234-123412341234}" type="slidenum">
              <a:rPr b="1" lang="en-GB" sz="1200">
                <a:solidFill>
                  <a:schemeClr val="dk1"/>
                </a:solidFill>
              </a:rPr>
              <a:t>‹#›</a:t>
            </a:fld>
            <a:r>
              <a:rPr lang="en-GB" sz="1200">
                <a:solidFill>
                  <a:schemeClr val="dk1"/>
                </a:solidFill>
              </a:rPr>
              <a:t> of </a:t>
            </a:r>
            <a:r>
              <a:rPr b="1" lang="en-GB" sz="1200">
                <a:solidFill>
                  <a:schemeClr val="dk1"/>
                </a:solidFill>
              </a:rPr>
              <a:t>18</a:t>
            </a:r>
            <a:endParaRPr sz="1200">
              <a:solidFill>
                <a:schemeClr val="dk1"/>
              </a:solidFill>
            </a:endParaRPr>
          </a:p>
        </p:txBody>
      </p:sp>
      <p:sp>
        <p:nvSpPr>
          <p:cNvPr id="191" name="Google Shape;191;p20"/>
          <p:cNvSpPr txBox="1"/>
          <p:nvPr/>
        </p:nvSpPr>
        <p:spPr>
          <a:xfrm>
            <a:off x="588075" y="882248"/>
            <a:ext cx="3000000" cy="332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192" name="Google Shape;192;p20"/>
          <p:cNvPicPr preferRelativeResize="0"/>
          <p:nvPr/>
        </p:nvPicPr>
        <p:blipFill rotWithShape="1">
          <a:blip r:embed="rId3">
            <a:alphaModFix/>
          </a:blip>
          <a:srcRect b="0" l="0" r="0" t="33079"/>
          <a:stretch/>
        </p:blipFill>
        <p:spPr>
          <a:xfrm>
            <a:off x="67875" y="882248"/>
            <a:ext cx="4345624" cy="2626075"/>
          </a:xfrm>
          <a:prstGeom prst="rect">
            <a:avLst/>
          </a:prstGeom>
          <a:noFill/>
          <a:ln>
            <a:noFill/>
          </a:ln>
        </p:spPr>
      </p:pic>
      <p:pic>
        <p:nvPicPr>
          <p:cNvPr id="193" name="Google Shape;193;p20"/>
          <p:cNvPicPr preferRelativeResize="0"/>
          <p:nvPr/>
        </p:nvPicPr>
        <p:blipFill rotWithShape="1">
          <a:blip r:embed="rId4">
            <a:alphaModFix/>
          </a:blip>
          <a:srcRect b="66057" l="0" r="0" t="0"/>
          <a:stretch/>
        </p:blipFill>
        <p:spPr>
          <a:xfrm>
            <a:off x="136400" y="3351049"/>
            <a:ext cx="3626000" cy="1745900"/>
          </a:xfrm>
          <a:prstGeom prst="rect">
            <a:avLst/>
          </a:prstGeom>
          <a:noFill/>
          <a:ln>
            <a:noFill/>
          </a:ln>
        </p:spPr>
      </p:pic>
      <p:pic>
        <p:nvPicPr>
          <p:cNvPr id="194" name="Google Shape;194;p20"/>
          <p:cNvPicPr preferRelativeResize="0"/>
          <p:nvPr/>
        </p:nvPicPr>
        <p:blipFill rotWithShape="1">
          <a:blip r:embed="rId4">
            <a:alphaModFix/>
          </a:blip>
          <a:srcRect b="0" l="0" r="0" t="39886"/>
          <a:stretch/>
        </p:blipFill>
        <p:spPr>
          <a:xfrm>
            <a:off x="5120250" y="910150"/>
            <a:ext cx="3626000" cy="3091925"/>
          </a:xfrm>
          <a:prstGeom prst="rect">
            <a:avLst/>
          </a:prstGeom>
          <a:noFill/>
          <a:ln>
            <a:noFill/>
          </a:ln>
        </p:spPr>
      </p:pic>
      <p:cxnSp>
        <p:nvCxnSpPr>
          <p:cNvPr id="195" name="Google Shape;195;p20"/>
          <p:cNvCxnSpPr/>
          <p:nvPr/>
        </p:nvCxnSpPr>
        <p:spPr>
          <a:xfrm>
            <a:off x="4657325" y="677850"/>
            <a:ext cx="0" cy="4464600"/>
          </a:xfrm>
          <a:prstGeom prst="straightConnector1">
            <a:avLst/>
          </a:prstGeom>
          <a:noFill/>
          <a:ln cap="flat" cmpd="sng" w="38100">
            <a:solidFill>
              <a:schemeClr val="dk2"/>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1"/>
          <p:cNvSpPr/>
          <p:nvPr/>
        </p:nvSpPr>
        <p:spPr>
          <a:xfrm>
            <a:off x="0" y="-305225"/>
            <a:ext cx="9288200" cy="1115650"/>
          </a:xfrm>
          <a:prstGeom prst="flowChartPunchedTape">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rPr lang="en-GB" sz="2800">
                <a:solidFill>
                  <a:schemeClr val="dk1"/>
                </a:solidFill>
                <a:latin typeface="Roboto Black"/>
                <a:ea typeface="Roboto Black"/>
                <a:cs typeface="Roboto Black"/>
                <a:sym typeface="Roboto Black"/>
              </a:rPr>
              <a:t>2. </a:t>
            </a:r>
            <a:r>
              <a:rPr b="1" lang="en-GB" sz="2800">
                <a:solidFill>
                  <a:schemeClr val="dk1"/>
                </a:solidFill>
                <a:latin typeface="Roboto"/>
                <a:ea typeface="Roboto"/>
                <a:cs typeface="Roboto"/>
                <a:sym typeface="Roboto"/>
              </a:rPr>
              <a:t>Simulation</a:t>
            </a:r>
            <a:endParaRPr sz="2800">
              <a:latin typeface="Roboto Black"/>
              <a:ea typeface="Roboto Black"/>
              <a:cs typeface="Roboto Black"/>
              <a:sym typeface="Roboto Black"/>
            </a:endParaRPr>
          </a:p>
        </p:txBody>
      </p:sp>
      <p:sp>
        <p:nvSpPr>
          <p:cNvPr id="201" name="Google Shape;201;p21"/>
          <p:cNvSpPr txBox="1"/>
          <p:nvPr>
            <p:ph idx="12" type="sldNum"/>
          </p:nvPr>
        </p:nvSpPr>
        <p:spPr>
          <a:xfrm>
            <a:off x="7962053" y="4663225"/>
            <a:ext cx="1059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GB" sz="1200">
                <a:solidFill>
                  <a:schemeClr val="dk1"/>
                </a:solidFill>
              </a:rPr>
              <a:t>Page </a:t>
            </a:r>
            <a:fld id="{00000000-1234-1234-1234-123412341234}" type="slidenum">
              <a:rPr b="1" lang="en-GB" sz="1200">
                <a:solidFill>
                  <a:schemeClr val="dk1"/>
                </a:solidFill>
              </a:rPr>
              <a:t>‹#›</a:t>
            </a:fld>
            <a:r>
              <a:rPr lang="en-GB" sz="1200">
                <a:solidFill>
                  <a:schemeClr val="dk1"/>
                </a:solidFill>
              </a:rPr>
              <a:t> of </a:t>
            </a:r>
            <a:r>
              <a:rPr b="1" lang="en-GB" sz="1200">
                <a:solidFill>
                  <a:schemeClr val="dk1"/>
                </a:solidFill>
              </a:rPr>
              <a:t>18</a:t>
            </a:r>
            <a:endParaRPr sz="1200">
              <a:solidFill>
                <a:schemeClr val="dk1"/>
              </a:solidFill>
            </a:endParaRPr>
          </a:p>
        </p:txBody>
      </p:sp>
      <p:sp>
        <p:nvSpPr>
          <p:cNvPr id="202" name="Google Shape;202;p21"/>
          <p:cNvSpPr txBox="1"/>
          <p:nvPr/>
        </p:nvSpPr>
        <p:spPr>
          <a:xfrm>
            <a:off x="6374093" y="1020400"/>
            <a:ext cx="2769900" cy="3343200"/>
          </a:xfrm>
          <a:prstGeom prst="rect">
            <a:avLst/>
          </a:prstGeom>
          <a:noFill/>
          <a:ln>
            <a:noFill/>
          </a:ln>
        </p:spPr>
        <p:txBody>
          <a:bodyPr anchorCtr="0" anchor="t" bIns="91425" lIns="91425" spcFirstLastPara="1" rIns="91425" wrap="square" tIns="91425">
            <a:spAutoFit/>
          </a:bodyPr>
          <a:lstStyle/>
          <a:p>
            <a:pPr indent="-304800" lvl="0" marL="314999" rtl="0" algn="l">
              <a:lnSpc>
                <a:spcPct val="115000"/>
              </a:lnSpc>
              <a:spcBef>
                <a:spcPts val="0"/>
              </a:spcBef>
              <a:spcAft>
                <a:spcPts val="0"/>
              </a:spcAft>
              <a:buClr>
                <a:schemeClr val="dk1"/>
              </a:buClr>
              <a:buSzPts val="1200"/>
              <a:buFont typeface="Times New Roman"/>
              <a:buChar char="●"/>
            </a:pPr>
            <a:r>
              <a:rPr b="1" lang="en-GB" sz="1200">
                <a:solidFill>
                  <a:schemeClr val="dk1"/>
                </a:solidFill>
                <a:latin typeface="Times New Roman"/>
                <a:ea typeface="Times New Roman"/>
                <a:cs typeface="Times New Roman"/>
                <a:sym typeface="Times New Roman"/>
              </a:rPr>
              <a:t>Population &amp; System Inputs</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GB" sz="1200">
                <a:solidFill>
                  <a:schemeClr val="dk1"/>
                </a:solidFill>
                <a:latin typeface="Times New Roman"/>
                <a:ea typeface="Times New Roman"/>
                <a:cs typeface="Times New Roman"/>
                <a:sym typeface="Times New Roman"/>
              </a:rPr>
              <a:t>People                    	  : 100000 residents</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GB" sz="1200">
                <a:solidFill>
                  <a:schemeClr val="dk1"/>
                </a:solidFill>
                <a:latin typeface="Times New Roman"/>
                <a:ea typeface="Times New Roman"/>
                <a:cs typeface="Times New Roman"/>
                <a:sym typeface="Times New Roman"/>
              </a:rPr>
              <a:t>Use Per Person              : 120 liters/person/day</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GB" sz="1200">
                <a:solidFill>
                  <a:schemeClr val="dk1"/>
                </a:solidFill>
                <a:latin typeface="Times New Roman"/>
                <a:ea typeface="Times New Roman"/>
                <a:cs typeface="Times New Roman"/>
                <a:sym typeface="Times New Roman"/>
              </a:rPr>
              <a:t>Tank Elevation Height  : 15.00 m</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GB" sz="1200">
                <a:solidFill>
                  <a:schemeClr val="dk1"/>
                </a:solidFill>
                <a:latin typeface="Times New Roman"/>
                <a:ea typeface="Times New Roman"/>
                <a:cs typeface="Times New Roman"/>
                <a:sym typeface="Times New Roman"/>
              </a:rPr>
              <a:t>Water Source Level       : 0.00 m</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GB" sz="1200">
                <a:solidFill>
                  <a:schemeClr val="dk1"/>
                </a:solidFill>
                <a:latin typeface="Times New Roman"/>
                <a:ea typeface="Times New Roman"/>
                <a:cs typeface="Times New Roman"/>
                <a:sym typeface="Times New Roman"/>
              </a:rPr>
              <a:t>Pump Operating Hours: 4.0 hours/day</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GB" sz="1200">
                <a:solidFill>
                  <a:schemeClr val="dk1"/>
                </a:solidFill>
                <a:latin typeface="Times New Roman"/>
                <a:ea typeface="Times New Roman"/>
                <a:cs typeface="Times New Roman"/>
                <a:sym typeface="Times New Roman"/>
              </a:rPr>
              <a:t>Minor Loss K Factor     : 8.0</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GB" sz="1200">
                <a:solidFill>
                  <a:schemeClr val="dk1"/>
                </a:solidFill>
                <a:latin typeface="Times New Roman"/>
                <a:ea typeface="Times New Roman"/>
                <a:cs typeface="Times New Roman"/>
                <a:sym typeface="Times New Roman"/>
              </a:rPr>
              <a:t>Pipe Roughness (epsilon): 4.50e-05 m</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304800" lvl="0" marL="314999" rtl="0" algn="l">
              <a:lnSpc>
                <a:spcPct val="115000"/>
              </a:lnSpc>
              <a:spcBef>
                <a:spcPts val="0"/>
              </a:spcBef>
              <a:spcAft>
                <a:spcPts val="0"/>
              </a:spcAft>
              <a:buClr>
                <a:schemeClr val="dk1"/>
              </a:buClr>
              <a:buSzPts val="1200"/>
              <a:buFont typeface="Times New Roman"/>
              <a:buChar char="●"/>
            </a:pPr>
            <a:r>
              <a:rPr b="1" lang="en-GB" sz="1200">
                <a:solidFill>
                  <a:schemeClr val="dk1"/>
                </a:solidFill>
                <a:latin typeface="Times New Roman"/>
                <a:ea typeface="Times New Roman"/>
                <a:cs typeface="Times New Roman"/>
                <a:sym typeface="Times New Roman"/>
              </a:rPr>
              <a:t>Efficiencies </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GB" sz="1200">
                <a:solidFill>
                  <a:schemeClr val="dk1"/>
                </a:solidFill>
                <a:latin typeface="Times New Roman"/>
                <a:ea typeface="Times New Roman"/>
                <a:cs typeface="Times New Roman"/>
                <a:sym typeface="Times New Roman"/>
              </a:rPr>
              <a:t>Hydraulic Efficiency		: 0.874</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GB" sz="1200">
                <a:solidFill>
                  <a:schemeClr val="dk1"/>
                </a:solidFill>
                <a:latin typeface="Times New Roman"/>
                <a:ea typeface="Times New Roman"/>
                <a:cs typeface="Times New Roman"/>
                <a:sym typeface="Times New Roman"/>
              </a:rPr>
              <a:t>Volumetric Efficiency		: 0.970</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GB" sz="1200">
                <a:solidFill>
                  <a:schemeClr val="dk1"/>
                </a:solidFill>
                <a:latin typeface="Times New Roman"/>
                <a:ea typeface="Times New Roman"/>
                <a:cs typeface="Times New Roman"/>
                <a:sym typeface="Times New Roman"/>
              </a:rPr>
              <a:t>Mechanical Efficiency	: 0.948</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GB" sz="1200">
                <a:solidFill>
                  <a:schemeClr val="dk1"/>
                </a:solidFill>
                <a:latin typeface="Times New Roman"/>
                <a:ea typeface="Times New Roman"/>
                <a:cs typeface="Times New Roman"/>
                <a:sym typeface="Times New Roman"/>
              </a:rPr>
              <a:t>Pump Overall Efficiency	: 0.804</a:t>
            </a:r>
            <a:endParaRPr sz="1200">
              <a:solidFill>
                <a:schemeClr val="dk1"/>
              </a:solidFill>
              <a:latin typeface="Times New Roman"/>
              <a:ea typeface="Times New Roman"/>
              <a:cs typeface="Times New Roman"/>
              <a:sym typeface="Times New Roman"/>
            </a:endParaRPr>
          </a:p>
        </p:txBody>
      </p:sp>
      <p:pic>
        <p:nvPicPr>
          <p:cNvPr id="203" name="Google Shape;203;p21"/>
          <p:cNvPicPr preferRelativeResize="0"/>
          <p:nvPr/>
        </p:nvPicPr>
        <p:blipFill rotWithShape="1">
          <a:blip r:embed="rId3">
            <a:alphaModFix/>
          </a:blip>
          <a:srcRect b="1361" l="0" r="0" t="0"/>
          <a:stretch/>
        </p:blipFill>
        <p:spPr>
          <a:xfrm>
            <a:off x="361650" y="1020400"/>
            <a:ext cx="5801924" cy="35933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2"/>
          <p:cNvSpPr/>
          <p:nvPr/>
        </p:nvSpPr>
        <p:spPr>
          <a:xfrm>
            <a:off x="0" y="-305225"/>
            <a:ext cx="9288200" cy="1115650"/>
          </a:xfrm>
          <a:prstGeom prst="flowChartPunchedTape">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rPr lang="en-GB" sz="2800">
                <a:solidFill>
                  <a:schemeClr val="dk1"/>
                </a:solidFill>
                <a:latin typeface="Roboto Black"/>
                <a:ea typeface="Roboto Black"/>
                <a:cs typeface="Roboto Black"/>
                <a:sym typeface="Roboto Black"/>
              </a:rPr>
              <a:t>2.1. </a:t>
            </a:r>
            <a:r>
              <a:rPr b="1" lang="en-GB" sz="2800">
                <a:solidFill>
                  <a:schemeClr val="dk1"/>
                </a:solidFill>
                <a:latin typeface="Roboto"/>
                <a:ea typeface="Roboto"/>
                <a:cs typeface="Roboto"/>
                <a:sym typeface="Roboto"/>
              </a:rPr>
              <a:t>CAE</a:t>
            </a:r>
            <a:endParaRPr sz="2800">
              <a:latin typeface="Roboto Black"/>
              <a:ea typeface="Roboto Black"/>
              <a:cs typeface="Roboto Black"/>
              <a:sym typeface="Roboto Black"/>
            </a:endParaRPr>
          </a:p>
        </p:txBody>
      </p:sp>
      <p:sp>
        <p:nvSpPr>
          <p:cNvPr id="209" name="Google Shape;209;p22"/>
          <p:cNvSpPr txBox="1"/>
          <p:nvPr/>
        </p:nvSpPr>
        <p:spPr>
          <a:xfrm>
            <a:off x="2347025" y="2525450"/>
            <a:ext cx="3000000" cy="338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t/>
            </a:r>
            <a:endParaRPr b="1" sz="1000">
              <a:solidFill>
                <a:schemeClr val="dk2"/>
              </a:solidFill>
            </a:endParaRPr>
          </a:p>
        </p:txBody>
      </p:sp>
      <p:sp>
        <p:nvSpPr>
          <p:cNvPr id="210" name="Google Shape;210;p22"/>
          <p:cNvSpPr txBox="1"/>
          <p:nvPr>
            <p:ph idx="12" type="sldNum"/>
          </p:nvPr>
        </p:nvSpPr>
        <p:spPr>
          <a:xfrm>
            <a:off x="7835750" y="4663225"/>
            <a:ext cx="11853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GB" sz="1200">
                <a:solidFill>
                  <a:schemeClr val="dk1"/>
                </a:solidFill>
              </a:rPr>
              <a:t>Page </a:t>
            </a:r>
            <a:fld id="{00000000-1234-1234-1234-123412341234}" type="slidenum">
              <a:rPr b="1" lang="en-GB" sz="1200">
                <a:solidFill>
                  <a:schemeClr val="dk1"/>
                </a:solidFill>
              </a:rPr>
              <a:t>‹#›</a:t>
            </a:fld>
            <a:r>
              <a:rPr lang="en-GB" sz="1200">
                <a:solidFill>
                  <a:schemeClr val="dk1"/>
                </a:solidFill>
              </a:rPr>
              <a:t> of </a:t>
            </a:r>
            <a:r>
              <a:rPr b="1" lang="en-GB" sz="1200">
                <a:solidFill>
                  <a:schemeClr val="dk1"/>
                </a:solidFill>
              </a:rPr>
              <a:t>18</a:t>
            </a:r>
            <a:endParaRPr sz="1200">
              <a:solidFill>
                <a:schemeClr val="dk1"/>
              </a:solidFill>
            </a:endParaRPr>
          </a:p>
        </p:txBody>
      </p:sp>
      <p:pic>
        <p:nvPicPr>
          <p:cNvPr id="211" name="Google Shape;211;p22"/>
          <p:cNvPicPr preferRelativeResize="0"/>
          <p:nvPr/>
        </p:nvPicPr>
        <p:blipFill>
          <a:blip r:embed="rId3">
            <a:alphaModFix/>
          </a:blip>
          <a:stretch>
            <a:fillRect/>
          </a:stretch>
        </p:blipFill>
        <p:spPr>
          <a:xfrm>
            <a:off x="43600" y="1200425"/>
            <a:ext cx="5521575" cy="2170150"/>
          </a:xfrm>
          <a:prstGeom prst="rect">
            <a:avLst/>
          </a:prstGeom>
          <a:noFill/>
          <a:ln>
            <a:noFill/>
          </a:ln>
        </p:spPr>
      </p:pic>
      <p:pic>
        <p:nvPicPr>
          <p:cNvPr id="212" name="Google Shape;212;p22"/>
          <p:cNvPicPr preferRelativeResize="0"/>
          <p:nvPr/>
        </p:nvPicPr>
        <p:blipFill>
          <a:blip r:embed="rId4">
            <a:alphaModFix/>
          </a:blip>
          <a:stretch>
            <a:fillRect/>
          </a:stretch>
        </p:blipFill>
        <p:spPr>
          <a:xfrm>
            <a:off x="5856425" y="655850"/>
            <a:ext cx="3182550" cy="2714725"/>
          </a:xfrm>
          <a:prstGeom prst="rect">
            <a:avLst/>
          </a:prstGeom>
          <a:noFill/>
          <a:ln>
            <a:noFill/>
          </a:ln>
        </p:spPr>
      </p:pic>
      <p:sp>
        <p:nvSpPr>
          <p:cNvPr id="213" name="Google Shape;213;p22"/>
          <p:cNvSpPr txBox="1"/>
          <p:nvPr/>
        </p:nvSpPr>
        <p:spPr>
          <a:xfrm>
            <a:off x="259300" y="3448800"/>
            <a:ext cx="2619300" cy="5817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chemeClr val="dk1"/>
              </a:buClr>
              <a:buSzPts val="1200"/>
              <a:buFont typeface="Times New Roman"/>
              <a:buChar char="❖"/>
            </a:pPr>
            <a:r>
              <a:rPr lang="en-GB" sz="1200">
                <a:solidFill>
                  <a:schemeClr val="dk1"/>
                </a:solidFill>
                <a:latin typeface="Times New Roman"/>
                <a:ea typeface="Times New Roman"/>
                <a:cs typeface="Times New Roman"/>
                <a:sym typeface="Times New Roman"/>
              </a:rPr>
              <a:t>T</a:t>
            </a:r>
            <a:r>
              <a:rPr lang="en-GB" sz="1200">
                <a:solidFill>
                  <a:schemeClr val="dk1"/>
                </a:solidFill>
                <a:latin typeface="Times New Roman"/>
                <a:ea typeface="Times New Roman"/>
                <a:cs typeface="Times New Roman"/>
                <a:sym typeface="Times New Roman"/>
              </a:rPr>
              <a:t>he water at the exact moment it enters the pump</a:t>
            </a:r>
            <a:endParaRPr/>
          </a:p>
        </p:txBody>
      </p:sp>
      <p:sp>
        <p:nvSpPr>
          <p:cNvPr id="214" name="Google Shape;214;p22"/>
          <p:cNvSpPr txBox="1"/>
          <p:nvPr/>
        </p:nvSpPr>
        <p:spPr>
          <a:xfrm>
            <a:off x="2831425" y="3411450"/>
            <a:ext cx="3000000" cy="12498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chemeClr val="dk1"/>
              </a:buClr>
              <a:buSzPts val="1200"/>
              <a:buFont typeface="Times New Roman"/>
              <a:buChar char="❖"/>
            </a:pPr>
            <a:r>
              <a:rPr lang="en-GB" sz="1200">
                <a:solidFill>
                  <a:schemeClr val="dk1"/>
                </a:solidFill>
                <a:latin typeface="Times New Roman"/>
                <a:ea typeface="Times New Roman"/>
                <a:cs typeface="Times New Roman"/>
                <a:sym typeface="Times New Roman"/>
              </a:rPr>
              <a:t>T</a:t>
            </a:r>
            <a:r>
              <a:rPr lang="en-GB" sz="1200">
                <a:solidFill>
                  <a:schemeClr val="dk1"/>
                </a:solidFill>
                <a:latin typeface="Times New Roman"/>
                <a:ea typeface="Times New Roman"/>
                <a:cs typeface="Times New Roman"/>
                <a:sym typeface="Times New Roman"/>
              </a:rPr>
              <a:t>he water as it exits the pump. Because the impeller is spinning, the blade tip is moving much faster, adding significant energy to the water</a:t>
            </a:r>
            <a:endParaRPr sz="12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p>
        </p:txBody>
      </p:sp>
      <p:sp>
        <p:nvSpPr>
          <p:cNvPr id="215" name="Google Shape;215;p22"/>
          <p:cNvSpPr txBox="1"/>
          <p:nvPr/>
        </p:nvSpPr>
        <p:spPr>
          <a:xfrm>
            <a:off x="5736175" y="3426900"/>
            <a:ext cx="3408000" cy="12189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chemeClr val="dk1"/>
              </a:buClr>
              <a:buSzPts val="1200"/>
              <a:buFont typeface="Times New Roman"/>
              <a:buChar char="❖"/>
            </a:pPr>
            <a:r>
              <a:rPr lang="en-GB" sz="1200">
                <a:solidFill>
                  <a:schemeClr val="dk1"/>
                </a:solidFill>
                <a:latin typeface="Times New Roman"/>
                <a:ea typeface="Times New Roman"/>
                <a:cs typeface="Times New Roman"/>
                <a:sym typeface="Times New Roman"/>
              </a:rPr>
              <a:t>This diagram shows the actual 3D volume of a single impeller blade. The brown surface represents the "blade face," which is the part that physically pushes the water as it rotates around the center shaft (the 'X').</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3"/>
          <p:cNvSpPr/>
          <p:nvPr/>
        </p:nvSpPr>
        <p:spPr>
          <a:xfrm>
            <a:off x="0" y="-305225"/>
            <a:ext cx="9288200" cy="1115650"/>
          </a:xfrm>
          <a:prstGeom prst="flowChartPunchedTape">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rPr lang="en-GB" sz="2800">
                <a:solidFill>
                  <a:schemeClr val="dk1"/>
                </a:solidFill>
                <a:latin typeface="Roboto Black"/>
                <a:ea typeface="Roboto Black"/>
                <a:cs typeface="Roboto Black"/>
                <a:sym typeface="Roboto Black"/>
              </a:rPr>
              <a:t>2.1. </a:t>
            </a:r>
            <a:r>
              <a:rPr b="1" lang="en-GB" sz="2800">
                <a:solidFill>
                  <a:schemeClr val="dk1"/>
                </a:solidFill>
                <a:latin typeface="Roboto"/>
                <a:ea typeface="Roboto"/>
                <a:cs typeface="Roboto"/>
                <a:sym typeface="Roboto"/>
              </a:rPr>
              <a:t>CAE</a:t>
            </a:r>
            <a:endParaRPr sz="2800">
              <a:latin typeface="Roboto Black"/>
              <a:ea typeface="Roboto Black"/>
              <a:cs typeface="Roboto Black"/>
              <a:sym typeface="Roboto Black"/>
            </a:endParaRPr>
          </a:p>
        </p:txBody>
      </p:sp>
      <p:sp>
        <p:nvSpPr>
          <p:cNvPr id="221" name="Google Shape;221;p23"/>
          <p:cNvSpPr txBox="1"/>
          <p:nvPr/>
        </p:nvSpPr>
        <p:spPr>
          <a:xfrm>
            <a:off x="2347025" y="3157475"/>
            <a:ext cx="3000000" cy="338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t/>
            </a:r>
            <a:endParaRPr b="1" sz="1000">
              <a:solidFill>
                <a:schemeClr val="dk2"/>
              </a:solidFill>
            </a:endParaRPr>
          </a:p>
        </p:txBody>
      </p:sp>
      <p:sp>
        <p:nvSpPr>
          <p:cNvPr id="222" name="Google Shape;222;p23"/>
          <p:cNvSpPr txBox="1"/>
          <p:nvPr>
            <p:ph idx="12" type="sldNum"/>
          </p:nvPr>
        </p:nvSpPr>
        <p:spPr>
          <a:xfrm>
            <a:off x="7835750" y="4663225"/>
            <a:ext cx="11853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GB" sz="1200">
                <a:solidFill>
                  <a:schemeClr val="dk1"/>
                </a:solidFill>
              </a:rPr>
              <a:t>Page </a:t>
            </a:r>
            <a:fld id="{00000000-1234-1234-1234-123412341234}" type="slidenum">
              <a:rPr b="1" lang="en-GB" sz="1200">
                <a:solidFill>
                  <a:schemeClr val="dk1"/>
                </a:solidFill>
              </a:rPr>
              <a:t>‹#›</a:t>
            </a:fld>
            <a:r>
              <a:rPr lang="en-GB" sz="1200">
                <a:solidFill>
                  <a:schemeClr val="dk1"/>
                </a:solidFill>
              </a:rPr>
              <a:t> of </a:t>
            </a:r>
            <a:r>
              <a:rPr b="1" lang="en-GB" sz="1200">
                <a:solidFill>
                  <a:schemeClr val="dk1"/>
                </a:solidFill>
              </a:rPr>
              <a:t>18</a:t>
            </a:r>
            <a:endParaRPr sz="1200">
              <a:solidFill>
                <a:schemeClr val="dk1"/>
              </a:solidFill>
            </a:endParaRPr>
          </a:p>
        </p:txBody>
      </p:sp>
      <p:pic>
        <p:nvPicPr>
          <p:cNvPr id="223" name="Google Shape;223;p23" title="Dormitory_Pump_CFD_Animation.mp4">
            <a:hlinkClick r:id="rId3"/>
          </p:cNvPr>
          <p:cNvPicPr preferRelativeResize="0"/>
          <p:nvPr/>
        </p:nvPicPr>
        <p:blipFill>
          <a:blip r:embed="rId4">
            <a:alphaModFix/>
          </a:blip>
          <a:stretch>
            <a:fillRect/>
          </a:stretch>
        </p:blipFill>
        <p:spPr>
          <a:xfrm>
            <a:off x="1109851" y="940925"/>
            <a:ext cx="6644576" cy="451944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1000"/>
                                        <p:tgtEl>
                                          <p:spTgt spid="2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4"/>
          <p:cNvSpPr/>
          <p:nvPr/>
        </p:nvSpPr>
        <p:spPr>
          <a:xfrm>
            <a:off x="0" y="-305225"/>
            <a:ext cx="9288200" cy="1115650"/>
          </a:xfrm>
          <a:prstGeom prst="flowChartPunchedTape">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rPr lang="en-GB" sz="2800">
                <a:solidFill>
                  <a:schemeClr val="dk1"/>
                </a:solidFill>
                <a:latin typeface="Roboto Black"/>
                <a:ea typeface="Roboto Black"/>
                <a:cs typeface="Roboto Black"/>
                <a:sym typeface="Roboto Black"/>
              </a:rPr>
              <a:t>2.2. </a:t>
            </a:r>
            <a:r>
              <a:rPr b="1" lang="en-GB" sz="2800">
                <a:solidFill>
                  <a:schemeClr val="dk1"/>
                </a:solidFill>
                <a:latin typeface="Roboto"/>
                <a:ea typeface="Roboto"/>
                <a:cs typeface="Roboto"/>
                <a:sym typeface="Roboto"/>
              </a:rPr>
              <a:t>CAD</a:t>
            </a:r>
            <a:endParaRPr sz="2800">
              <a:latin typeface="Roboto Black"/>
              <a:ea typeface="Roboto Black"/>
              <a:cs typeface="Roboto Black"/>
              <a:sym typeface="Roboto Black"/>
            </a:endParaRPr>
          </a:p>
        </p:txBody>
      </p:sp>
      <p:sp>
        <p:nvSpPr>
          <p:cNvPr id="229" name="Google Shape;229;p24"/>
          <p:cNvSpPr txBox="1"/>
          <p:nvPr>
            <p:ph idx="12" type="sldNum"/>
          </p:nvPr>
        </p:nvSpPr>
        <p:spPr>
          <a:xfrm>
            <a:off x="7646299" y="4663225"/>
            <a:ext cx="13746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GB" sz="1200">
                <a:solidFill>
                  <a:schemeClr val="dk1"/>
                </a:solidFill>
              </a:rPr>
              <a:t>Page </a:t>
            </a:r>
            <a:fld id="{00000000-1234-1234-1234-123412341234}" type="slidenum">
              <a:rPr b="1" lang="en-GB" sz="1200">
                <a:solidFill>
                  <a:schemeClr val="dk1"/>
                </a:solidFill>
              </a:rPr>
              <a:t>‹#›</a:t>
            </a:fld>
            <a:r>
              <a:rPr lang="en-GB" sz="1200">
                <a:solidFill>
                  <a:schemeClr val="dk1"/>
                </a:solidFill>
              </a:rPr>
              <a:t> of </a:t>
            </a:r>
            <a:r>
              <a:rPr b="1" lang="en-GB" sz="1200">
                <a:solidFill>
                  <a:schemeClr val="dk1"/>
                </a:solidFill>
              </a:rPr>
              <a:t>18</a:t>
            </a:r>
            <a:endParaRPr sz="1200">
              <a:solidFill>
                <a:schemeClr val="dk1"/>
              </a:solidFill>
            </a:endParaRPr>
          </a:p>
        </p:txBody>
      </p:sp>
      <p:pic>
        <p:nvPicPr>
          <p:cNvPr id="230" name="Google Shape;230;p24"/>
          <p:cNvPicPr preferRelativeResize="0"/>
          <p:nvPr/>
        </p:nvPicPr>
        <p:blipFill>
          <a:blip r:embed="rId3">
            <a:alphaModFix/>
          </a:blip>
          <a:stretch>
            <a:fillRect/>
          </a:stretch>
        </p:blipFill>
        <p:spPr>
          <a:xfrm>
            <a:off x="5368567" y="1268887"/>
            <a:ext cx="3674775" cy="3325350"/>
          </a:xfrm>
          <a:prstGeom prst="rect">
            <a:avLst/>
          </a:prstGeom>
          <a:noFill/>
          <a:ln>
            <a:noFill/>
          </a:ln>
        </p:spPr>
      </p:pic>
      <p:pic>
        <p:nvPicPr>
          <p:cNvPr id="231" name="Google Shape;231;p24"/>
          <p:cNvPicPr preferRelativeResize="0"/>
          <p:nvPr/>
        </p:nvPicPr>
        <p:blipFill rotWithShape="1">
          <a:blip r:embed="rId4">
            <a:alphaModFix/>
          </a:blip>
          <a:srcRect b="0" l="-3440" r="3440" t="0"/>
          <a:stretch/>
        </p:blipFill>
        <p:spPr>
          <a:xfrm>
            <a:off x="135375" y="1517875"/>
            <a:ext cx="2314527" cy="1558699"/>
          </a:xfrm>
          <a:prstGeom prst="rect">
            <a:avLst/>
          </a:prstGeom>
          <a:noFill/>
          <a:ln>
            <a:noFill/>
          </a:ln>
        </p:spPr>
      </p:pic>
      <p:sp>
        <p:nvSpPr>
          <p:cNvPr id="232" name="Google Shape;232;p24"/>
          <p:cNvSpPr txBox="1"/>
          <p:nvPr/>
        </p:nvSpPr>
        <p:spPr>
          <a:xfrm>
            <a:off x="694525" y="1018050"/>
            <a:ext cx="1166400" cy="47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sz="1600">
                <a:solidFill>
                  <a:schemeClr val="dk1"/>
                </a:solidFill>
              </a:rPr>
              <a:t>2D Model</a:t>
            </a:r>
            <a:endParaRPr b="1" sz="1600">
              <a:solidFill>
                <a:schemeClr val="dk1"/>
              </a:solidFill>
            </a:endParaRPr>
          </a:p>
          <a:p>
            <a:pPr indent="0" lvl="0" marL="0" rtl="0" algn="l">
              <a:spcBef>
                <a:spcPts val="0"/>
              </a:spcBef>
              <a:spcAft>
                <a:spcPts val="0"/>
              </a:spcAft>
              <a:buNone/>
            </a:pPr>
            <a:r>
              <a:t/>
            </a:r>
            <a:endParaRPr b="1" sz="1600">
              <a:solidFill>
                <a:schemeClr val="dk1"/>
              </a:solidFill>
            </a:endParaRPr>
          </a:p>
        </p:txBody>
      </p:sp>
      <p:sp>
        <p:nvSpPr>
          <p:cNvPr id="233" name="Google Shape;233;p24"/>
          <p:cNvSpPr txBox="1"/>
          <p:nvPr/>
        </p:nvSpPr>
        <p:spPr>
          <a:xfrm>
            <a:off x="6489143" y="765325"/>
            <a:ext cx="1400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solidFill>
                  <a:schemeClr val="dk1"/>
                </a:solidFill>
              </a:rPr>
              <a:t>3D Model</a:t>
            </a:r>
            <a:endParaRPr b="1" sz="1600">
              <a:solidFill>
                <a:schemeClr val="dk1"/>
              </a:solidFill>
            </a:endParaRPr>
          </a:p>
        </p:txBody>
      </p:sp>
      <p:pic>
        <p:nvPicPr>
          <p:cNvPr id="234" name="Google Shape;234;p24"/>
          <p:cNvPicPr preferRelativeResize="0"/>
          <p:nvPr/>
        </p:nvPicPr>
        <p:blipFill>
          <a:blip r:embed="rId5">
            <a:alphaModFix/>
          </a:blip>
          <a:stretch>
            <a:fillRect/>
          </a:stretch>
        </p:blipFill>
        <p:spPr>
          <a:xfrm>
            <a:off x="2890375" y="1268875"/>
            <a:ext cx="2181225" cy="2390775"/>
          </a:xfrm>
          <a:prstGeom prst="rect">
            <a:avLst/>
          </a:prstGeom>
          <a:noFill/>
          <a:ln>
            <a:noFill/>
          </a:ln>
        </p:spPr>
      </p:pic>
      <p:sp>
        <p:nvSpPr>
          <p:cNvPr id="235" name="Google Shape;235;p24"/>
          <p:cNvSpPr txBox="1"/>
          <p:nvPr/>
        </p:nvSpPr>
        <p:spPr>
          <a:xfrm>
            <a:off x="3300375" y="825400"/>
            <a:ext cx="1710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solidFill>
                  <a:schemeClr val="dk1"/>
                </a:solidFill>
              </a:rPr>
              <a:t>Blade Angle </a:t>
            </a:r>
            <a:endParaRPr b="1" sz="1600">
              <a:solidFill>
                <a:schemeClr val="dk1"/>
              </a:solidFill>
            </a:endParaRPr>
          </a:p>
        </p:txBody>
      </p:sp>
      <p:sp>
        <p:nvSpPr>
          <p:cNvPr id="236" name="Google Shape;236;p24"/>
          <p:cNvSpPr txBox="1"/>
          <p:nvPr/>
        </p:nvSpPr>
        <p:spPr>
          <a:xfrm>
            <a:off x="2558788" y="3659650"/>
            <a:ext cx="2700900" cy="18918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chemeClr val="dk1"/>
              </a:buClr>
              <a:buSzPts val="1200"/>
              <a:buFont typeface="Times New Roman"/>
              <a:buChar char="❖"/>
            </a:pPr>
            <a:r>
              <a:rPr lang="en-GB" sz="1200">
                <a:solidFill>
                  <a:schemeClr val="dk1"/>
                </a:solidFill>
                <a:latin typeface="Times New Roman"/>
                <a:ea typeface="Times New Roman"/>
                <a:cs typeface="Times New Roman"/>
                <a:sym typeface="Times New Roman"/>
              </a:rPr>
              <a:t>shows how the six blades are arranged around the center shaft. The blades act like scoops, catching water at the inner inlet and pushing it outward to the outer edge.</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endParaRPr>
          </a:p>
          <a:p>
            <a:pPr indent="0" lvl="0" marL="457200" rtl="0" algn="l">
              <a:lnSpc>
                <a:spcPct val="115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sp>
        <p:nvSpPr>
          <p:cNvPr id="237" name="Google Shape;237;p24"/>
          <p:cNvSpPr txBox="1"/>
          <p:nvPr/>
        </p:nvSpPr>
        <p:spPr>
          <a:xfrm>
            <a:off x="55050" y="3252550"/>
            <a:ext cx="2603400" cy="16440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chemeClr val="dk1"/>
              </a:buClr>
              <a:buSzPts val="1200"/>
              <a:buFont typeface="Times New Roman"/>
              <a:buChar char="❖"/>
            </a:pPr>
            <a:r>
              <a:rPr lang="en-GB" sz="1200">
                <a:solidFill>
                  <a:schemeClr val="dk1"/>
                </a:solidFill>
                <a:latin typeface="Times New Roman"/>
                <a:ea typeface="Times New Roman"/>
                <a:cs typeface="Times New Roman"/>
                <a:sym typeface="Times New Roman"/>
              </a:rPr>
              <a:t>The 3D model of the enclosed centrifugal impeller was constructed by first executing a </a:t>
            </a:r>
            <a:r>
              <a:rPr b="1" lang="en-GB" sz="1200">
                <a:solidFill>
                  <a:schemeClr val="dk1"/>
                </a:solidFill>
                <a:latin typeface="Times New Roman"/>
                <a:ea typeface="Times New Roman"/>
                <a:cs typeface="Times New Roman"/>
                <a:sym typeface="Times New Roman"/>
              </a:rPr>
              <a:t>Revolve</a:t>
            </a:r>
            <a:r>
              <a:rPr lang="en-GB" sz="1200">
                <a:solidFill>
                  <a:schemeClr val="dk1"/>
                </a:solidFill>
                <a:latin typeface="Times New Roman"/>
                <a:ea typeface="Times New Roman"/>
                <a:cs typeface="Times New Roman"/>
                <a:sym typeface="Times New Roman"/>
              </a:rPr>
              <a:t> feature of the meridional cross-section sketch to establish the solid hub and shroud volumes. </a:t>
            </a:r>
            <a:endParaRPr/>
          </a:p>
        </p:txBody>
      </p:sp>
      <p:cxnSp>
        <p:nvCxnSpPr>
          <p:cNvPr id="238" name="Google Shape;238;p24"/>
          <p:cNvCxnSpPr/>
          <p:nvPr/>
        </p:nvCxnSpPr>
        <p:spPr>
          <a:xfrm flipH="1" rot="10800000">
            <a:off x="556075" y="2616050"/>
            <a:ext cx="600000" cy="10200"/>
          </a:xfrm>
          <a:prstGeom prst="straightConnector1">
            <a:avLst/>
          </a:prstGeom>
          <a:noFill/>
          <a:ln cap="flat" cmpd="sng" w="28575">
            <a:solidFill>
              <a:srgbClr val="E06666"/>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5"/>
          <p:cNvSpPr/>
          <p:nvPr/>
        </p:nvSpPr>
        <p:spPr>
          <a:xfrm>
            <a:off x="0" y="-305225"/>
            <a:ext cx="9288200" cy="1115650"/>
          </a:xfrm>
          <a:prstGeom prst="flowChartPunchedTape">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rPr lang="en-GB" sz="2800">
                <a:solidFill>
                  <a:schemeClr val="dk1"/>
                </a:solidFill>
                <a:latin typeface="Roboto Black"/>
                <a:ea typeface="Roboto Black"/>
                <a:cs typeface="Roboto Black"/>
                <a:sym typeface="Roboto Black"/>
              </a:rPr>
              <a:t>2.3. </a:t>
            </a:r>
            <a:r>
              <a:rPr b="1" lang="en-GB" sz="2800">
                <a:solidFill>
                  <a:schemeClr val="dk1"/>
                </a:solidFill>
                <a:latin typeface="Roboto"/>
                <a:ea typeface="Roboto"/>
                <a:cs typeface="Roboto"/>
                <a:sym typeface="Roboto"/>
              </a:rPr>
              <a:t>CFD</a:t>
            </a:r>
            <a:endParaRPr sz="2800">
              <a:latin typeface="Roboto Black"/>
              <a:ea typeface="Roboto Black"/>
              <a:cs typeface="Roboto Black"/>
              <a:sym typeface="Roboto Black"/>
            </a:endParaRPr>
          </a:p>
        </p:txBody>
      </p:sp>
      <p:sp>
        <p:nvSpPr>
          <p:cNvPr id="244" name="Google Shape;244;p25"/>
          <p:cNvSpPr txBox="1"/>
          <p:nvPr/>
        </p:nvSpPr>
        <p:spPr>
          <a:xfrm>
            <a:off x="1901406" y="2863295"/>
            <a:ext cx="2670600" cy="301500"/>
          </a:xfrm>
          <a:prstGeom prst="rect">
            <a:avLst/>
          </a:prstGeom>
          <a:noFill/>
          <a:ln>
            <a:noFill/>
          </a:ln>
        </p:spPr>
        <p:txBody>
          <a:bodyPr anchorCtr="0" anchor="t" bIns="81400" lIns="81400" spcFirstLastPara="1" rIns="81400" wrap="square" tIns="81400">
            <a:spAutoFit/>
          </a:bodyPr>
          <a:lstStyle/>
          <a:p>
            <a:pPr indent="0" lvl="0" marL="0" rtl="0" algn="r">
              <a:spcBef>
                <a:spcPts val="0"/>
              </a:spcBef>
              <a:spcAft>
                <a:spcPts val="0"/>
              </a:spcAft>
              <a:buNone/>
            </a:pPr>
            <a:r>
              <a:t/>
            </a:r>
            <a:endParaRPr b="1" sz="890">
              <a:solidFill>
                <a:schemeClr val="dk2"/>
              </a:solidFill>
            </a:endParaRPr>
          </a:p>
        </p:txBody>
      </p:sp>
      <p:sp>
        <p:nvSpPr>
          <p:cNvPr id="245" name="Google Shape;245;p25"/>
          <p:cNvSpPr txBox="1"/>
          <p:nvPr>
            <p:ph idx="12" type="sldNum"/>
          </p:nvPr>
        </p:nvSpPr>
        <p:spPr>
          <a:xfrm>
            <a:off x="7735774" y="4663225"/>
            <a:ext cx="12852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GB" sz="1200">
                <a:solidFill>
                  <a:schemeClr val="dk1"/>
                </a:solidFill>
              </a:rPr>
              <a:t>Page </a:t>
            </a:r>
            <a:fld id="{00000000-1234-1234-1234-123412341234}" type="slidenum">
              <a:rPr b="1" lang="en-GB" sz="1200">
                <a:solidFill>
                  <a:schemeClr val="dk1"/>
                </a:solidFill>
              </a:rPr>
              <a:t>‹#›</a:t>
            </a:fld>
            <a:r>
              <a:rPr lang="en-GB" sz="1200">
                <a:solidFill>
                  <a:schemeClr val="dk1"/>
                </a:solidFill>
              </a:rPr>
              <a:t> of </a:t>
            </a:r>
            <a:r>
              <a:rPr b="1" lang="en-GB" sz="1200">
                <a:solidFill>
                  <a:schemeClr val="dk1"/>
                </a:solidFill>
              </a:rPr>
              <a:t>18</a:t>
            </a:r>
            <a:endParaRPr sz="1200">
              <a:solidFill>
                <a:schemeClr val="dk1"/>
              </a:solidFill>
            </a:endParaRPr>
          </a:p>
        </p:txBody>
      </p:sp>
      <p:pic>
        <p:nvPicPr>
          <p:cNvPr id="246" name="Google Shape;246;p25"/>
          <p:cNvPicPr preferRelativeResize="0"/>
          <p:nvPr/>
        </p:nvPicPr>
        <p:blipFill>
          <a:blip r:embed="rId3">
            <a:alphaModFix/>
          </a:blip>
          <a:stretch>
            <a:fillRect/>
          </a:stretch>
        </p:blipFill>
        <p:spPr>
          <a:xfrm>
            <a:off x="79575" y="1390310"/>
            <a:ext cx="1920971" cy="2568312"/>
          </a:xfrm>
          <a:prstGeom prst="rect">
            <a:avLst/>
          </a:prstGeom>
          <a:noFill/>
          <a:ln>
            <a:noFill/>
          </a:ln>
        </p:spPr>
      </p:pic>
      <p:pic>
        <p:nvPicPr>
          <p:cNvPr id="247" name="Google Shape;247;p25"/>
          <p:cNvPicPr preferRelativeResize="0"/>
          <p:nvPr/>
        </p:nvPicPr>
        <p:blipFill rotWithShape="1">
          <a:blip r:embed="rId4">
            <a:alphaModFix/>
          </a:blip>
          <a:srcRect b="0" l="-2020" r="2020" t="0"/>
          <a:stretch/>
        </p:blipFill>
        <p:spPr>
          <a:xfrm>
            <a:off x="2197046" y="1390310"/>
            <a:ext cx="1983193" cy="2568313"/>
          </a:xfrm>
          <a:prstGeom prst="rect">
            <a:avLst/>
          </a:prstGeom>
          <a:noFill/>
          <a:ln>
            <a:noFill/>
          </a:ln>
        </p:spPr>
      </p:pic>
      <p:pic>
        <p:nvPicPr>
          <p:cNvPr id="248" name="Google Shape;248;p25"/>
          <p:cNvPicPr preferRelativeResize="0"/>
          <p:nvPr/>
        </p:nvPicPr>
        <p:blipFill rotWithShape="1">
          <a:blip r:embed="rId5">
            <a:alphaModFix/>
          </a:blip>
          <a:srcRect b="17074" l="0" r="0" t="0"/>
          <a:stretch/>
        </p:blipFill>
        <p:spPr>
          <a:xfrm>
            <a:off x="6621900" y="1664775"/>
            <a:ext cx="2368050" cy="1615850"/>
          </a:xfrm>
          <a:prstGeom prst="rect">
            <a:avLst/>
          </a:prstGeom>
          <a:noFill/>
          <a:ln>
            <a:noFill/>
          </a:ln>
        </p:spPr>
      </p:pic>
      <p:pic>
        <p:nvPicPr>
          <p:cNvPr id="249" name="Google Shape;249;p25"/>
          <p:cNvPicPr preferRelativeResize="0"/>
          <p:nvPr/>
        </p:nvPicPr>
        <p:blipFill>
          <a:blip r:embed="rId6">
            <a:alphaModFix/>
          </a:blip>
          <a:stretch>
            <a:fillRect/>
          </a:stretch>
        </p:blipFill>
        <p:spPr>
          <a:xfrm>
            <a:off x="4464525" y="1390298"/>
            <a:ext cx="1983199" cy="1958196"/>
          </a:xfrm>
          <a:prstGeom prst="rect">
            <a:avLst/>
          </a:prstGeom>
          <a:noFill/>
          <a:ln>
            <a:noFill/>
          </a:ln>
        </p:spPr>
      </p:pic>
      <p:sp>
        <p:nvSpPr>
          <p:cNvPr id="250" name="Google Shape;250;p25"/>
          <p:cNvSpPr txBox="1"/>
          <p:nvPr/>
        </p:nvSpPr>
        <p:spPr>
          <a:xfrm>
            <a:off x="1041256" y="954175"/>
            <a:ext cx="1803900" cy="436200"/>
          </a:xfrm>
          <a:prstGeom prst="rect">
            <a:avLst/>
          </a:prstGeom>
          <a:noFill/>
          <a:ln>
            <a:noFill/>
          </a:ln>
        </p:spPr>
        <p:txBody>
          <a:bodyPr anchorCtr="0" anchor="t" bIns="81400" lIns="81400" spcFirstLastPara="1" rIns="81400" wrap="square" tIns="81400">
            <a:noAutofit/>
          </a:bodyPr>
          <a:lstStyle/>
          <a:p>
            <a:pPr indent="0" lvl="0" marL="0" rtl="0" algn="l">
              <a:spcBef>
                <a:spcPts val="0"/>
              </a:spcBef>
              <a:spcAft>
                <a:spcPts val="0"/>
              </a:spcAft>
              <a:buNone/>
            </a:pPr>
            <a:r>
              <a:rPr b="1" lang="en-GB" sz="1602">
                <a:solidFill>
                  <a:schemeClr val="dk1"/>
                </a:solidFill>
              </a:rPr>
              <a:t>Input Parameter</a:t>
            </a:r>
            <a:endParaRPr b="1" sz="1602">
              <a:solidFill>
                <a:schemeClr val="dk1"/>
              </a:solidFill>
            </a:endParaRPr>
          </a:p>
        </p:txBody>
      </p:sp>
      <p:sp>
        <p:nvSpPr>
          <p:cNvPr id="251" name="Google Shape;251;p25"/>
          <p:cNvSpPr txBox="1"/>
          <p:nvPr/>
        </p:nvSpPr>
        <p:spPr>
          <a:xfrm>
            <a:off x="4680831" y="954175"/>
            <a:ext cx="1803900" cy="436200"/>
          </a:xfrm>
          <a:prstGeom prst="rect">
            <a:avLst/>
          </a:prstGeom>
          <a:noFill/>
          <a:ln>
            <a:noFill/>
          </a:ln>
        </p:spPr>
        <p:txBody>
          <a:bodyPr anchorCtr="0" anchor="t" bIns="81400" lIns="81400" spcFirstLastPara="1" rIns="81400" wrap="square" tIns="81400">
            <a:noAutofit/>
          </a:bodyPr>
          <a:lstStyle/>
          <a:p>
            <a:pPr indent="0" lvl="0" marL="0" rtl="0" algn="l">
              <a:spcBef>
                <a:spcPts val="0"/>
              </a:spcBef>
              <a:spcAft>
                <a:spcPts val="0"/>
              </a:spcAft>
              <a:buNone/>
            </a:pPr>
            <a:r>
              <a:rPr b="1" lang="en-GB" sz="1602">
                <a:solidFill>
                  <a:schemeClr val="dk1"/>
                </a:solidFill>
              </a:rPr>
              <a:t>Conditions </a:t>
            </a:r>
            <a:endParaRPr b="1" sz="1602">
              <a:solidFill>
                <a:schemeClr val="dk1"/>
              </a:solidFill>
            </a:endParaRPr>
          </a:p>
        </p:txBody>
      </p:sp>
      <p:sp>
        <p:nvSpPr>
          <p:cNvPr id="252" name="Google Shape;252;p25"/>
          <p:cNvSpPr txBox="1"/>
          <p:nvPr/>
        </p:nvSpPr>
        <p:spPr>
          <a:xfrm>
            <a:off x="7125825" y="954175"/>
            <a:ext cx="1360200" cy="436200"/>
          </a:xfrm>
          <a:prstGeom prst="rect">
            <a:avLst/>
          </a:prstGeom>
          <a:noFill/>
          <a:ln>
            <a:noFill/>
          </a:ln>
        </p:spPr>
        <p:txBody>
          <a:bodyPr anchorCtr="0" anchor="t" bIns="81400" lIns="81400" spcFirstLastPara="1" rIns="81400" wrap="square" tIns="81400">
            <a:noAutofit/>
          </a:bodyPr>
          <a:lstStyle/>
          <a:p>
            <a:pPr indent="0" lvl="0" marL="0" rtl="0" algn="l">
              <a:spcBef>
                <a:spcPts val="0"/>
              </a:spcBef>
              <a:spcAft>
                <a:spcPts val="0"/>
              </a:spcAft>
              <a:buNone/>
            </a:pPr>
            <a:r>
              <a:rPr b="1" lang="en-GB" sz="1602">
                <a:solidFill>
                  <a:schemeClr val="dk1"/>
                </a:solidFill>
              </a:rPr>
              <a:t>Mesh Size</a:t>
            </a:r>
            <a:endParaRPr b="1" sz="1602">
              <a:solidFill>
                <a:schemeClr val="dk1"/>
              </a:solidFill>
            </a:endParaRPr>
          </a:p>
        </p:txBody>
      </p:sp>
      <p:sp>
        <p:nvSpPr>
          <p:cNvPr id="253" name="Google Shape;253;p25"/>
          <p:cNvSpPr txBox="1"/>
          <p:nvPr/>
        </p:nvSpPr>
        <p:spPr>
          <a:xfrm>
            <a:off x="4318075" y="3555025"/>
            <a:ext cx="22761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200">
                <a:latin typeface="Times New Roman"/>
                <a:ea typeface="Times New Roman"/>
                <a:cs typeface="Times New Roman"/>
                <a:sym typeface="Times New Roman"/>
              </a:rPr>
              <a:t>Use this diagram to show: </a:t>
            </a:r>
            <a:endParaRPr b="1" sz="1200">
              <a:latin typeface="Times New Roman"/>
              <a:ea typeface="Times New Roman"/>
              <a:cs typeface="Times New Roman"/>
              <a:sym typeface="Times New Roman"/>
            </a:endParaRPr>
          </a:p>
          <a:p>
            <a:pPr indent="0" lvl="0" marL="0" rtl="0" algn="l">
              <a:spcBef>
                <a:spcPts val="0"/>
              </a:spcBef>
              <a:spcAft>
                <a:spcPts val="0"/>
              </a:spcAft>
              <a:buNone/>
            </a:pPr>
            <a:r>
              <a:rPr lang="en-GB" sz="1200">
                <a:latin typeface="Times New Roman"/>
                <a:ea typeface="Times New Roman"/>
                <a:cs typeface="Times New Roman"/>
                <a:sym typeface="Times New Roman"/>
              </a:rPr>
              <a:t>- </a:t>
            </a:r>
            <a:r>
              <a:rPr lang="en-GB" sz="1200">
                <a:latin typeface="Times New Roman"/>
                <a:ea typeface="Times New Roman"/>
                <a:cs typeface="Times New Roman"/>
                <a:sym typeface="Times New Roman"/>
              </a:rPr>
              <a:t> How the fluid enters axially through the suction eye </a:t>
            </a:r>
            <a:endParaRPr sz="1200">
              <a:latin typeface="Times New Roman"/>
              <a:ea typeface="Times New Roman"/>
              <a:cs typeface="Times New Roman"/>
              <a:sym typeface="Times New Roman"/>
            </a:endParaRPr>
          </a:p>
          <a:p>
            <a:pPr indent="0" lvl="0" marL="0" rtl="0" algn="l">
              <a:spcBef>
                <a:spcPts val="0"/>
              </a:spcBef>
              <a:spcAft>
                <a:spcPts val="0"/>
              </a:spcAft>
              <a:buNone/>
            </a:pPr>
            <a:r>
              <a:rPr lang="en-GB" sz="1200">
                <a:latin typeface="Times New Roman"/>
                <a:ea typeface="Times New Roman"/>
                <a:cs typeface="Times New Roman"/>
                <a:sym typeface="Times New Roman"/>
              </a:rPr>
              <a:t>- Flung outward radially into the expanding volute channel. </a:t>
            </a:r>
            <a:endParaRPr sz="1200">
              <a:latin typeface="Times New Roman"/>
              <a:ea typeface="Times New Roman"/>
              <a:cs typeface="Times New Roman"/>
              <a:sym typeface="Times New Roman"/>
            </a:endParaRPr>
          </a:p>
        </p:txBody>
      </p:sp>
      <p:sp>
        <p:nvSpPr>
          <p:cNvPr id="254" name="Google Shape;254;p25"/>
          <p:cNvSpPr txBox="1"/>
          <p:nvPr/>
        </p:nvSpPr>
        <p:spPr>
          <a:xfrm>
            <a:off x="225725" y="4024700"/>
            <a:ext cx="38157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200">
                <a:latin typeface="Times New Roman"/>
                <a:ea typeface="Times New Roman"/>
                <a:cs typeface="Times New Roman"/>
                <a:sym typeface="Times New Roman"/>
              </a:rPr>
              <a:t>Use this to explicitly justify your calculations:</a:t>
            </a:r>
            <a:endParaRPr b="1" sz="1200">
              <a:latin typeface="Times New Roman"/>
              <a:ea typeface="Times New Roman"/>
              <a:cs typeface="Times New Roman"/>
              <a:sym typeface="Times New Roman"/>
            </a:endParaRPr>
          </a:p>
          <a:p>
            <a:pPr indent="0" lvl="0" marL="0" rtl="0" algn="l">
              <a:spcBef>
                <a:spcPts val="0"/>
              </a:spcBef>
              <a:spcAft>
                <a:spcPts val="0"/>
              </a:spcAft>
              <a:buNone/>
            </a:pPr>
            <a:r>
              <a:rPr lang="en-GB" sz="1200">
                <a:latin typeface="Times New Roman"/>
                <a:ea typeface="Times New Roman"/>
                <a:cs typeface="Times New Roman"/>
                <a:sym typeface="Times New Roman"/>
              </a:rPr>
              <a:t>- F</a:t>
            </a:r>
            <a:r>
              <a:rPr lang="en-GB" sz="1200">
                <a:latin typeface="Times New Roman"/>
                <a:ea typeface="Times New Roman"/>
                <a:cs typeface="Times New Roman"/>
                <a:sym typeface="Times New Roman"/>
              </a:rPr>
              <a:t>or channel widths b_1, b_2 and the specific backward-shrouded design that maintains high hydraulic efficiency. </a:t>
            </a:r>
            <a:endParaRPr sz="1200">
              <a:latin typeface="Times New Roman"/>
              <a:ea typeface="Times New Roman"/>
              <a:cs typeface="Times New Roman"/>
              <a:sym typeface="Times New Roman"/>
            </a:endParaRPr>
          </a:p>
        </p:txBody>
      </p:sp>
      <p:sp>
        <p:nvSpPr>
          <p:cNvPr id="255" name="Google Shape;255;p25"/>
          <p:cNvSpPr txBox="1"/>
          <p:nvPr/>
        </p:nvSpPr>
        <p:spPr>
          <a:xfrm>
            <a:off x="6652850" y="3555025"/>
            <a:ext cx="24042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200">
                <a:latin typeface="Times New Roman"/>
                <a:ea typeface="Times New Roman"/>
                <a:cs typeface="Times New Roman"/>
                <a:sym typeface="Times New Roman"/>
              </a:rPr>
              <a:t>Mesh:</a:t>
            </a:r>
            <a:endParaRPr b="1" sz="1200">
              <a:latin typeface="Times New Roman"/>
              <a:ea typeface="Times New Roman"/>
              <a:cs typeface="Times New Roman"/>
              <a:sym typeface="Times New Roman"/>
            </a:endParaRPr>
          </a:p>
          <a:p>
            <a:pPr indent="0" lvl="0" marL="0" rtl="0" algn="l">
              <a:spcBef>
                <a:spcPts val="0"/>
              </a:spcBef>
              <a:spcAft>
                <a:spcPts val="0"/>
              </a:spcAft>
              <a:buNone/>
            </a:pPr>
            <a:r>
              <a:rPr lang="en-GB" sz="1200">
                <a:latin typeface="Times New Roman"/>
                <a:ea typeface="Times New Roman"/>
                <a:cs typeface="Times New Roman"/>
                <a:sym typeface="Times New Roman"/>
              </a:rPr>
              <a:t>- </a:t>
            </a:r>
            <a:r>
              <a:rPr lang="en-GB" sz="1200">
                <a:latin typeface="Times New Roman"/>
                <a:ea typeface="Times New Roman"/>
                <a:cs typeface="Times New Roman"/>
                <a:sym typeface="Times New Roman"/>
              </a:rPr>
              <a:t>Mesh independence validation matrix tracking peak structural stress/pressure head. </a:t>
            </a:r>
            <a:endParaRPr sz="12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6"/>
          <p:cNvSpPr/>
          <p:nvPr/>
        </p:nvSpPr>
        <p:spPr>
          <a:xfrm>
            <a:off x="0" y="-305225"/>
            <a:ext cx="9288200" cy="1115650"/>
          </a:xfrm>
          <a:prstGeom prst="flowChartPunchedTape">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rPr lang="en-GB" sz="2800">
                <a:solidFill>
                  <a:schemeClr val="dk1"/>
                </a:solidFill>
                <a:latin typeface="Roboto Black"/>
                <a:ea typeface="Roboto Black"/>
                <a:cs typeface="Roboto Black"/>
                <a:sym typeface="Roboto Black"/>
              </a:rPr>
              <a:t>2.3. </a:t>
            </a:r>
            <a:r>
              <a:rPr b="1" lang="en-GB" sz="2800">
                <a:solidFill>
                  <a:schemeClr val="dk1"/>
                </a:solidFill>
                <a:latin typeface="Roboto"/>
                <a:ea typeface="Roboto"/>
                <a:cs typeface="Roboto"/>
                <a:sym typeface="Roboto"/>
              </a:rPr>
              <a:t>CFD</a:t>
            </a:r>
            <a:endParaRPr sz="2800">
              <a:latin typeface="Roboto Black"/>
              <a:ea typeface="Roboto Black"/>
              <a:cs typeface="Roboto Black"/>
              <a:sym typeface="Roboto Black"/>
            </a:endParaRPr>
          </a:p>
        </p:txBody>
      </p:sp>
      <p:sp>
        <p:nvSpPr>
          <p:cNvPr id="261" name="Google Shape;261;p26"/>
          <p:cNvSpPr txBox="1"/>
          <p:nvPr>
            <p:ph idx="12" type="sldNum"/>
          </p:nvPr>
        </p:nvSpPr>
        <p:spPr>
          <a:xfrm>
            <a:off x="7735774" y="4663225"/>
            <a:ext cx="12852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GB" sz="1200">
                <a:solidFill>
                  <a:schemeClr val="dk1"/>
                </a:solidFill>
              </a:rPr>
              <a:t>Page </a:t>
            </a:r>
            <a:fld id="{00000000-1234-1234-1234-123412341234}" type="slidenum">
              <a:rPr b="1" lang="en-GB" sz="1200">
                <a:solidFill>
                  <a:schemeClr val="dk1"/>
                </a:solidFill>
              </a:rPr>
              <a:t>‹#›</a:t>
            </a:fld>
            <a:r>
              <a:rPr lang="en-GB" sz="1200">
                <a:solidFill>
                  <a:schemeClr val="dk1"/>
                </a:solidFill>
              </a:rPr>
              <a:t> of </a:t>
            </a:r>
            <a:r>
              <a:rPr b="1" lang="en-GB" sz="1200">
                <a:solidFill>
                  <a:schemeClr val="dk1"/>
                </a:solidFill>
              </a:rPr>
              <a:t>18</a:t>
            </a:r>
            <a:endParaRPr sz="1200">
              <a:solidFill>
                <a:schemeClr val="dk1"/>
              </a:solidFill>
            </a:endParaRPr>
          </a:p>
        </p:txBody>
      </p:sp>
      <p:pic>
        <p:nvPicPr>
          <p:cNvPr id="262" name="Google Shape;262;p26"/>
          <p:cNvPicPr preferRelativeResize="0"/>
          <p:nvPr/>
        </p:nvPicPr>
        <p:blipFill rotWithShape="1">
          <a:blip r:embed="rId3">
            <a:alphaModFix/>
          </a:blip>
          <a:srcRect b="10722" l="5250" r="-5250" t="10730"/>
          <a:stretch/>
        </p:blipFill>
        <p:spPr>
          <a:xfrm>
            <a:off x="5205013" y="936325"/>
            <a:ext cx="3629025" cy="2314575"/>
          </a:xfrm>
          <a:prstGeom prst="rect">
            <a:avLst/>
          </a:prstGeom>
          <a:noFill/>
          <a:ln>
            <a:noFill/>
          </a:ln>
        </p:spPr>
      </p:pic>
      <p:sp>
        <p:nvSpPr>
          <p:cNvPr id="263" name="Google Shape;263;p26"/>
          <p:cNvSpPr txBox="1"/>
          <p:nvPr/>
        </p:nvSpPr>
        <p:spPr>
          <a:xfrm>
            <a:off x="4664713" y="3487050"/>
            <a:ext cx="4490700" cy="14316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chemeClr val="dk1"/>
              </a:buClr>
              <a:buSzPts val="1200"/>
              <a:buFont typeface="Times New Roman"/>
              <a:buChar char="❖"/>
            </a:pPr>
            <a:r>
              <a:rPr lang="en-GB" sz="1200">
                <a:solidFill>
                  <a:schemeClr val="dk1"/>
                </a:solidFill>
                <a:latin typeface="Times New Roman"/>
                <a:ea typeface="Times New Roman"/>
                <a:cs typeface="Times New Roman"/>
                <a:sym typeface="Times New Roman"/>
              </a:rPr>
              <a:t>The plot confirms that the impeller design is highly efficient. The smooth, color-coded streamlines demonstrate stable fluid acceleration from inlet to outlet, which minimizes turbulence and ensures optimal energy transfer for better pump performance. </a:t>
            </a:r>
            <a:endParaRPr sz="12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sp>
        <p:nvSpPr>
          <p:cNvPr id="264" name="Google Shape;264;p26"/>
          <p:cNvSpPr txBox="1"/>
          <p:nvPr/>
        </p:nvSpPr>
        <p:spPr>
          <a:xfrm>
            <a:off x="449775" y="3538625"/>
            <a:ext cx="44907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sp>
        <p:nvSpPr>
          <p:cNvPr id="265" name="Google Shape;265;p26"/>
          <p:cNvSpPr txBox="1"/>
          <p:nvPr/>
        </p:nvSpPr>
        <p:spPr>
          <a:xfrm>
            <a:off x="-37287" y="3550975"/>
            <a:ext cx="4690800" cy="1146900"/>
          </a:xfrm>
          <a:prstGeom prst="rect">
            <a:avLst/>
          </a:prstGeom>
          <a:noFill/>
          <a:ln>
            <a:noFill/>
          </a:ln>
        </p:spPr>
        <p:txBody>
          <a:bodyPr anchorCtr="0" anchor="ctr" bIns="91425" lIns="91425" spcFirstLastPara="1" rIns="91425" wrap="square" tIns="91425">
            <a:noAutofit/>
          </a:bodyPr>
          <a:lstStyle/>
          <a:p>
            <a:pPr indent="-304800" lvl="0" marL="457200" rtl="0" algn="l">
              <a:lnSpc>
                <a:spcPct val="115000"/>
              </a:lnSpc>
              <a:spcBef>
                <a:spcPts val="1200"/>
              </a:spcBef>
              <a:spcAft>
                <a:spcPts val="0"/>
              </a:spcAft>
              <a:buClr>
                <a:schemeClr val="dk1"/>
              </a:buClr>
              <a:buSzPts val="1200"/>
              <a:buChar char="❖"/>
            </a:pPr>
            <a:r>
              <a:rPr b="1" lang="en-GB" sz="1200">
                <a:solidFill>
                  <a:schemeClr val="dk1"/>
                </a:solidFill>
                <a:latin typeface="Times New Roman"/>
                <a:ea typeface="Times New Roman"/>
                <a:cs typeface="Times New Roman"/>
                <a:sym typeface="Times New Roman"/>
              </a:rPr>
              <a:t>ANSYS CFD analysis</a:t>
            </a:r>
            <a:r>
              <a:rPr lang="en-GB" sz="1200">
                <a:solidFill>
                  <a:schemeClr val="dk1"/>
                </a:solidFill>
                <a:latin typeface="Times New Roman"/>
                <a:ea typeface="Times New Roman"/>
                <a:cs typeface="Times New Roman"/>
                <a:sym typeface="Times New Roman"/>
              </a:rPr>
              <a:t> confirmed the </a:t>
            </a:r>
            <a:r>
              <a:rPr lang="en-GB" sz="1200">
                <a:solidFill>
                  <a:schemeClr val="dk1"/>
                </a:solidFill>
                <a:latin typeface="Times New Roman"/>
                <a:ea typeface="Times New Roman"/>
                <a:cs typeface="Times New Roman"/>
                <a:sym typeface="Times New Roman"/>
              </a:rPr>
              <a:t>impeller</a:t>
            </a:r>
            <a:r>
              <a:rPr lang="en-GB" sz="1200">
                <a:solidFill>
                  <a:schemeClr val="dk1"/>
                </a:solidFill>
                <a:latin typeface="Times New Roman"/>
                <a:ea typeface="Times New Roman"/>
                <a:cs typeface="Times New Roman"/>
                <a:sym typeface="Times New Roman"/>
              </a:rPr>
              <a:t> efficiency by meshing the fluid domain to solve for pressure and velocity. The results show stable flow and minimal turbulence, validating that the blade geometry optimizes energy transfer and hydraulic performance. </a:t>
            </a:r>
            <a:endParaRPr sz="1200">
              <a:latin typeface="Times New Roman"/>
              <a:ea typeface="Times New Roman"/>
              <a:cs typeface="Times New Roman"/>
              <a:sym typeface="Times New Roman"/>
            </a:endParaRPr>
          </a:p>
        </p:txBody>
      </p:sp>
      <p:pic>
        <p:nvPicPr>
          <p:cNvPr id="266" name="Google Shape;266;p26"/>
          <p:cNvPicPr preferRelativeResize="0"/>
          <p:nvPr/>
        </p:nvPicPr>
        <p:blipFill>
          <a:blip r:embed="rId4">
            <a:alphaModFix/>
          </a:blip>
          <a:stretch>
            <a:fillRect/>
          </a:stretch>
        </p:blipFill>
        <p:spPr>
          <a:xfrm>
            <a:off x="449775" y="873175"/>
            <a:ext cx="3716675" cy="2293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7"/>
          <p:cNvSpPr txBox="1"/>
          <p:nvPr/>
        </p:nvSpPr>
        <p:spPr>
          <a:xfrm>
            <a:off x="2347025" y="3157475"/>
            <a:ext cx="3000000" cy="338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t/>
            </a:r>
            <a:endParaRPr b="1" sz="1000">
              <a:solidFill>
                <a:schemeClr val="dk2"/>
              </a:solidFill>
            </a:endParaRPr>
          </a:p>
        </p:txBody>
      </p:sp>
      <p:sp>
        <p:nvSpPr>
          <p:cNvPr id="272" name="Google Shape;272;p27"/>
          <p:cNvSpPr txBox="1"/>
          <p:nvPr>
            <p:ph idx="12" type="sldNum"/>
          </p:nvPr>
        </p:nvSpPr>
        <p:spPr>
          <a:xfrm>
            <a:off x="7572649" y="4663225"/>
            <a:ext cx="14484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GB" sz="1200">
                <a:solidFill>
                  <a:schemeClr val="dk1"/>
                </a:solidFill>
              </a:rPr>
              <a:t>Page </a:t>
            </a:r>
            <a:fld id="{00000000-1234-1234-1234-123412341234}" type="slidenum">
              <a:rPr b="1" lang="en-GB" sz="1200">
                <a:solidFill>
                  <a:schemeClr val="dk1"/>
                </a:solidFill>
              </a:rPr>
              <a:t>‹#›</a:t>
            </a:fld>
            <a:r>
              <a:rPr lang="en-GB" sz="1200">
                <a:solidFill>
                  <a:schemeClr val="dk1"/>
                </a:solidFill>
              </a:rPr>
              <a:t> of </a:t>
            </a:r>
            <a:r>
              <a:rPr b="1" lang="en-GB" sz="1200">
                <a:solidFill>
                  <a:schemeClr val="dk1"/>
                </a:solidFill>
              </a:rPr>
              <a:t>18</a:t>
            </a:r>
            <a:endParaRPr sz="1200">
              <a:solidFill>
                <a:schemeClr val="dk1"/>
              </a:solidFill>
            </a:endParaRPr>
          </a:p>
        </p:txBody>
      </p:sp>
      <p:sp>
        <p:nvSpPr>
          <p:cNvPr id="273" name="Google Shape;273;p27"/>
          <p:cNvSpPr txBox="1"/>
          <p:nvPr/>
        </p:nvSpPr>
        <p:spPr>
          <a:xfrm>
            <a:off x="204750" y="3876225"/>
            <a:ext cx="7620000" cy="9390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dk1"/>
              </a:buClr>
              <a:buSzPts val="1300"/>
              <a:buChar char="●"/>
            </a:pPr>
            <a:r>
              <a:rPr b="1" lang="en-GB" sz="1200">
                <a:solidFill>
                  <a:schemeClr val="dk1"/>
                </a:solidFill>
                <a:latin typeface="Times New Roman"/>
                <a:ea typeface="Times New Roman"/>
                <a:cs typeface="Times New Roman"/>
                <a:sym typeface="Times New Roman"/>
              </a:rPr>
              <a:t>Optimal Performance:</a:t>
            </a:r>
            <a:r>
              <a:rPr lang="en-GB" sz="1200">
                <a:solidFill>
                  <a:schemeClr val="dk1"/>
                </a:solidFill>
                <a:latin typeface="Times New Roman"/>
                <a:ea typeface="Times New Roman"/>
                <a:cs typeface="Times New Roman"/>
                <a:sym typeface="Times New Roman"/>
              </a:rPr>
              <a:t> The efficiency follows a parabolic trend, climbing from </a:t>
            </a:r>
            <a:r>
              <a:rPr b="1" lang="en-GB" sz="1200">
                <a:solidFill>
                  <a:schemeClr val="dk1"/>
                </a:solidFill>
                <a:latin typeface="Times New Roman"/>
                <a:ea typeface="Times New Roman"/>
                <a:cs typeface="Times New Roman"/>
                <a:sym typeface="Times New Roman"/>
              </a:rPr>
              <a:t>84.01%</a:t>
            </a:r>
            <a:r>
              <a:rPr lang="en-GB" sz="1200">
                <a:solidFill>
                  <a:schemeClr val="dk1"/>
                </a:solidFill>
                <a:latin typeface="Times New Roman"/>
                <a:ea typeface="Times New Roman"/>
                <a:cs typeface="Times New Roman"/>
                <a:sym typeface="Times New Roman"/>
              </a:rPr>
              <a:t> to a </a:t>
            </a:r>
            <a:r>
              <a:rPr b="1" lang="en-GB" sz="1200">
                <a:solidFill>
                  <a:schemeClr val="dk1"/>
                </a:solidFill>
                <a:latin typeface="Times New Roman"/>
                <a:ea typeface="Times New Roman"/>
                <a:cs typeface="Times New Roman"/>
                <a:sym typeface="Times New Roman"/>
              </a:rPr>
              <a:t>Best Efficiency Point (BEP) of 89.45% at 40.00 kg/s</a:t>
            </a:r>
            <a:r>
              <a:rPr lang="en-GB" sz="1200">
                <a:solidFill>
                  <a:schemeClr val="dk1"/>
                </a:solidFill>
                <a:latin typeface="Times New Roman"/>
                <a:ea typeface="Times New Roman"/>
                <a:cs typeface="Times New Roman"/>
                <a:sym typeface="Times New Roman"/>
              </a:rPr>
              <a:t>, where the blade geometry and fluid flow are perfectly aligned. </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Char char="●"/>
            </a:pPr>
            <a:r>
              <a:rPr b="1" lang="en-GB" sz="1200">
                <a:solidFill>
                  <a:schemeClr val="dk1"/>
                </a:solidFill>
                <a:latin typeface="Times New Roman"/>
                <a:ea typeface="Times New Roman"/>
                <a:cs typeface="Times New Roman"/>
                <a:sym typeface="Times New Roman"/>
              </a:rPr>
              <a:t>Performance Collapse:</a:t>
            </a:r>
            <a:r>
              <a:rPr lang="en-GB" sz="1200">
                <a:solidFill>
                  <a:schemeClr val="dk1"/>
                </a:solidFill>
                <a:latin typeface="Times New Roman"/>
                <a:ea typeface="Times New Roman"/>
                <a:cs typeface="Times New Roman"/>
                <a:sym typeface="Times New Roman"/>
              </a:rPr>
              <a:t> Beyond the BEP, efficiency drops sharply to </a:t>
            </a:r>
            <a:r>
              <a:rPr b="1" lang="en-GB" sz="1200">
                <a:solidFill>
                  <a:schemeClr val="dk1"/>
                </a:solidFill>
                <a:latin typeface="Times New Roman"/>
                <a:ea typeface="Times New Roman"/>
                <a:cs typeface="Times New Roman"/>
                <a:sym typeface="Times New Roman"/>
              </a:rPr>
              <a:t>38.60%</a:t>
            </a:r>
            <a:r>
              <a:rPr lang="en-GB" sz="1200">
                <a:solidFill>
                  <a:schemeClr val="dk1"/>
                </a:solidFill>
                <a:latin typeface="Times New Roman"/>
                <a:ea typeface="Times New Roman"/>
                <a:cs typeface="Times New Roman"/>
                <a:sym typeface="Times New Roman"/>
              </a:rPr>
              <a:t> at </a:t>
            </a:r>
            <a:r>
              <a:rPr b="1" lang="en-GB" sz="1200">
                <a:solidFill>
                  <a:schemeClr val="dk1"/>
                </a:solidFill>
                <a:latin typeface="Times New Roman"/>
                <a:ea typeface="Times New Roman"/>
                <a:cs typeface="Times New Roman"/>
                <a:sym typeface="Times New Roman"/>
              </a:rPr>
              <a:t>60.00 kg/s</a:t>
            </a:r>
            <a:r>
              <a:rPr lang="en-GB" sz="1200">
                <a:solidFill>
                  <a:schemeClr val="dk1"/>
                </a:solidFill>
                <a:latin typeface="Times New Roman"/>
                <a:ea typeface="Times New Roman"/>
                <a:cs typeface="Times New Roman"/>
                <a:sym typeface="Times New Roman"/>
              </a:rPr>
              <a:t>, as internal hydraulic losses and high fluid velocities exceed the impeller's capacity to handle the flow. </a:t>
            </a:r>
            <a:endParaRPr sz="1200">
              <a:solidFill>
                <a:schemeClr val="dk1"/>
              </a:solidFill>
              <a:latin typeface="Times New Roman"/>
              <a:ea typeface="Times New Roman"/>
              <a:cs typeface="Times New Roman"/>
              <a:sym typeface="Times New Roman"/>
            </a:endParaRPr>
          </a:p>
        </p:txBody>
      </p:sp>
      <p:pic>
        <p:nvPicPr>
          <p:cNvPr id="274" name="Google Shape;274;p27"/>
          <p:cNvPicPr preferRelativeResize="0"/>
          <p:nvPr/>
        </p:nvPicPr>
        <p:blipFill>
          <a:blip r:embed="rId3">
            <a:alphaModFix/>
          </a:blip>
          <a:stretch>
            <a:fillRect/>
          </a:stretch>
        </p:blipFill>
        <p:spPr>
          <a:xfrm>
            <a:off x="979965" y="957132"/>
            <a:ext cx="6844774" cy="2799575"/>
          </a:xfrm>
          <a:prstGeom prst="rect">
            <a:avLst/>
          </a:prstGeom>
          <a:noFill/>
          <a:ln>
            <a:noFill/>
          </a:ln>
        </p:spPr>
      </p:pic>
      <p:sp>
        <p:nvSpPr>
          <p:cNvPr id="275" name="Google Shape;275;p27"/>
          <p:cNvSpPr/>
          <p:nvPr/>
        </p:nvSpPr>
        <p:spPr>
          <a:xfrm>
            <a:off x="0" y="-291618"/>
            <a:ext cx="9288200" cy="1115650"/>
          </a:xfrm>
          <a:prstGeom prst="flowChartPunchedTape">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t/>
            </a:r>
            <a:endParaRPr sz="2800">
              <a:solidFill>
                <a:schemeClr val="dk1"/>
              </a:solidFill>
              <a:latin typeface="Roboto Black"/>
              <a:ea typeface="Roboto Black"/>
              <a:cs typeface="Roboto Black"/>
              <a:sym typeface="Roboto Black"/>
            </a:endParaRPr>
          </a:p>
          <a:p>
            <a:pPr indent="0" lvl="0" marL="0" rtl="0" algn="l">
              <a:spcBef>
                <a:spcPts val="0"/>
              </a:spcBef>
              <a:spcAft>
                <a:spcPts val="0"/>
              </a:spcAft>
              <a:buNone/>
            </a:pPr>
            <a:r>
              <a:rPr lang="en-GB" sz="2800">
                <a:solidFill>
                  <a:schemeClr val="dk1"/>
                </a:solidFill>
                <a:latin typeface="Roboto Black"/>
                <a:ea typeface="Roboto Black"/>
                <a:cs typeface="Roboto Black"/>
                <a:sym typeface="Roboto Black"/>
              </a:rPr>
              <a:t>V. 		</a:t>
            </a:r>
            <a:r>
              <a:rPr lang="en-GB" sz="2800">
                <a:solidFill>
                  <a:schemeClr val="dk1"/>
                </a:solidFill>
                <a:latin typeface="Roboto Black"/>
                <a:ea typeface="Roboto Black"/>
                <a:cs typeface="Roboto Black"/>
                <a:sym typeface="Roboto Black"/>
              </a:rPr>
              <a:t>Result</a:t>
            </a:r>
            <a:endParaRPr sz="2800">
              <a:solidFill>
                <a:schemeClr val="dk1"/>
              </a:solidFill>
              <a:latin typeface="Roboto Black"/>
              <a:ea typeface="Roboto Black"/>
              <a:cs typeface="Roboto Black"/>
              <a:sym typeface="Roboto Black"/>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8"/>
          <p:cNvSpPr/>
          <p:nvPr/>
        </p:nvSpPr>
        <p:spPr>
          <a:xfrm>
            <a:off x="0" y="-305225"/>
            <a:ext cx="9288200" cy="1115650"/>
          </a:xfrm>
          <a:prstGeom prst="flowChartPunchedTape">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rPr lang="en-GB" sz="2800">
                <a:solidFill>
                  <a:schemeClr val="dk1"/>
                </a:solidFill>
                <a:latin typeface="Roboto Black"/>
                <a:ea typeface="Roboto Black"/>
                <a:cs typeface="Roboto Black"/>
                <a:sym typeface="Roboto Black"/>
              </a:rPr>
              <a:t>VI.</a:t>
            </a:r>
            <a:r>
              <a:rPr lang="en-GB" sz="2800">
                <a:solidFill>
                  <a:schemeClr val="dk1"/>
                </a:solidFill>
                <a:latin typeface="Roboto Black"/>
                <a:ea typeface="Roboto Black"/>
                <a:cs typeface="Roboto Black"/>
                <a:sym typeface="Roboto Black"/>
              </a:rPr>
              <a:t> </a:t>
            </a:r>
            <a:r>
              <a:rPr b="1" lang="en-GB" sz="2800">
                <a:solidFill>
                  <a:schemeClr val="dk1"/>
                </a:solidFill>
                <a:latin typeface="Roboto"/>
                <a:ea typeface="Roboto"/>
                <a:cs typeface="Roboto"/>
                <a:sym typeface="Roboto"/>
              </a:rPr>
              <a:t>Technical </a:t>
            </a:r>
            <a:endParaRPr sz="2800">
              <a:latin typeface="Roboto Black"/>
              <a:ea typeface="Roboto Black"/>
              <a:cs typeface="Roboto Black"/>
              <a:sym typeface="Roboto Black"/>
            </a:endParaRPr>
          </a:p>
        </p:txBody>
      </p:sp>
      <p:sp>
        <p:nvSpPr>
          <p:cNvPr id="281" name="Google Shape;281;p28"/>
          <p:cNvSpPr txBox="1"/>
          <p:nvPr>
            <p:ph idx="12" type="sldNum"/>
          </p:nvPr>
        </p:nvSpPr>
        <p:spPr>
          <a:xfrm>
            <a:off x="7735774" y="4663225"/>
            <a:ext cx="12852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GB" sz="1200">
                <a:solidFill>
                  <a:schemeClr val="dk1"/>
                </a:solidFill>
              </a:rPr>
              <a:t>Page </a:t>
            </a:r>
            <a:fld id="{00000000-1234-1234-1234-123412341234}" type="slidenum">
              <a:rPr b="1" lang="en-GB" sz="1200">
                <a:solidFill>
                  <a:schemeClr val="dk1"/>
                </a:solidFill>
              </a:rPr>
              <a:t>‹#›</a:t>
            </a:fld>
            <a:r>
              <a:rPr lang="en-GB" sz="1200">
                <a:solidFill>
                  <a:schemeClr val="dk1"/>
                </a:solidFill>
              </a:rPr>
              <a:t> of </a:t>
            </a:r>
            <a:r>
              <a:rPr b="1" lang="en-GB" sz="1200">
                <a:solidFill>
                  <a:schemeClr val="dk1"/>
                </a:solidFill>
              </a:rPr>
              <a:t>18</a:t>
            </a:r>
            <a:endParaRPr sz="1200">
              <a:solidFill>
                <a:schemeClr val="dk1"/>
              </a:solidFill>
            </a:endParaRPr>
          </a:p>
        </p:txBody>
      </p:sp>
      <p:sp>
        <p:nvSpPr>
          <p:cNvPr id="282" name="Google Shape;282;p28"/>
          <p:cNvSpPr txBox="1"/>
          <p:nvPr/>
        </p:nvSpPr>
        <p:spPr>
          <a:xfrm>
            <a:off x="974400" y="3116400"/>
            <a:ext cx="2825700" cy="47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chemeClr val="dk1"/>
                </a:solidFill>
                <a:latin typeface="Times New Roman"/>
                <a:ea typeface="Times New Roman"/>
                <a:cs typeface="Times New Roman"/>
                <a:sym typeface="Times New Roman"/>
              </a:rPr>
              <a:t>Material </a:t>
            </a:r>
            <a:r>
              <a:rPr b="1" lang="en-GB" sz="1600">
                <a:solidFill>
                  <a:schemeClr val="dk1"/>
                </a:solidFill>
                <a:latin typeface="Times New Roman"/>
                <a:ea typeface="Times New Roman"/>
                <a:cs typeface="Times New Roman"/>
                <a:sym typeface="Times New Roman"/>
              </a:rPr>
              <a:t>(PLA Vs PETG) </a:t>
            </a:r>
            <a:endParaRPr b="1" sz="1600">
              <a:solidFill>
                <a:schemeClr val="dk1"/>
              </a:solidFill>
              <a:latin typeface="Times New Roman"/>
              <a:ea typeface="Times New Roman"/>
              <a:cs typeface="Times New Roman"/>
              <a:sym typeface="Times New Roman"/>
            </a:endParaRPr>
          </a:p>
        </p:txBody>
      </p:sp>
      <p:sp>
        <p:nvSpPr>
          <p:cNvPr id="283" name="Google Shape;283;p28"/>
          <p:cNvSpPr txBox="1"/>
          <p:nvPr/>
        </p:nvSpPr>
        <p:spPr>
          <a:xfrm>
            <a:off x="6328775" y="874969"/>
            <a:ext cx="1407000" cy="47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chemeClr val="dk1"/>
                </a:solidFill>
                <a:latin typeface="Times New Roman"/>
                <a:ea typeface="Times New Roman"/>
                <a:cs typeface="Times New Roman"/>
                <a:sym typeface="Times New Roman"/>
              </a:rPr>
              <a:t>Prototype </a:t>
            </a:r>
            <a:endParaRPr b="1" sz="1800">
              <a:solidFill>
                <a:schemeClr val="dk1"/>
              </a:solidFill>
              <a:latin typeface="Times New Roman"/>
              <a:ea typeface="Times New Roman"/>
              <a:cs typeface="Times New Roman"/>
              <a:sym typeface="Times New Roman"/>
            </a:endParaRPr>
          </a:p>
        </p:txBody>
      </p:sp>
      <p:cxnSp>
        <p:nvCxnSpPr>
          <p:cNvPr id="284" name="Google Shape;284;p28"/>
          <p:cNvCxnSpPr/>
          <p:nvPr/>
        </p:nvCxnSpPr>
        <p:spPr>
          <a:xfrm>
            <a:off x="4646200" y="708825"/>
            <a:ext cx="0" cy="4446900"/>
          </a:xfrm>
          <a:prstGeom prst="straightConnector1">
            <a:avLst/>
          </a:prstGeom>
          <a:noFill/>
          <a:ln cap="flat" cmpd="sng" w="38100">
            <a:solidFill>
              <a:schemeClr val="dk1"/>
            </a:solidFill>
            <a:prstDash val="solid"/>
            <a:round/>
            <a:headEnd len="med" w="med" type="none"/>
            <a:tailEnd len="med" w="med" type="none"/>
          </a:ln>
        </p:spPr>
      </p:cxnSp>
      <p:pic>
        <p:nvPicPr>
          <p:cNvPr id="285" name="Google Shape;285;p28"/>
          <p:cNvPicPr preferRelativeResize="0"/>
          <p:nvPr/>
        </p:nvPicPr>
        <p:blipFill rotWithShape="1">
          <a:blip r:embed="rId3">
            <a:alphaModFix/>
          </a:blip>
          <a:srcRect b="0" l="13666" r="9688" t="23786"/>
          <a:stretch/>
        </p:blipFill>
        <p:spPr>
          <a:xfrm>
            <a:off x="5747363" y="1410219"/>
            <a:ext cx="2380184" cy="1764775"/>
          </a:xfrm>
          <a:prstGeom prst="rect">
            <a:avLst/>
          </a:prstGeom>
          <a:noFill/>
          <a:ln>
            <a:noFill/>
          </a:ln>
        </p:spPr>
      </p:pic>
      <p:sp>
        <p:nvSpPr>
          <p:cNvPr id="286" name="Google Shape;286;p28"/>
          <p:cNvSpPr txBox="1"/>
          <p:nvPr/>
        </p:nvSpPr>
        <p:spPr>
          <a:xfrm>
            <a:off x="4987750" y="3176350"/>
            <a:ext cx="3899400" cy="203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200">
                <a:solidFill>
                  <a:schemeClr val="dk1"/>
                </a:solidFill>
                <a:latin typeface="Times New Roman"/>
                <a:ea typeface="Times New Roman"/>
                <a:cs typeface="Times New Roman"/>
                <a:sym typeface="Times New Roman"/>
              </a:rPr>
              <a:t>   </a:t>
            </a:r>
            <a:r>
              <a:rPr b="1" lang="en-GB">
                <a:solidFill>
                  <a:schemeClr val="dk1"/>
                </a:solidFill>
                <a:latin typeface="Times New Roman"/>
                <a:ea typeface="Times New Roman"/>
                <a:cs typeface="Times New Roman"/>
                <a:sym typeface="Times New Roman"/>
              </a:rPr>
              <a:t>  </a:t>
            </a:r>
            <a:r>
              <a:rPr b="1" lang="en-GB">
                <a:solidFill>
                  <a:schemeClr val="dk1"/>
                </a:solidFill>
                <a:latin typeface="Times New Roman"/>
                <a:ea typeface="Times New Roman"/>
                <a:cs typeface="Times New Roman"/>
                <a:sym typeface="Times New Roman"/>
              </a:rPr>
              <a:t>Potential Causes of Failure in 3D-Printed Impellers: </a:t>
            </a:r>
            <a:endParaRPr b="1">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GB" sz="1300">
                <a:solidFill>
                  <a:schemeClr val="dk1"/>
                </a:solidFill>
                <a:latin typeface="Times New Roman"/>
                <a:ea typeface="Times New Roman"/>
                <a:cs typeface="Times New Roman"/>
                <a:sym typeface="Times New Roman"/>
              </a:rPr>
              <a:t>Thermal Instability</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GB" sz="1300">
                <a:solidFill>
                  <a:schemeClr val="dk1"/>
                </a:solidFill>
                <a:latin typeface="Times New Roman"/>
                <a:ea typeface="Times New Roman"/>
                <a:cs typeface="Times New Roman"/>
                <a:sym typeface="Times New Roman"/>
              </a:rPr>
              <a:t>Mechanical Fatigue</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GB" sz="1300">
                <a:solidFill>
                  <a:schemeClr val="dk1"/>
                </a:solidFill>
                <a:latin typeface="Times New Roman"/>
                <a:ea typeface="Times New Roman"/>
                <a:cs typeface="Times New Roman"/>
                <a:sym typeface="Times New Roman"/>
              </a:rPr>
              <a:t>Dynamic Imbalance</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GB" sz="1300">
                <a:solidFill>
                  <a:schemeClr val="dk1"/>
                </a:solidFill>
                <a:latin typeface="Times New Roman"/>
                <a:ea typeface="Times New Roman"/>
                <a:cs typeface="Times New Roman"/>
                <a:sym typeface="Times New Roman"/>
              </a:rPr>
              <a:t>Geometric Inaccuracy</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GB" sz="1300">
                <a:solidFill>
                  <a:schemeClr val="dk1"/>
                </a:solidFill>
                <a:latin typeface="Times New Roman"/>
                <a:ea typeface="Times New Roman"/>
                <a:cs typeface="Times New Roman"/>
                <a:sym typeface="Times New Roman"/>
              </a:rPr>
              <a:t>Structural </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GB" sz="1300">
                <a:solidFill>
                  <a:schemeClr val="dk1"/>
                </a:solidFill>
                <a:latin typeface="Times New Roman"/>
                <a:ea typeface="Times New Roman"/>
                <a:cs typeface="Times New Roman"/>
                <a:sym typeface="Times New Roman"/>
              </a:rPr>
              <a:t>Overloading</a:t>
            </a:r>
            <a:endParaRPr sz="1300">
              <a:solidFill>
                <a:schemeClr val="dk1"/>
              </a:solidFill>
              <a:latin typeface="Times New Roman"/>
              <a:ea typeface="Times New Roman"/>
              <a:cs typeface="Times New Roman"/>
              <a:sym typeface="Times New Roman"/>
            </a:endParaRPr>
          </a:p>
        </p:txBody>
      </p:sp>
      <p:pic>
        <p:nvPicPr>
          <p:cNvPr id="287" name="Google Shape;287;p28"/>
          <p:cNvPicPr preferRelativeResize="0"/>
          <p:nvPr/>
        </p:nvPicPr>
        <p:blipFill>
          <a:blip r:embed="rId4">
            <a:alphaModFix/>
          </a:blip>
          <a:stretch>
            <a:fillRect/>
          </a:stretch>
        </p:blipFill>
        <p:spPr>
          <a:xfrm>
            <a:off x="1075375" y="3565318"/>
            <a:ext cx="2380175" cy="1388432"/>
          </a:xfrm>
          <a:prstGeom prst="rect">
            <a:avLst/>
          </a:prstGeom>
          <a:noFill/>
          <a:ln>
            <a:noFill/>
          </a:ln>
        </p:spPr>
      </p:pic>
      <p:sp>
        <p:nvSpPr>
          <p:cNvPr id="288" name="Google Shape;288;p28"/>
          <p:cNvSpPr txBox="1"/>
          <p:nvPr/>
        </p:nvSpPr>
        <p:spPr>
          <a:xfrm>
            <a:off x="1162950" y="907925"/>
            <a:ext cx="2292600" cy="47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chemeClr val="dk1"/>
                </a:solidFill>
                <a:latin typeface="Times New Roman"/>
                <a:ea typeface="Times New Roman"/>
                <a:cs typeface="Times New Roman"/>
                <a:sym typeface="Times New Roman"/>
              </a:rPr>
              <a:t>Concept Design</a:t>
            </a:r>
            <a:endParaRPr b="1" sz="1800">
              <a:solidFill>
                <a:schemeClr val="dk1"/>
              </a:solidFill>
              <a:latin typeface="Times New Roman"/>
              <a:ea typeface="Times New Roman"/>
              <a:cs typeface="Times New Roman"/>
              <a:sym typeface="Times New Roman"/>
            </a:endParaRPr>
          </a:p>
        </p:txBody>
      </p:sp>
      <p:pic>
        <p:nvPicPr>
          <p:cNvPr id="289" name="Google Shape;289;p28"/>
          <p:cNvPicPr preferRelativeResize="0"/>
          <p:nvPr/>
        </p:nvPicPr>
        <p:blipFill>
          <a:blip r:embed="rId5">
            <a:alphaModFix/>
          </a:blip>
          <a:stretch>
            <a:fillRect/>
          </a:stretch>
        </p:blipFill>
        <p:spPr>
          <a:xfrm>
            <a:off x="400750" y="1583450"/>
            <a:ext cx="1561349" cy="1040900"/>
          </a:xfrm>
          <a:prstGeom prst="rect">
            <a:avLst/>
          </a:prstGeom>
          <a:noFill/>
          <a:ln>
            <a:noFill/>
          </a:ln>
        </p:spPr>
      </p:pic>
      <p:pic>
        <p:nvPicPr>
          <p:cNvPr id="290" name="Google Shape;290;p28"/>
          <p:cNvPicPr preferRelativeResize="0"/>
          <p:nvPr/>
        </p:nvPicPr>
        <p:blipFill>
          <a:blip r:embed="rId6">
            <a:alphaModFix/>
          </a:blip>
          <a:stretch>
            <a:fillRect/>
          </a:stretch>
        </p:blipFill>
        <p:spPr>
          <a:xfrm>
            <a:off x="2819500" y="1522497"/>
            <a:ext cx="1162800" cy="1162800"/>
          </a:xfrm>
          <a:prstGeom prst="rect">
            <a:avLst/>
          </a:prstGeom>
          <a:noFill/>
          <a:ln>
            <a:noFill/>
          </a:ln>
        </p:spPr>
      </p:pic>
      <p:sp>
        <p:nvSpPr>
          <p:cNvPr id="291" name="Google Shape;291;p28"/>
          <p:cNvSpPr txBox="1"/>
          <p:nvPr/>
        </p:nvSpPr>
        <p:spPr>
          <a:xfrm>
            <a:off x="492125" y="2650425"/>
            <a:ext cx="1323300" cy="56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1"/>
                </a:solidFill>
                <a:latin typeface="Times New Roman"/>
                <a:ea typeface="Times New Roman"/>
                <a:cs typeface="Times New Roman"/>
                <a:sym typeface="Times New Roman"/>
              </a:rPr>
              <a:t>3D printing</a:t>
            </a:r>
            <a:endParaRPr sz="1600">
              <a:solidFill>
                <a:schemeClr val="dk1"/>
              </a:solidFill>
              <a:latin typeface="Times New Roman"/>
              <a:ea typeface="Times New Roman"/>
              <a:cs typeface="Times New Roman"/>
              <a:sym typeface="Times New Roman"/>
            </a:endParaRPr>
          </a:p>
        </p:txBody>
      </p:sp>
      <p:sp>
        <p:nvSpPr>
          <p:cNvPr id="292" name="Google Shape;292;p28"/>
          <p:cNvSpPr txBox="1"/>
          <p:nvPr/>
        </p:nvSpPr>
        <p:spPr>
          <a:xfrm>
            <a:off x="2640550" y="2685300"/>
            <a:ext cx="20691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2400"/>
              </a:spcAft>
              <a:buNone/>
            </a:pPr>
            <a:r>
              <a:rPr lang="en-GB" sz="1600">
                <a:solidFill>
                  <a:schemeClr val="dk1"/>
                </a:solidFill>
                <a:latin typeface="Times New Roman"/>
                <a:ea typeface="Times New Roman"/>
                <a:cs typeface="Times New Roman"/>
                <a:sym typeface="Times New Roman"/>
              </a:rPr>
              <a:t>Manual Fabrication</a:t>
            </a:r>
            <a:endParaRPr sz="22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9"/>
          <p:cNvSpPr/>
          <p:nvPr/>
        </p:nvSpPr>
        <p:spPr>
          <a:xfrm>
            <a:off x="0" y="-330500"/>
            <a:ext cx="9288200" cy="1115650"/>
          </a:xfrm>
          <a:prstGeom prst="flowChartPunchedTape">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rPr lang="en-GB" sz="2800">
                <a:solidFill>
                  <a:schemeClr val="dk1"/>
                </a:solidFill>
                <a:latin typeface="Roboto Black"/>
                <a:ea typeface="Roboto Black"/>
                <a:cs typeface="Roboto Black"/>
                <a:sym typeface="Roboto Black"/>
              </a:rPr>
              <a:t>VII.		</a:t>
            </a:r>
            <a:r>
              <a:rPr lang="en-GB" sz="2800">
                <a:solidFill>
                  <a:schemeClr val="dk1"/>
                </a:solidFill>
                <a:latin typeface="Roboto Black"/>
                <a:ea typeface="Roboto Black"/>
                <a:cs typeface="Roboto Black"/>
                <a:sym typeface="Roboto Black"/>
              </a:rPr>
              <a:t>Conclusion</a:t>
            </a:r>
            <a:endParaRPr sz="3400">
              <a:latin typeface="Roboto Black"/>
              <a:ea typeface="Roboto Black"/>
              <a:cs typeface="Roboto Black"/>
              <a:sym typeface="Roboto Black"/>
            </a:endParaRPr>
          </a:p>
        </p:txBody>
      </p:sp>
      <p:sp>
        <p:nvSpPr>
          <p:cNvPr id="298" name="Google Shape;298;p29"/>
          <p:cNvSpPr txBox="1"/>
          <p:nvPr/>
        </p:nvSpPr>
        <p:spPr>
          <a:xfrm>
            <a:off x="2347025" y="3157475"/>
            <a:ext cx="3000000" cy="338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t/>
            </a:r>
            <a:endParaRPr b="1" sz="1000">
              <a:solidFill>
                <a:schemeClr val="dk2"/>
              </a:solidFill>
            </a:endParaRPr>
          </a:p>
        </p:txBody>
      </p:sp>
      <p:sp>
        <p:nvSpPr>
          <p:cNvPr id="299" name="Google Shape;299;p29"/>
          <p:cNvSpPr txBox="1"/>
          <p:nvPr>
            <p:ph idx="12" type="sldNum"/>
          </p:nvPr>
        </p:nvSpPr>
        <p:spPr>
          <a:xfrm>
            <a:off x="7746299" y="4663225"/>
            <a:ext cx="1274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GB" sz="1200">
                <a:solidFill>
                  <a:schemeClr val="dk1"/>
                </a:solidFill>
              </a:rPr>
              <a:t>Page </a:t>
            </a:r>
            <a:fld id="{00000000-1234-1234-1234-123412341234}" type="slidenum">
              <a:rPr b="1" lang="en-GB" sz="1200">
                <a:solidFill>
                  <a:schemeClr val="dk1"/>
                </a:solidFill>
              </a:rPr>
              <a:t>‹#›</a:t>
            </a:fld>
            <a:r>
              <a:rPr lang="en-GB" sz="1200">
                <a:solidFill>
                  <a:schemeClr val="dk1"/>
                </a:solidFill>
              </a:rPr>
              <a:t> of </a:t>
            </a:r>
            <a:r>
              <a:rPr b="1" lang="en-GB" sz="1200">
                <a:solidFill>
                  <a:schemeClr val="dk1"/>
                </a:solidFill>
              </a:rPr>
              <a:t>18</a:t>
            </a:r>
            <a:endParaRPr sz="1200">
              <a:solidFill>
                <a:schemeClr val="dk1"/>
              </a:solidFill>
            </a:endParaRPr>
          </a:p>
        </p:txBody>
      </p:sp>
      <p:sp>
        <p:nvSpPr>
          <p:cNvPr id="300" name="Google Shape;300;p29"/>
          <p:cNvSpPr txBox="1"/>
          <p:nvPr/>
        </p:nvSpPr>
        <p:spPr>
          <a:xfrm>
            <a:off x="339225" y="1056400"/>
            <a:ext cx="84156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Times New Roman"/>
                <a:ea typeface="Times New Roman"/>
                <a:cs typeface="Times New Roman"/>
                <a:sym typeface="Times New Roman"/>
              </a:rPr>
              <a:t>The performance analysis shows that the impeller design is highly effective within its target range: </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b="1" lang="en-GB" sz="1800">
                <a:solidFill>
                  <a:schemeClr val="dk1"/>
                </a:solidFill>
                <a:latin typeface="Times New Roman"/>
                <a:ea typeface="Times New Roman"/>
                <a:cs typeface="Times New Roman"/>
                <a:sym typeface="Times New Roman"/>
              </a:rPr>
              <a:t>Stable Operation &amp; BEP:</a:t>
            </a:r>
            <a:r>
              <a:rPr lang="en-GB" sz="1800">
                <a:solidFill>
                  <a:schemeClr val="dk1"/>
                </a:solidFill>
                <a:latin typeface="Times New Roman"/>
                <a:ea typeface="Times New Roman"/>
                <a:cs typeface="Times New Roman"/>
                <a:sym typeface="Times New Roman"/>
              </a:rPr>
              <a:t> The system exhibits a stable, declining head curve between 1</a:t>
            </a:r>
            <a:r>
              <a:rPr b="1" lang="en-GB" sz="1800">
                <a:solidFill>
                  <a:schemeClr val="dk1"/>
                </a:solidFill>
                <a:latin typeface="Times New Roman"/>
                <a:ea typeface="Times New Roman"/>
                <a:cs typeface="Times New Roman"/>
                <a:sym typeface="Times New Roman"/>
              </a:rPr>
              <a:t>5.00 kg/s </a:t>
            </a:r>
            <a:r>
              <a:rPr lang="en-GB" sz="1800">
                <a:solidFill>
                  <a:schemeClr val="dk1"/>
                </a:solidFill>
                <a:latin typeface="Times New Roman"/>
                <a:ea typeface="Times New Roman"/>
                <a:cs typeface="Times New Roman"/>
                <a:sym typeface="Times New Roman"/>
              </a:rPr>
              <a:t>and </a:t>
            </a:r>
            <a:r>
              <a:rPr b="1" lang="en-GB" sz="1800">
                <a:solidFill>
                  <a:schemeClr val="dk1"/>
                </a:solidFill>
                <a:latin typeface="Times New Roman"/>
                <a:ea typeface="Times New Roman"/>
                <a:cs typeface="Times New Roman"/>
                <a:sym typeface="Times New Roman"/>
              </a:rPr>
              <a:t>40.00 kg/s</a:t>
            </a:r>
            <a:r>
              <a:rPr lang="en-GB" sz="1800">
                <a:solidFill>
                  <a:schemeClr val="dk1"/>
                </a:solidFill>
                <a:latin typeface="Times New Roman"/>
                <a:ea typeface="Times New Roman"/>
                <a:cs typeface="Times New Roman"/>
                <a:sym typeface="Times New Roman"/>
              </a:rPr>
              <a:t>. The </a:t>
            </a:r>
            <a:r>
              <a:rPr b="1" lang="en-GB" sz="1800">
                <a:solidFill>
                  <a:schemeClr val="dk1"/>
                </a:solidFill>
                <a:latin typeface="Times New Roman"/>
                <a:ea typeface="Times New Roman"/>
                <a:cs typeface="Times New Roman"/>
                <a:sym typeface="Times New Roman"/>
              </a:rPr>
              <a:t>Best Efficiency Point (BEP)</a:t>
            </a:r>
            <a:r>
              <a:rPr lang="en-GB" sz="1800">
                <a:solidFill>
                  <a:schemeClr val="dk1"/>
                </a:solidFill>
                <a:latin typeface="Times New Roman"/>
                <a:ea typeface="Times New Roman"/>
                <a:cs typeface="Times New Roman"/>
                <a:sym typeface="Times New Roman"/>
              </a:rPr>
              <a:t> is achieved at </a:t>
            </a:r>
            <a:r>
              <a:rPr b="1" lang="en-GB" sz="1800">
                <a:solidFill>
                  <a:schemeClr val="dk1"/>
                </a:solidFill>
                <a:latin typeface="Times New Roman"/>
                <a:ea typeface="Times New Roman"/>
                <a:cs typeface="Times New Roman"/>
                <a:sym typeface="Times New Roman"/>
              </a:rPr>
              <a:t>40.00 kg/s</a:t>
            </a:r>
            <a:r>
              <a:rPr lang="en-GB" sz="1800">
                <a:solidFill>
                  <a:schemeClr val="dk1"/>
                </a:solidFill>
                <a:latin typeface="Times New Roman"/>
                <a:ea typeface="Times New Roman"/>
                <a:cs typeface="Times New Roman"/>
                <a:sym typeface="Times New Roman"/>
              </a:rPr>
              <a:t>, where the impeller reaches a peak hydraulic efficiency of </a:t>
            </a:r>
            <a:r>
              <a:rPr b="1" lang="en-GB" sz="1800">
                <a:solidFill>
                  <a:schemeClr val="dk1"/>
                </a:solidFill>
                <a:latin typeface="Times New Roman"/>
                <a:ea typeface="Times New Roman"/>
                <a:cs typeface="Times New Roman"/>
                <a:sym typeface="Times New Roman"/>
              </a:rPr>
              <a:t>89.45%</a:t>
            </a:r>
            <a:r>
              <a:rPr lang="en-GB" sz="1800">
                <a:solidFill>
                  <a:schemeClr val="dk1"/>
                </a:solidFill>
                <a:latin typeface="Times New Roman"/>
                <a:ea typeface="Times New Roman"/>
                <a:cs typeface="Times New Roman"/>
                <a:sym typeface="Times New Roman"/>
              </a:rPr>
              <a:t>, indicating excellent geometric alignment between the blade curvature and fluid stream paths. </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Char char="●"/>
            </a:pPr>
            <a:r>
              <a:rPr b="1" lang="en-GB" sz="1800">
                <a:solidFill>
                  <a:schemeClr val="dk1"/>
                </a:solidFill>
                <a:latin typeface="Times New Roman"/>
                <a:ea typeface="Times New Roman"/>
                <a:cs typeface="Times New Roman"/>
                <a:sym typeface="Times New Roman"/>
              </a:rPr>
              <a:t>Performance Breakdown:</a:t>
            </a:r>
            <a:r>
              <a:rPr lang="en-GB" sz="1800">
                <a:solidFill>
                  <a:schemeClr val="dk1"/>
                </a:solidFill>
                <a:latin typeface="Times New Roman"/>
                <a:ea typeface="Times New Roman"/>
                <a:cs typeface="Times New Roman"/>
                <a:sym typeface="Times New Roman"/>
              </a:rPr>
              <a:t> Beyond </a:t>
            </a:r>
            <a:r>
              <a:rPr b="1" lang="en-GB" sz="1800">
                <a:solidFill>
                  <a:schemeClr val="dk1"/>
                </a:solidFill>
                <a:latin typeface="Times New Roman"/>
                <a:ea typeface="Times New Roman"/>
                <a:cs typeface="Times New Roman"/>
                <a:sym typeface="Times New Roman"/>
              </a:rPr>
              <a:t>40.00 kg/s</a:t>
            </a:r>
            <a:r>
              <a:rPr lang="en-GB" sz="1800">
                <a:solidFill>
                  <a:schemeClr val="dk1"/>
                </a:solidFill>
                <a:latin typeface="Times New Roman"/>
                <a:ea typeface="Times New Roman"/>
                <a:cs typeface="Times New Roman"/>
                <a:sym typeface="Times New Roman"/>
              </a:rPr>
              <a:t>, the system reaches its geometric choke limit. As mass flow increases toward </a:t>
            </a:r>
            <a:r>
              <a:rPr b="1" lang="en-GB" sz="1800">
                <a:solidFill>
                  <a:schemeClr val="dk1"/>
                </a:solidFill>
                <a:latin typeface="Times New Roman"/>
                <a:ea typeface="Times New Roman"/>
                <a:cs typeface="Times New Roman"/>
                <a:sym typeface="Times New Roman"/>
              </a:rPr>
              <a:t>60.00 kg/s</a:t>
            </a:r>
            <a:r>
              <a:rPr lang="en-GB" sz="1800">
                <a:solidFill>
                  <a:schemeClr val="dk1"/>
                </a:solidFill>
                <a:latin typeface="Times New Roman"/>
                <a:ea typeface="Times New Roman"/>
                <a:cs typeface="Times New Roman"/>
                <a:sym typeface="Times New Roman"/>
              </a:rPr>
              <a:t>, both the head and efficiency collapse sharply with efficiency dropping to </a:t>
            </a:r>
            <a:r>
              <a:rPr b="1" lang="en-GB" sz="1800">
                <a:solidFill>
                  <a:schemeClr val="dk1"/>
                </a:solidFill>
                <a:latin typeface="Times New Roman"/>
                <a:ea typeface="Times New Roman"/>
                <a:cs typeface="Times New Roman"/>
                <a:sym typeface="Times New Roman"/>
              </a:rPr>
              <a:t>38.60%</a:t>
            </a:r>
            <a:r>
              <a:rPr lang="en-GB" sz="1800">
                <a:solidFill>
                  <a:schemeClr val="dk1"/>
                </a:solidFill>
                <a:latin typeface="Times New Roman"/>
                <a:ea typeface="Times New Roman"/>
                <a:cs typeface="Times New Roman"/>
                <a:sym typeface="Times New Roman"/>
              </a:rPr>
              <a:t>, due to severe turbulence, boundary layer separation, and internal friction losses that exceed the </a:t>
            </a:r>
            <a:r>
              <a:rPr lang="en-GB" sz="1800">
                <a:solidFill>
                  <a:schemeClr val="dk1"/>
                </a:solidFill>
                <a:latin typeface="Times New Roman"/>
                <a:ea typeface="Times New Roman"/>
                <a:cs typeface="Times New Roman"/>
                <a:sym typeface="Times New Roman"/>
              </a:rPr>
              <a:t>impeller</a:t>
            </a:r>
            <a:r>
              <a:rPr lang="en-GB" sz="1800">
                <a:solidFill>
                  <a:schemeClr val="dk1"/>
                </a:solidFill>
                <a:latin typeface="Times New Roman"/>
                <a:ea typeface="Times New Roman"/>
                <a:cs typeface="Times New Roman"/>
                <a:sym typeface="Times New Roman"/>
              </a:rPr>
              <a:t> structural handling capacity.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0"/>
          <p:cNvSpPr/>
          <p:nvPr/>
        </p:nvSpPr>
        <p:spPr>
          <a:xfrm>
            <a:off x="0" y="-330500"/>
            <a:ext cx="9288200" cy="1115650"/>
          </a:xfrm>
          <a:prstGeom prst="flowChartPunchedTape">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rPr lang="en-GB" sz="2800">
                <a:solidFill>
                  <a:schemeClr val="dk1"/>
                </a:solidFill>
                <a:latin typeface="Roboto Black"/>
                <a:ea typeface="Roboto Black"/>
                <a:cs typeface="Roboto Black"/>
                <a:sym typeface="Roboto Black"/>
              </a:rPr>
              <a:t>VIII.		Reference</a:t>
            </a:r>
            <a:endParaRPr sz="3400">
              <a:latin typeface="Roboto Black"/>
              <a:ea typeface="Roboto Black"/>
              <a:cs typeface="Roboto Black"/>
              <a:sym typeface="Roboto Black"/>
            </a:endParaRPr>
          </a:p>
        </p:txBody>
      </p:sp>
      <p:sp>
        <p:nvSpPr>
          <p:cNvPr id="306" name="Google Shape;306;p30"/>
          <p:cNvSpPr txBox="1"/>
          <p:nvPr/>
        </p:nvSpPr>
        <p:spPr>
          <a:xfrm>
            <a:off x="2347025" y="3157475"/>
            <a:ext cx="3000000" cy="338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t/>
            </a:r>
            <a:endParaRPr b="1" sz="1000">
              <a:solidFill>
                <a:schemeClr val="dk2"/>
              </a:solidFill>
            </a:endParaRPr>
          </a:p>
        </p:txBody>
      </p:sp>
      <p:sp>
        <p:nvSpPr>
          <p:cNvPr id="307" name="Google Shape;307;p30"/>
          <p:cNvSpPr txBox="1"/>
          <p:nvPr>
            <p:ph idx="12" type="sldNum"/>
          </p:nvPr>
        </p:nvSpPr>
        <p:spPr>
          <a:xfrm>
            <a:off x="7746299" y="4663225"/>
            <a:ext cx="1274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GB" sz="1200">
                <a:solidFill>
                  <a:schemeClr val="dk1"/>
                </a:solidFill>
              </a:rPr>
              <a:t>Page </a:t>
            </a:r>
            <a:fld id="{00000000-1234-1234-1234-123412341234}" type="slidenum">
              <a:rPr b="1" lang="en-GB" sz="1200">
                <a:solidFill>
                  <a:schemeClr val="dk1"/>
                </a:solidFill>
              </a:rPr>
              <a:t>‹#›</a:t>
            </a:fld>
            <a:r>
              <a:rPr lang="en-GB" sz="1200">
                <a:solidFill>
                  <a:schemeClr val="dk1"/>
                </a:solidFill>
              </a:rPr>
              <a:t> of </a:t>
            </a:r>
            <a:r>
              <a:rPr b="1" lang="en-GB" sz="1200">
                <a:solidFill>
                  <a:schemeClr val="dk1"/>
                </a:solidFill>
              </a:rPr>
              <a:t>18</a:t>
            </a:r>
            <a:endParaRPr sz="1200">
              <a:solidFill>
                <a:schemeClr val="dk1"/>
              </a:solidFill>
            </a:endParaRPr>
          </a:p>
        </p:txBody>
      </p:sp>
      <p:sp>
        <p:nvSpPr>
          <p:cNvPr id="308" name="Google Shape;308;p30"/>
          <p:cNvSpPr txBox="1"/>
          <p:nvPr/>
        </p:nvSpPr>
        <p:spPr>
          <a:xfrm>
            <a:off x="339225" y="1056400"/>
            <a:ext cx="6454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309" name="Google Shape;309;p30"/>
          <p:cNvSpPr txBox="1"/>
          <p:nvPr/>
        </p:nvSpPr>
        <p:spPr>
          <a:xfrm>
            <a:off x="481725" y="1083875"/>
            <a:ext cx="6103800" cy="93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100">
                <a:solidFill>
                  <a:schemeClr val="dk1"/>
                </a:solidFill>
                <a:latin typeface="Times New Roman"/>
                <a:ea typeface="Times New Roman"/>
                <a:cs typeface="Times New Roman"/>
                <a:sym typeface="Times New Roman"/>
              </a:rPr>
              <a:t>1. </a:t>
            </a:r>
            <a:r>
              <a:rPr lang="en-GB" sz="1100" u="sng">
                <a:solidFill>
                  <a:srgbClr val="1155CC"/>
                </a:solidFill>
                <a:latin typeface="Times New Roman"/>
                <a:ea typeface="Times New Roman"/>
                <a:cs typeface="Times New Roman"/>
                <a:sym typeface="Times New Roman"/>
                <a:hlinkClick r:id="rId3">
                  <a:extLst>
                    <a:ext uri="{A12FA001-AC4F-418D-AE19-62706E023703}">
                      <ahyp:hlinkClr val="tx"/>
                    </a:ext>
                  </a:extLst>
                </a:hlinkClick>
              </a:rPr>
              <a:t>TCAE-CFDSUPPORT-Centrifugal-Fan-Design-and-Simulation.pdf-.pdf</a:t>
            </a:r>
            <a:r>
              <a:rPr lang="en-GB" sz="1100">
                <a:solidFill>
                  <a:schemeClr val="dk1"/>
                </a:solidFill>
                <a:latin typeface="Times New Roman"/>
                <a:ea typeface="Times New Roman"/>
                <a:cs typeface="Times New Roman"/>
                <a:sym typeface="Times New Roman"/>
              </a:rPr>
              <a:t> </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GB" sz="1100">
                <a:solidFill>
                  <a:schemeClr val="dk1"/>
                </a:solidFill>
                <a:latin typeface="Times New Roman"/>
                <a:ea typeface="Times New Roman"/>
                <a:cs typeface="Times New Roman"/>
                <a:sym typeface="Times New Roman"/>
              </a:rPr>
              <a:t>2. </a:t>
            </a:r>
            <a:r>
              <a:rPr lang="en-GB" sz="1100" u="sng">
                <a:solidFill>
                  <a:srgbClr val="1155CC"/>
                </a:solidFill>
                <a:latin typeface="Times New Roman"/>
                <a:ea typeface="Times New Roman"/>
                <a:cs typeface="Times New Roman"/>
                <a:sym typeface="Times New Roman"/>
                <a:hlinkClick r:id="rId4">
                  <a:extLst>
                    <a:ext uri="{A12FA001-AC4F-418D-AE19-62706E023703}">
                      <ahyp:hlinkClr val="tx"/>
                    </a:ext>
                  </a:extLst>
                </a:hlinkClick>
              </a:rPr>
              <a:t>Centrifugal Fan Design And Simulation – CFD SUPPORT</a:t>
            </a:r>
            <a:r>
              <a:rPr lang="en-GB" sz="1100">
                <a:solidFill>
                  <a:schemeClr val="dk1"/>
                </a:solidFill>
                <a:latin typeface="Times New Roman"/>
                <a:ea typeface="Times New Roman"/>
                <a:cs typeface="Times New Roman"/>
                <a:sym typeface="Times New Roman"/>
              </a:rPr>
              <a:t> </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GB" sz="1100">
                <a:solidFill>
                  <a:schemeClr val="dk1"/>
                </a:solidFill>
                <a:latin typeface="Times New Roman"/>
                <a:ea typeface="Times New Roman"/>
                <a:cs typeface="Times New Roman"/>
                <a:sym typeface="Times New Roman"/>
              </a:rPr>
              <a:t>3.</a:t>
            </a:r>
            <a:r>
              <a:rPr lang="en-GB" sz="1100" u="sng">
                <a:solidFill>
                  <a:srgbClr val="1155CC"/>
                </a:solidFill>
                <a:latin typeface="Times New Roman"/>
                <a:ea typeface="Times New Roman"/>
                <a:cs typeface="Times New Roman"/>
                <a:sym typeface="Times New Roman"/>
                <a:hlinkClick r:id="rId5">
                  <a:extLst>
                    <a:ext uri="{A12FA001-AC4F-418D-AE19-62706E023703}">
                      <ahyp:hlinkClr val="tx"/>
                    </a:ext>
                  </a:extLst>
                </a:hlinkClick>
              </a:rPr>
              <a:t>https://github.com/chhuong432-tech/My-References/blob/main/Centrifugal%20Pump.df</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GB" sz="1100">
                <a:solidFill>
                  <a:schemeClr val="dk1"/>
                </a:solidFill>
                <a:latin typeface="Times New Roman"/>
                <a:ea typeface="Times New Roman"/>
                <a:cs typeface="Times New Roman"/>
                <a:sym typeface="Times New Roman"/>
              </a:rPr>
              <a:t>4. </a:t>
            </a:r>
            <a:r>
              <a:rPr lang="en-GB" sz="1100" u="sng">
                <a:solidFill>
                  <a:srgbClr val="1155CC"/>
                </a:solidFill>
                <a:latin typeface="Times New Roman"/>
                <a:ea typeface="Times New Roman"/>
                <a:cs typeface="Times New Roman"/>
                <a:sym typeface="Times New Roman"/>
                <a:hlinkClick r:id="rId6">
                  <a:extLst>
                    <a:ext uri="{A12FA001-AC4F-418D-AE19-62706E023703}">
                      <ahyp:hlinkClr val="tx"/>
                    </a:ext>
                  </a:extLst>
                </a:hlinkClick>
              </a:rPr>
              <a:t>https://github.com/chhuong432-tech/My-References/blob/main/PumpReport.htm</a:t>
            </a:r>
            <a:r>
              <a:rPr lang="en-GB" sz="1100">
                <a:solidFill>
                  <a:schemeClr val="dk1"/>
                </a:solidFill>
                <a:latin typeface="Times New Roman"/>
                <a:ea typeface="Times New Roman"/>
                <a:cs typeface="Times New Roman"/>
                <a:sym typeface="Times New Roman"/>
              </a:rPr>
              <a:t> </a:t>
            </a:r>
            <a:endParaRPr sz="11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